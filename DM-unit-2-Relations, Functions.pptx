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1855" y="1615805"/>
            <a:ext cx="10958195" cy="1483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AFE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AFE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1994" y="36576"/>
            <a:ext cx="886469" cy="9814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01328" y="170687"/>
            <a:ext cx="2757512" cy="4716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4960" y="252984"/>
            <a:ext cx="9022079" cy="637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929" y="1492758"/>
            <a:ext cx="11492230" cy="457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AFE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02097" y="808177"/>
            <a:ext cx="214185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/>
              <a:t>UNIT</a:t>
            </a:r>
            <a:r>
              <a:rPr sz="4400" spc="-250" dirty="0"/>
              <a:t> </a:t>
            </a:r>
            <a:r>
              <a:rPr sz="4400" spc="-25" dirty="0"/>
              <a:t>-II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11421236" y="648655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970" y="1661617"/>
            <a:ext cx="11083290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" algn="ctr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RELATIONS</a:t>
            </a:r>
            <a:r>
              <a:rPr sz="3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sz="3200" b="1" spc="-1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FUNCTIONS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200">
              <a:latin typeface="Times New Roman"/>
              <a:cs typeface="Times New Roman"/>
            </a:endParaRPr>
          </a:p>
          <a:p>
            <a:pPr marL="4832350">
              <a:lnSpc>
                <a:spcPct val="100000"/>
              </a:lnSpc>
            </a:pPr>
            <a:r>
              <a:rPr sz="3200" b="1" spc="-10" dirty="0">
                <a:latin typeface="Times New Roman"/>
                <a:cs typeface="Times New Roman"/>
              </a:rPr>
              <a:t>Syllabus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200" b="1" dirty="0">
                <a:solidFill>
                  <a:srgbClr val="C55A11"/>
                </a:solidFill>
                <a:latin typeface="Times New Roman"/>
                <a:cs typeface="Times New Roman"/>
              </a:rPr>
              <a:t>Relations:</a:t>
            </a:r>
            <a:r>
              <a:rPr sz="3200" b="1" spc="-9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Properties</a:t>
            </a:r>
            <a:r>
              <a:rPr sz="3200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3200" spc="-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Binary</a:t>
            </a:r>
            <a:r>
              <a:rPr sz="3200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Relations,</a:t>
            </a:r>
            <a:r>
              <a:rPr sz="3200" spc="-1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equivalence,</a:t>
            </a:r>
            <a:r>
              <a:rPr sz="3200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transitive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closure,</a:t>
            </a:r>
            <a:r>
              <a:rPr sz="3200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compatibility</a:t>
            </a:r>
            <a:r>
              <a:rPr sz="3200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3200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partial</a:t>
            </a:r>
            <a:r>
              <a:rPr sz="3200" spc="-1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ordering</a:t>
            </a:r>
            <a:r>
              <a:rPr sz="3200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relations,</a:t>
            </a:r>
            <a:r>
              <a:rPr sz="32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Hasse</a:t>
            </a:r>
            <a:r>
              <a:rPr sz="3200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diagram. </a:t>
            </a:r>
            <a:r>
              <a:rPr sz="3200" b="1" dirty="0">
                <a:solidFill>
                  <a:srgbClr val="C55A11"/>
                </a:solidFill>
                <a:latin typeface="Times New Roman"/>
                <a:cs typeface="Times New Roman"/>
              </a:rPr>
              <a:t>Functions:</a:t>
            </a:r>
            <a:r>
              <a:rPr sz="3200" b="1" spc="-9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Inverse</a:t>
            </a:r>
            <a:r>
              <a:rPr sz="3200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Function,</a:t>
            </a:r>
            <a:r>
              <a:rPr sz="3200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Composition</a:t>
            </a:r>
            <a:r>
              <a:rPr sz="3200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3200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functions,</a:t>
            </a:r>
            <a:r>
              <a:rPr sz="3200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recursive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Functions,</a:t>
            </a:r>
            <a:r>
              <a:rPr sz="3200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Lattices</a:t>
            </a:r>
            <a:r>
              <a:rPr sz="3200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3200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its</a:t>
            </a:r>
            <a:r>
              <a:rPr sz="3200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Properties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4960" y="252984"/>
            <a:ext cx="7178040" cy="6375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"/>
              </a:spcBef>
            </a:pPr>
            <a:r>
              <a:rPr sz="3600" spc="-10" dirty="0">
                <a:solidFill>
                  <a:srgbClr val="FFFFFF"/>
                </a:solidFill>
              </a:rPr>
              <a:t>RELATIONS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965708" y="1239139"/>
            <a:ext cx="10325100" cy="478218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just">
              <a:lnSpc>
                <a:spcPct val="98000"/>
              </a:lnSpc>
              <a:spcBef>
                <a:spcPts val="15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Definition:</a:t>
            </a:r>
            <a:r>
              <a:rPr sz="2400" spc="8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Let</a:t>
            </a:r>
            <a:r>
              <a:rPr sz="2400" b="1" spc="1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spc="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400" b="1" spc="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two</a:t>
            </a:r>
            <a:r>
              <a:rPr sz="2400" b="1" spc="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sets.</a:t>
            </a:r>
            <a:r>
              <a:rPr sz="2400" b="1" spc="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subset</a:t>
            </a:r>
            <a:r>
              <a:rPr sz="2400" b="1" spc="90" dirty="0">
                <a:solidFill>
                  <a:srgbClr val="00AFEF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xB</a:t>
            </a:r>
            <a:r>
              <a:rPr sz="2400" b="1" spc="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1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called</a:t>
            </a:r>
            <a:r>
              <a:rPr sz="2400" b="1" spc="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1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relation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from</a:t>
            </a:r>
            <a:r>
              <a:rPr sz="2400" b="1" spc="2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2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B.</a:t>
            </a:r>
            <a:r>
              <a:rPr sz="2400" b="1" spc="2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Thus,</a:t>
            </a:r>
            <a:r>
              <a:rPr sz="2400" b="1" spc="2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229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25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2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2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</a:t>
            </a:r>
            <a:r>
              <a:rPr sz="2400" b="1" spc="2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from</a:t>
            </a:r>
            <a:r>
              <a:rPr sz="2400" b="1" spc="2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1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2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B,</a:t>
            </a:r>
            <a:r>
              <a:rPr sz="2400" b="1" spc="2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2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25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2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2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400" b="1" spc="2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25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ordered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pairs(a,</a:t>
            </a:r>
            <a:r>
              <a:rPr sz="2400" b="1" spc="3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b),</a:t>
            </a:r>
            <a:r>
              <a:rPr sz="2400" b="1" spc="3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where</a:t>
            </a:r>
            <a:r>
              <a:rPr sz="2400" b="1" spc="3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3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40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i="1" spc="2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i="1" spc="3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spc="3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spc="44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B,</a:t>
            </a:r>
            <a:r>
              <a:rPr sz="2400" b="1" spc="3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3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conversely</a:t>
            </a:r>
            <a:r>
              <a:rPr sz="2400" b="1" spc="3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3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3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3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3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400" b="1" spc="3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3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ordered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pairs(a,</a:t>
            </a:r>
            <a:r>
              <a:rPr sz="2400" b="1" spc="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b)</a:t>
            </a:r>
            <a:r>
              <a:rPr sz="24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where</a:t>
            </a:r>
            <a:r>
              <a:rPr sz="24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i="1" spc="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18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i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i="1" spc="1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i="1" spc="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18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B,</a:t>
            </a:r>
            <a:r>
              <a:rPr sz="2400" b="1" spc="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1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</a:t>
            </a:r>
            <a:r>
              <a:rPr sz="2400" b="1" spc="1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from</a:t>
            </a:r>
            <a:r>
              <a:rPr sz="2400" b="1" spc="1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1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B.</a:t>
            </a:r>
            <a:r>
              <a:rPr sz="2400" b="1" spc="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1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(a,</a:t>
            </a:r>
            <a:r>
              <a:rPr sz="24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b)</a:t>
            </a:r>
            <a:r>
              <a:rPr sz="24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0AFEF"/>
                </a:solidFill>
                <a:latin typeface="Cambria Math"/>
                <a:cs typeface="Cambria Math"/>
              </a:rPr>
              <a:t>∈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R,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we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say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that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“a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related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by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R”,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this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denoted</a:t>
            </a:r>
            <a:r>
              <a:rPr sz="24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by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Binary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relation:</a:t>
            </a:r>
            <a:r>
              <a:rPr sz="24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Any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set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ordered pairs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defines</a:t>
            </a:r>
            <a:r>
              <a:rPr sz="2400" b="1" spc="-5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538235"/>
                </a:solidFill>
                <a:latin typeface="Times New Roman"/>
                <a:cs typeface="Times New Roman"/>
              </a:rPr>
              <a:t>binary</a:t>
            </a:r>
            <a:r>
              <a:rPr sz="2400" b="1" i="1" spc="-6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538235"/>
                </a:solidFill>
                <a:latin typeface="Times New Roman"/>
                <a:cs typeface="Times New Roman"/>
              </a:rPr>
              <a:t>relation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binary</a:t>
            </a:r>
            <a:r>
              <a:rPr sz="2400" b="1" spc="-10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relation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simply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called</a:t>
            </a:r>
            <a:r>
              <a:rPr sz="2400" b="1" spc="-5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as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-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relation.</a:t>
            </a:r>
            <a:r>
              <a:rPr sz="2400" b="1" spc="-1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-15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particular</a:t>
            </a:r>
            <a:r>
              <a:rPr sz="2400" b="1" spc="-10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ordered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pair,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say</a:t>
            </a:r>
            <a:endParaRPr sz="2400">
              <a:latin typeface="Times New Roman"/>
              <a:cs typeface="Times New Roman"/>
            </a:endParaRPr>
          </a:p>
          <a:p>
            <a:pPr marL="12700" marR="8890">
              <a:lnSpc>
                <a:spcPct val="100000"/>
              </a:lnSpc>
              <a:tabLst>
                <a:tab pos="2853690" algn="l"/>
              </a:tabLst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&lt;x,</a:t>
            </a:r>
            <a:r>
              <a:rPr sz="2400" b="1" spc="7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y&gt;</a:t>
            </a:r>
            <a:r>
              <a:rPr sz="2400" b="1" spc="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∈</a:t>
            </a:r>
            <a:r>
              <a:rPr sz="2400" spc="160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R,</a:t>
            </a:r>
            <a:r>
              <a:rPr sz="2400" b="1" spc="7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where</a:t>
            </a:r>
            <a:r>
              <a:rPr sz="2400" b="1" spc="6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538235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	is</a:t>
            </a:r>
            <a:r>
              <a:rPr sz="2400" b="1" spc="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relation,</a:t>
            </a:r>
            <a:r>
              <a:rPr sz="2400" b="1" spc="5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can</a:t>
            </a:r>
            <a:r>
              <a:rPr sz="2400" b="1" spc="5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be</a:t>
            </a:r>
            <a:r>
              <a:rPr sz="2400" b="1" spc="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expressed</a:t>
            </a:r>
            <a:r>
              <a:rPr sz="2400" b="1" spc="5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by</a:t>
            </a:r>
            <a:r>
              <a:rPr sz="2400" b="1" spc="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writing</a:t>
            </a:r>
            <a:r>
              <a:rPr sz="2400" b="1" spc="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xRy,</a:t>
            </a:r>
            <a:r>
              <a:rPr sz="2400" b="1" spc="7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read</a:t>
            </a:r>
            <a:r>
              <a:rPr sz="2400" b="1" spc="5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as</a:t>
            </a:r>
            <a:r>
              <a:rPr sz="2400" b="1" spc="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“x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in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relation</a:t>
            </a:r>
            <a:r>
              <a:rPr sz="2400" b="1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to 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y”.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121285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Note: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If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relation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from</a:t>
            </a:r>
            <a:r>
              <a:rPr sz="2400" b="1" spc="-1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to</a:t>
            </a:r>
            <a:r>
              <a:rPr sz="2400" b="1" spc="-1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A,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that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is,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if</a:t>
            </a:r>
            <a:r>
              <a:rPr sz="2400" b="1" spc="-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 is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subset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of</a:t>
            </a:r>
            <a:r>
              <a:rPr sz="2400" b="1" spc="-1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x</a:t>
            </a:r>
            <a:r>
              <a:rPr sz="2400" b="1" spc="-1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A,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we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say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that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binary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relation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on</a:t>
            </a:r>
            <a:r>
              <a:rPr sz="2400" b="1" spc="-1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6868" y="544581"/>
            <a:ext cx="9889490" cy="21628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24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Consider</a:t>
            </a:r>
            <a:r>
              <a:rPr sz="2400" b="1" spc="-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sets</a:t>
            </a:r>
            <a:r>
              <a:rPr sz="2400" b="1" spc="-1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A={0,1,2},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B={3,4,5}.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Let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R={(1,3),(2,4),(2,5)}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  <a:spcBef>
                <a:spcPts val="645"/>
              </a:spcBef>
              <a:tabLst>
                <a:tab pos="384175" algn="l"/>
              </a:tabLst>
            </a:pP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	is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subset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1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(R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⊆</a:t>
            </a:r>
            <a:r>
              <a:rPr sz="2400" spc="-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B)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 is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from</a:t>
            </a:r>
            <a:r>
              <a:rPr sz="2400" b="1" spc="-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1R3,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2R4,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2R5.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This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depicted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diagram.</a:t>
            </a:r>
            <a:endParaRPr sz="2400">
              <a:latin typeface="Times New Roman"/>
              <a:cs typeface="Times New Roman"/>
            </a:endParaRPr>
          </a:p>
          <a:p>
            <a:pPr marL="12700" marR="2955925">
              <a:lnSpc>
                <a:spcPct val="122500"/>
              </a:lnSpc>
              <a:spcBef>
                <a:spcPts val="75"/>
              </a:spcBef>
              <a:tabLst>
                <a:tab pos="3238500" algn="l"/>
              </a:tabLst>
            </a:pPr>
            <a:r>
              <a:rPr sz="240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AXB={(0,3),(0,4),(0,5),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(1,3)</a:t>
            </a:r>
            <a:r>
              <a:rPr sz="240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,(1,4),(1,5),(2,3),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(2,4),(2,5)</a:t>
            </a:r>
            <a:r>
              <a:rPr sz="240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} </a:t>
            </a:r>
            <a:r>
              <a:rPr sz="2400" b="1" dirty="0">
                <a:solidFill>
                  <a:srgbClr val="2E5496"/>
                </a:solidFill>
                <a:latin typeface="Times New Roman"/>
                <a:cs typeface="Times New Roman"/>
              </a:rPr>
              <a:t>R={</a:t>
            </a:r>
            <a:r>
              <a:rPr sz="2400" b="1" spc="-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(1,3),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(2,4), (2,5)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2E5496"/>
                </a:solidFill>
                <a:latin typeface="Times New Roman"/>
                <a:cs typeface="Times New Roman"/>
              </a:rPr>
              <a:t>}</a:t>
            </a:r>
            <a:r>
              <a:rPr sz="2400" b="1" dirty="0">
                <a:solidFill>
                  <a:srgbClr val="2E5496"/>
                </a:solidFill>
                <a:latin typeface="Times New Roman"/>
                <a:cs typeface="Times New Roman"/>
              </a:rPr>
              <a:t>	[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(R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⊆</a:t>
            </a:r>
            <a:r>
              <a:rPr sz="2400" spc="-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B)]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16935" y="3273552"/>
            <a:ext cx="3736975" cy="1750060"/>
          </a:xfrm>
          <a:custGeom>
            <a:avLst/>
            <a:gdLst/>
            <a:ahLst/>
            <a:cxnLst/>
            <a:rect l="l" t="t" r="r" b="b"/>
            <a:pathLst>
              <a:path w="3736975" h="1750060">
                <a:moveTo>
                  <a:pt x="0" y="922020"/>
                </a:moveTo>
                <a:lnTo>
                  <a:pt x="1201" y="857343"/>
                </a:lnTo>
                <a:lnTo>
                  <a:pt x="4747" y="794029"/>
                </a:lnTo>
                <a:lnTo>
                  <a:pt x="10548" y="732262"/>
                </a:lnTo>
                <a:lnTo>
                  <a:pt x="18515" y="672224"/>
                </a:lnTo>
                <a:lnTo>
                  <a:pt x="28559" y="614100"/>
                </a:lnTo>
                <a:lnTo>
                  <a:pt x="40592" y="558075"/>
                </a:lnTo>
                <a:lnTo>
                  <a:pt x="54525" y="504331"/>
                </a:lnTo>
                <a:lnTo>
                  <a:pt x="70268" y="453052"/>
                </a:lnTo>
                <a:lnTo>
                  <a:pt x="87734" y="404424"/>
                </a:lnTo>
                <a:lnTo>
                  <a:pt x="106833" y="358629"/>
                </a:lnTo>
                <a:lnTo>
                  <a:pt x="127475" y="315851"/>
                </a:lnTo>
                <a:lnTo>
                  <a:pt x="149574" y="276274"/>
                </a:lnTo>
                <a:lnTo>
                  <a:pt x="173038" y="240083"/>
                </a:lnTo>
                <a:lnTo>
                  <a:pt x="197781" y="207461"/>
                </a:lnTo>
                <a:lnTo>
                  <a:pt x="223712" y="178592"/>
                </a:lnTo>
                <a:lnTo>
                  <a:pt x="278785" y="132848"/>
                </a:lnTo>
                <a:lnTo>
                  <a:pt x="337547" y="104323"/>
                </a:lnTo>
                <a:lnTo>
                  <a:pt x="399288" y="94487"/>
                </a:lnTo>
                <a:lnTo>
                  <a:pt x="430485" y="96977"/>
                </a:lnTo>
                <a:lnTo>
                  <a:pt x="490825" y="116341"/>
                </a:lnTo>
                <a:lnTo>
                  <a:pt x="547832" y="153660"/>
                </a:lnTo>
                <a:lnTo>
                  <a:pt x="600794" y="207461"/>
                </a:lnTo>
                <a:lnTo>
                  <a:pt x="625537" y="240083"/>
                </a:lnTo>
                <a:lnTo>
                  <a:pt x="649001" y="276274"/>
                </a:lnTo>
                <a:lnTo>
                  <a:pt x="671100" y="315851"/>
                </a:lnTo>
                <a:lnTo>
                  <a:pt x="691742" y="358629"/>
                </a:lnTo>
                <a:lnTo>
                  <a:pt x="710841" y="404424"/>
                </a:lnTo>
                <a:lnTo>
                  <a:pt x="728307" y="453052"/>
                </a:lnTo>
                <a:lnTo>
                  <a:pt x="744050" y="504331"/>
                </a:lnTo>
                <a:lnTo>
                  <a:pt x="757983" y="558075"/>
                </a:lnTo>
                <a:lnTo>
                  <a:pt x="770016" y="614100"/>
                </a:lnTo>
                <a:lnTo>
                  <a:pt x="780060" y="672224"/>
                </a:lnTo>
                <a:lnTo>
                  <a:pt x="788027" y="732262"/>
                </a:lnTo>
                <a:lnTo>
                  <a:pt x="793828" y="794029"/>
                </a:lnTo>
                <a:lnTo>
                  <a:pt x="797374" y="857343"/>
                </a:lnTo>
                <a:lnTo>
                  <a:pt x="798576" y="922020"/>
                </a:lnTo>
                <a:lnTo>
                  <a:pt x="797374" y="986696"/>
                </a:lnTo>
                <a:lnTo>
                  <a:pt x="793828" y="1050010"/>
                </a:lnTo>
                <a:lnTo>
                  <a:pt x="788027" y="1111777"/>
                </a:lnTo>
                <a:lnTo>
                  <a:pt x="780060" y="1171815"/>
                </a:lnTo>
                <a:lnTo>
                  <a:pt x="770016" y="1229939"/>
                </a:lnTo>
                <a:lnTo>
                  <a:pt x="757983" y="1285964"/>
                </a:lnTo>
                <a:lnTo>
                  <a:pt x="744050" y="1339708"/>
                </a:lnTo>
                <a:lnTo>
                  <a:pt x="728307" y="1390987"/>
                </a:lnTo>
                <a:lnTo>
                  <a:pt x="710841" y="1439615"/>
                </a:lnTo>
                <a:lnTo>
                  <a:pt x="691742" y="1485410"/>
                </a:lnTo>
                <a:lnTo>
                  <a:pt x="671100" y="1528188"/>
                </a:lnTo>
                <a:lnTo>
                  <a:pt x="649001" y="1567765"/>
                </a:lnTo>
                <a:lnTo>
                  <a:pt x="625537" y="1603956"/>
                </a:lnTo>
                <a:lnTo>
                  <a:pt x="600794" y="1636578"/>
                </a:lnTo>
                <a:lnTo>
                  <a:pt x="574863" y="1665447"/>
                </a:lnTo>
                <a:lnTo>
                  <a:pt x="519790" y="1711191"/>
                </a:lnTo>
                <a:lnTo>
                  <a:pt x="461028" y="1739716"/>
                </a:lnTo>
                <a:lnTo>
                  <a:pt x="399288" y="1749552"/>
                </a:lnTo>
                <a:lnTo>
                  <a:pt x="368090" y="1747062"/>
                </a:lnTo>
                <a:lnTo>
                  <a:pt x="307750" y="1727698"/>
                </a:lnTo>
                <a:lnTo>
                  <a:pt x="250743" y="1690379"/>
                </a:lnTo>
                <a:lnTo>
                  <a:pt x="197781" y="1636578"/>
                </a:lnTo>
                <a:lnTo>
                  <a:pt x="173038" y="1603956"/>
                </a:lnTo>
                <a:lnTo>
                  <a:pt x="149574" y="1567765"/>
                </a:lnTo>
                <a:lnTo>
                  <a:pt x="127475" y="1528188"/>
                </a:lnTo>
                <a:lnTo>
                  <a:pt x="106833" y="1485410"/>
                </a:lnTo>
                <a:lnTo>
                  <a:pt x="87734" y="1439615"/>
                </a:lnTo>
                <a:lnTo>
                  <a:pt x="70268" y="1390987"/>
                </a:lnTo>
                <a:lnTo>
                  <a:pt x="54525" y="1339708"/>
                </a:lnTo>
                <a:lnTo>
                  <a:pt x="40592" y="1285964"/>
                </a:lnTo>
                <a:lnTo>
                  <a:pt x="28559" y="1229939"/>
                </a:lnTo>
                <a:lnTo>
                  <a:pt x="18515" y="1171815"/>
                </a:lnTo>
                <a:lnTo>
                  <a:pt x="10548" y="1111777"/>
                </a:lnTo>
                <a:lnTo>
                  <a:pt x="4747" y="1050010"/>
                </a:lnTo>
                <a:lnTo>
                  <a:pt x="1201" y="986696"/>
                </a:lnTo>
                <a:lnTo>
                  <a:pt x="0" y="922020"/>
                </a:lnTo>
                <a:close/>
              </a:path>
              <a:path w="3736975" h="1750060">
                <a:moveTo>
                  <a:pt x="2938272" y="827532"/>
                </a:moveTo>
                <a:lnTo>
                  <a:pt x="2939473" y="762855"/>
                </a:lnTo>
                <a:lnTo>
                  <a:pt x="2943019" y="699541"/>
                </a:lnTo>
                <a:lnTo>
                  <a:pt x="2948820" y="637774"/>
                </a:lnTo>
                <a:lnTo>
                  <a:pt x="2956787" y="577736"/>
                </a:lnTo>
                <a:lnTo>
                  <a:pt x="2966831" y="519612"/>
                </a:lnTo>
                <a:lnTo>
                  <a:pt x="2978864" y="463587"/>
                </a:lnTo>
                <a:lnTo>
                  <a:pt x="2992797" y="409843"/>
                </a:lnTo>
                <a:lnTo>
                  <a:pt x="3008540" y="358564"/>
                </a:lnTo>
                <a:lnTo>
                  <a:pt x="3026006" y="309936"/>
                </a:lnTo>
                <a:lnTo>
                  <a:pt x="3045105" y="264141"/>
                </a:lnTo>
                <a:lnTo>
                  <a:pt x="3065747" y="221363"/>
                </a:lnTo>
                <a:lnTo>
                  <a:pt x="3087846" y="181786"/>
                </a:lnTo>
                <a:lnTo>
                  <a:pt x="3111310" y="145595"/>
                </a:lnTo>
                <a:lnTo>
                  <a:pt x="3136053" y="112973"/>
                </a:lnTo>
                <a:lnTo>
                  <a:pt x="3161984" y="84104"/>
                </a:lnTo>
                <a:lnTo>
                  <a:pt x="3217057" y="38360"/>
                </a:lnTo>
                <a:lnTo>
                  <a:pt x="3275819" y="9835"/>
                </a:lnTo>
                <a:lnTo>
                  <a:pt x="3337560" y="0"/>
                </a:lnTo>
                <a:lnTo>
                  <a:pt x="3368757" y="2489"/>
                </a:lnTo>
                <a:lnTo>
                  <a:pt x="3429097" y="21853"/>
                </a:lnTo>
                <a:lnTo>
                  <a:pt x="3486104" y="59172"/>
                </a:lnTo>
                <a:lnTo>
                  <a:pt x="3539066" y="112973"/>
                </a:lnTo>
                <a:lnTo>
                  <a:pt x="3563809" y="145595"/>
                </a:lnTo>
                <a:lnTo>
                  <a:pt x="3587273" y="181786"/>
                </a:lnTo>
                <a:lnTo>
                  <a:pt x="3609372" y="221363"/>
                </a:lnTo>
                <a:lnTo>
                  <a:pt x="3630014" y="264141"/>
                </a:lnTo>
                <a:lnTo>
                  <a:pt x="3649113" y="309936"/>
                </a:lnTo>
                <a:lnTo>
                  <a:pt x="3666579" y="358564"/>
                </a:lnTo>
                <a:lnTo>
                  <a:pt x="3682322" y="409843"/>
                </a:lnTo>
                <a:lnTo>
                  <a:pt x="3696255" y="463587"/>
                </a:lnTo>
                <a:lnTo>
                  <a:pt x="3708288" y="519612"/>
                </a:lnTo>
                <a:lnTo>
                  <a:pt x="3718332" y="577736"/>
                </a:lnTo>
                <a:lnTo>
                  <a:pt x="3726299" y="637774"/>
                </a:lnTo>
                <a:lnTo>
                  <a:pt x="3732100" y="699541"/>
                </a:lnTo>
                <a:lnTo>
                  <a:pt x="3735646" y="762855"/>
                </a:lnTo>
                <a:lnTo>
                  <a:pt x="3736847" y="827532"/>
                </a:lnTo>
                <a:lnTo>
                  <a:pt x="3735646" y="892208"/>
                </a:lnTo>
                <a:lnTo>
                  <a:pt x="3732100" y="955522"/>
                </a:lnTo>
                <a:lnTo>
                  <a:pt x="3726299" y="1017289"/>
                </a:lnTo>
                <a:lnTo>
                  <a:pt x="3718332" y="1077327"/>
                </a:lnTo>
                <a:lnTo>
                  <a:pt x="3708288" y="1135451"/>
                </a:lnTo>
                <a:lnTo>
                  <a:pt x="3696255" y="1191476"/>
                </a:lnTo>
                <a:lnTo>
                  <a:pt x="3682322" y="1245220"/>
                </a:lnTo>
                <a:lnTo>
                  <a:pt x="3666579" y="1296499"/>
                </a:lnTo>
                <a:lnTo>
                  <a:pt x="3649113" y="1345127"/>
                </a:lnTo>
                <a:lnTo>
                  <a:pt x="3630014" y="1390922"/>
                </a:lnTo>
                <a:lnTo>
                  <a:pt x="3609372" y="1433700"/>
                </a:lnTo>
                <a:lnTo>
                  <a:pt x="3587273" y="1473277"/>
                </a:lnTo>
                <a:lnTo>
                  <a:pt x="3563809" y="1509468"/>
                </a:lnTo>
                <a:lnTo>
                  <a:pt x="3539066" y="1542090"/>
                </a:lnTo>
                <a:lnTo>
                  <a:pt x="3513135" y="1570959"/>
                </a:lnTo>
                <a:lnTo>
                  <a:pt x="3458062" y="1616703"/>
                </a:lnTo>
                <a:lnTo>
                  <a:pt x="3399300" y="1645228"/>
                </a:lnTo>
                <a:lnTo>
                  <a:pt x="3337560" y="1655064"/>
                </a:lnTo>
                <a:lnTo>
                  <a:pt x="3306362" y="1652574"/>
                </a:lnTo>
                <a:lnTo>
                  <a:pt x="3246022" y="1633210"/>
                </a:lnTo>
                <a:lnTo>
                  <a:pt x="3189015" y="1595891"/>
                </a:lnTo>
                <a:lnTo>
                  <a:pt x="3136053" y="1542090"/>
                </a:lnTo>
                <a:lnTo>
                  <a:pt x="3111310" y="1509468"/>
                </a:lnTo>
                <a:lnTo>
                  <a:pt x="3087846" y="1473277"/>
                </a:lnTo>
                <a:lnTo>
                  <a:pt x="3065747" y="1433700"/>
                </a:lnTo>
                <a:lnTo>
                  <a:pt x="3045105" y="1390922"/>
                </a:lnTo>
                <a:lnTo>
                  <a:pt x="3026006" y="1345127"/>
                </a:lnTo>
                <a:lnTo>
                  <a:pt x="3008540" y="1296499"/>
                </a:lnTo>
                <a:lnTo>
                  <a:pt x="2992797" y="1245220"/>
                </a:lnTo>
                <a:lnTo>
                  <a:pt x="2978864" y="1191476"/>
                </a:lnTo>
                <a:lnTo>
                  <a:pt x="2966831" y="1135451"/>
                </a:lnTo>
                <a:lnTo>
                  <a:pt x="2956787" y="1077327"/>
                </a:lnTo>
                <a:lnTo>
                  <a:pt x="2948820" y="1017289"/>
                </a:lnTo>
                <a:lnTo>
                  <a:pt x="2943019" y="955522"/>
                </a:lnTo>
                <a:lnTo>
                  <a:pt x="2939473" y="892208"/>
                </a:lnTo>
                <a:lnTo>
                  <a:pt x="2938272" y="827532"/>
                </a:lnTo>
                <a:close/>
              </a:path>
            </a:pathLst>
          </a:custGeom>
          <a:ln w="12192">
            <a:solidFill>
              <a:srgbClr val="4B24F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29101" y="348335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9101" y="403225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9101" y="458127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9941" y="337451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9941" y="392285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9941" y="447187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57499" y="3531488"/>
            <a:ext cx="2760980" cy="1224280"/>
          </a:xfrm>
          <a:custGeom>
            <a:avLst/>
            <a:gdLst/>
            <a:ahLst/>
            <a:cxnLst/>
            <a:rect l="l" t="t" r="r" b="b"/>
            <a:pathLst>
              <a:path w="2760979" h="1224279">
                <a:moveTo>
                  <a:pt x="2730119" y="625983"/>
                </a:moveTo>
                <a:lnTo>
                  <a:pt x="2719159" y="622427"/>
                </a:lnTo>
                <a:lnTo>
                  <a:pt x="2635885" y="595376"/>
                </a:lnTo>
                <a:lnTo>
                  <a:pt x="2632583" y="594233"/>
                </a:lnTo>
                <a:lnTo>
                  <a:pt x="2628900" y="596011"/>
                </a:lnTo>
                <a:lnTo>
                  <a:pt x="2627884" y="599440"/>
                </a:lnTo>
                <a:lnTo>
                  <a:pt x="2626741" y="602742"/>
                </a:lnTo>
                <a:lnTo>
                  <a:pt x="2628646" y="606298"/>
                </a:lnTo>
                <a:lnTo>
                  <a:pt x="2631948" y="607441"/>
                </a:lnTo>
                <a:lnTo>
                  <a:pt x="2693314" y="627443"/>
                </a:lnTo>
                <a:lnTo>
                  <a:pt x="165735" y="1175524"/>
                </a:lnTo>
                <a:lnTo>
                  <a:pt x="52959" y="1179195"/>
                </a:lnTo>
                <a:lnTo>
                  <a:pt x="53467" y="1191895"/>
                </a:lnTo>
                <a:lnTo>
                  <a:pt x="96697" y="1190485"/>
                </a:lnTo>
                <a:lnTo>
                  <a:pt x="0" y="1211453"/>
                </a:lnTo>
                <a:lnTo>
                  <a:pt x="2794" y="1223772"/>
                </a:lnTo>
                <a:lnTo>
                  <a:pt x="166903" y="1188199"/>
                </a:lnTo>
                <a:lnTo>
                  <a:pt x="2688044" y="1105928"/>
                </a:lnTo>
                <a:lnTo>
                  <a:pt x="2630170" y="1142238"/>
                </a:lnTo>
                <a:lnTo>
                  <a:pt x="2629281" y="1146175"/>
                </a:lnTo>
                <a:lnTo>
                  <a:pt x="2631186" y="1149096"/>
                </a:lnTo>
                <a:lnTo>
                  <a:pt x="2633091" y="1152144"/>
                </a:lnTo>
                <a:lnTo>
                  <a:pt x="2637028" y="1153033"/>
                </a:lnTo>
                <a:lnTo>
                  <a:pt x="2639949" y="1151128"/>
                </a:lnTo>
                <a:lnTo>
                  <a:pt x="2723896" y="1098423"/>
                </a:lnTo>
                <a:lnTo>
                  <a:pt x="2712834" y="1092454"/>
                </a:lnTo>
                <a:lnTo>
                  <a:pt x="2633599" y="1049655"/>
                </a:lnTo>
                <a:lnTo>
                  <a:pt x="2629789" y="1050798"/>
                </a:lnTo>
                <a:lnTo>
                  <a:pt x="2628138" y="1053846"/>
                </a:lnTo>
                <a:lnTo>
                  <a:pt x="2626360" y="1056894"/>
                </a:lnTo>
                <a:lnTo>
                  <a:pt x="2627503" y="1060831"/>
                </a:lnTo>
                <a:lnTo>
                  <a:pt x="2630678" y="1062482"/>
                </a:lnTo>
                <a:lnTo>
                  <a:pt x="2687586" y="1093228"/>
                </a:lnTo>
                <a:lnTo>
                  <a:pt x="235953" y="1173226"/>
                </a:lnTo>
                <a:lnTo>
                  <a:pt x="2696083" y="639889"/>
                </a:lnTo>
                <a:lnTo>
                  <a:pt x="2648458" y="683514"/>
                </a:lnTo>
                <a:lnTo>
                  <a:pt x="2645918" y="685927"/>
                </a:lnTo>
                <a:lnTo>
                  <a:pt x="2645664" y="689991"/>
                </a:lnTo>
                <a:lnTo>
                  <a:pt x="2650490" y="695071"/>
                </a:lnTo>
                <a:lnTo>
                  <a:pt x="2654427" y="695325"/>
                </a:lnTo>
                <a:lnTo>
                  <a:pt x="2656967" y="692912"/>
                </a:lnTo>
                <a:lnTo>
                  <a:pt x="2730119" y="625983"/>
                </a:lnTo>
                <a:close/>
              </a:path>
              <a:path w="2760979" h="1224279">
                <a:moveTo>
                  <a:pt x="2760853" y="28575"/>
                </a:moveTo>
                <a:lnTo>
                  <a:pt x="2749867" y="25400"/>
                </a:lnTo>
                <a:lnTo>
                  <a:pt x="2665603" y="1016"/>
                </a:lnTo>
                <a:lnTo>
                  <a:pt x="2662301" y="0"/>
                </a:lnTo>
                <a:lnTo>
                  <a:pt x="2658745" y="1917"/>
                </a:lnTo>
                <a:lnTo>
                  <a:pt x="2657729" y="5334"/>
                </a:lnTo>
                <a:lnTo>
                  <a:pt x="2656713" y="8636"/>
                </a:lnTo>
                <a:lnTo>
                  <a:pt x="2658745" y="12192"/>
                </a:lnTo>
                <a:lnTo>
                  <a:pt x="2662047" y="13208"/>
                </a:lnTo>
                <a:lnTo>
                  <a:pt x="2724124" y="31178"/>
                </a:lnTo>
                <a:lnTo>
                  <a:pt x="109601" y="687197"/>
                </a:lnTo>
                <a:lnTo>
                  <a:pt x="112649" y="699516"/>
                </a:lnTo>
                <a:lnTo>
                  <a:pt x="2727350" y="43459"/>
                </a:lnTo>
                <a:lnTo>
                  <a:pt x="2681097" y="88773"/>
                </a:lnTo>
                <a:lnTo>
                  <a:pt x="2678557" y="91186"/>
                </a:lnTo>
                <a:lnTo>
                  <a:pt x="2678430" y="95250"/>
                </a:lnTo>
                <a:lnTo>
                  <a:pt x="2683510" y="100330"/>
                </a:lnTo>
                <a:lnTo>
                  <a:pt x="2687447" y="100330"/>
                </a:lnTo>
                <a:lnTo>
                  <a:pt x="2689987" y="97790"/>
                </a:lnTo>
                <a:lnTo>
                  <a:pt x="276085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59960" y="4640656"/>
            <a:ext cx="2457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latin typeface="Calibri"/>
                <a:cs typeface="Calibri"/>
              </a:rPr>
              <a:t>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55823" y="5010988"/>
            <a:ext cx="2603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11697" y="5018658"/>
            <a:ext cx="246379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00AF50"/>
                </a:solidFill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74263" y="5605068"/>
            <a:ext cx="19405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C000"/>
                </a:solidFill>
                <a:latin typeface="Calibri"/>
                <a:cs typeface="Calibri"/>
              </a:rPr>
              <a:t>Arrow</a:t>
            </a:r>
            <a:r>
              <a:rPr sz="2400" b="1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C000"/>
                </a:solidFill>
                <a:latin typeface="Calibri"/>
                <a:cs typeface="Calibri"/>
              </a:rPr>
              <a:t>Diagram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4981" y="3319653"/>
            <a:ext cx="11557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Calibri"/>
                <a:cs typeface="Calibri"/>
              </a:rPr>
              <a:t>domain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05496" y="3155061"/>
            <a:ext cx="8572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Calibri"/>
                <a:cs typeface="Calibri"/>
              </a:rPr>
              <a:t>range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00529" y="3451225"/>
            <a:ext cx="5077460" cy="353060"/>
          </a:xfrm>
          <a:custGeom>
            <a:avLst/>
            <a:gdLst/>
            <a:ahLst/>
            <a:cxnLst/>
            <a:rect l="l" t="t" r="r" b="b"/>
            <a:pathLst>
              <a:path w="5077459" h="353060">
                <a:moveTo>
                  <a:pt x="689483" y="292989"/>
                </a:moveTo>
                <a:lnTo>
                  <a:pt x="140589" y="211709"/>
                </a:lnTo>
                <a:lnTo>
                  <a:pt x="173545" y="198501"/>
                </a:lnTo>
                <a:lnTo>
                  <a:pt x="214122" y="182245"/>
                </a:lnTo>
                <a:lnTo>
                  <a:pt x="222262" y="176974"/>
                </a:lnTo>
                <a:lnTo>
                  <a:pt x="227533" y="169240"/>
                </a:lnTo>
                <a:lnTo>
                  <a:pt x="229489" y="160070"/>
                </a:lnTo>
                <a:lnTo>
                  <a:pt x="227711" y="150507"/>
                </a:lnTo>
                <a:lnTo>
                  <a:pt x="222427" y="142430"/>
                </a:lnTo>
                <a:lnTo>
                  <a:pt x="214706" y="137198"/>
                </a:lnTo>
                <a:lnTo>
                  <a:pt x="205574" y="135255"/>
                </a:lnTo>
                <a:lnTo>
                  <a:pt x="196088" y="137045"/>
                </a:lnTo>
                <a:lnTo>
                  <a:pt x="0" y="215519"/>
                </a:lnTo>
                <a:lnTo>
                  <a:pt x="164846" y="347472"/>
                </a:lnTo>
                <a:lnTo>
                  <a:pt x="173469" y="351904"/>
                </a:lnTo>
                <a:lnTo>
                  <a:pt x="182791" y="352666"/>
                </a:lnTo>
                <a:lnTo>
                  <a:pt x="191719" y="349885"/>
                </a:lnTo>
                <a:lnTo>
                  <a:pt x="195326" y="309372"/>
                </a:lnTo>
                <a:lnTo>
                  <a:pt x="133604" y="259994"/>
                </a:lnTo>
                <a:lnTo>
                  <a:pt x="682371" y="341249"/>
                </a:lnTo>
                <a:lnTo>
                  <a:pt x="689483" y="292989"/>
                </a:lnTo>
                <a:close/>
              </a:path>
              <a:path w="5077459" h="353060">
                <a:moveTo>
                  <a:pt x="5077206" y="17399"/>
                </a:moveTo>
                <a:lnTo>
                  <a:pt x="5063375" y="16256"/>
                </a:lnTo>
                <a:lnTo>
                  <a:pt x="4866767" y="0"/>
                </a:lnTo>
                <a:lnTo>
                  <a:pt x="4857115" y="1181"/>
                </a:lnTo>
                <a:lnTo>
                  <a:pt x="4848936" y="5753"/>
                </a:lnTo>
                <a:lnTo>
                  <a:pt x="4843056" y="13042"/>
                </a:lnTo>
                <a:lnTo>
                  <a:pt x="4840351" y="22352"/>
                </a:lnTo>
                <a:lnTo>
                  <a:pt x="4841519" y="31978"/>
                </a:lnTo>
                <a:lnTo>
                  <a:pt x="4846091" y="40119"/>
                </a:lnTo>
                <a:lnTo>
                  <a:pt x="4853381" y="45948"/>
                </a:lnTo>
                <a:lnTo>
                  <a:pt x="4862703" y="48641"/>
                </a:lnTo>
                <a:lnTo>
                  <a:pt x="4941709" y="55130"/>
                </a:lnTo>
                <a:lnTo>
                  <a:pt x="4482338" y="274828"/>
                </a:lnTo>
                <a:lnTo>
                  <a:pt x="4503420" y="318770"/>
                </a:lnTo>
                <a:lnTo>
                  <a:pt x="4962652" y="99136"/>
                </a:lnTo>
                <a:lnTo>
                  <a:pt x="4918202" y="164592"/>
                </a:lnTo>
                <a:lnTo>
                  <a:pt x="4914417" y="173558"/>
                </a:lnTo>
                <a:lnTo>
                  <a:pt x="4914379" y="182930"/>
                </a:lnTo>
                <a:lnTo>
                  <a:pt x="4917872" y="191617"/>
                </a:lnTo>
                <a:lnTo>
                  <a:pt x="4924679" y="198501"/>
                </a:lnTo>
                <a:lnTo>
                  <a:pt x="4933696" y="202311"/>
                </a:lnTo>
                <a:lnTo>
                  <a:pt x="4942954" y="202311"/>
                </a:lnTo>
                <a:lnTo>
                  <a:pt x="4951641" y="198831"/>
                </a:lnTo>
                <a:lnTo>
                  <a:pt x="4958588" y="192024"/>
                </a:lnTo>
                <a:lnTo>
                  <a:pt x="5077206" y="173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808" y="782416"/>
            <a:ext cx="10968990" cy="545909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Definition:</a:t>
            </a:r>
            <a:r>
              <a:rPr sz="1900" b="1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Let</a:t>
            </a:r>
            <a:r>
              <a:rPr sz="1900" b="1" spc="2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1900" b="1" i="1" spc="2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be</a:t>
            </a:r>
            <a:r>
              <a:rPr sz="1900" b="1" spc="2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any</a:t>
            </a:r>
            <a:r>
              <a:rPr sz="1900" b="1" spc="3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relation.</a:t>
            </a:r>
            <a:r>
              <a:rPr sz="1900" b="1" spc="2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900" b="1" spc="2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6FC0"/>
                </a:solidFill>
                <a:latin typeface="Times New Roman"/>
                <a:cs typeface="Times New Roman"/>
              </a:rPr>
              <a:t>domain</a:t>
            </a:r>
            <a:r>
              <a:rPr sz="1900" b="1" i="1" spc="2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900" b="1" spc="3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900" b="1" spc="2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1900" b="1" spc="2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1900" b="1" i="1" spc="2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1900" b="1" spc="2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defined</a:t>
            </a:r>
            <a:r>
              <a:rPr sz="1900" b="1" spc="2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as</a:t>
            </a:r>
            <a:r>
              <a:rPr sz="1900" b="1" spc="2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900" b="1" spc="2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set</a:t>
            </a:r>
            <a:r>
              <a:rPr sz="1900" b="1" spc="2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900" b="1" spc="2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all</a:t>
            </a:r>
            <a:r>
              <a:rPr sz="1900" b="1" spc="2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first</a:t>
            </a:r>
            <a:endParaRPr sz="19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910"/>
              </a:spcBef>
            </a:pP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elements</a:t>
            </a:r>
            <a:r>
              <a:rPr sz="19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9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9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ordered</a:t>
            </a:r>
            <a:r>
              <a:rPr sz="19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pairs</a:t>
            </a:r>
            <a:r>
              <a:rPr sz="19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that</a:t>
            </a:r>
            <a:r>
              <a:rPr sz="19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belong</a:t>
            </a:r>
            <a:r>
              <a:rPr sz="19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19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19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sz="19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19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denoted</a:t>
            </a:r>
            <a:r>
              <a:rPr sz="19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imes New Roman"/>
                <a:cs typeface="Times New Roman"/>
              </a:rPr>
              <a:t>by</a:t>
            </a:r>
            <a:r>
              <a:rPr sz="19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D</a:t>
            </a:r>
            <a:r>
              <a:rPr sz="19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(</a:t>
            </a:r>
            <a:r>
              <a:rPr sz="19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19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).</a:t>
            </a:r>
            <a:endParaRPr sz="1900">
              <a:latin typeface="Times New Roman"/>
              <a:cs typeface="Times New Roman"/>
            </a:endParaRPr>
          </a:p>
          <a:p>
            <a:pPr marL="1774825">
              <a:lnSpc>
                <a:spcPct val="100000"/>
              </a:lnSpc>
              <a:spcBef>
                <a:spcPts val="1705"/>
              </a:spcBef>
            </a:pP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D(S)</a:t>
            </a:r>
            <a:r>
              <a:rPr sz="19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19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{x</a:t>
            </a:r>
            <a:r>
              <a:rPr sz="19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|</a:t>
            </a:r>
            <a:r>
              <a:rPr sz="1900" b="1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1900" dirty="0">
                <a:solidFill>
                  <a:srgbClr val="C00000"/>
                </a:solidFill>
                <a:latin typeface="Symbol"/>
                <a:cs typeface="Symbol"/>
              </a:rPr>
              <a:t>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y)</a:t>
            </a:r>
            <a:r>
              <a:rPr sz="19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(&lt;x,</a:t>
            </a:r>
            <a:r>
              <a:rPr sz="19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y&gt;</a:t>
            </a:r>
            <a:r>
              <a:rPr sz="19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1900" spc="40" dirty="0">
                <a:solidFill>
                  <a:srgbClr val="C00000"/>
                </a:solidFill>
                <a:latin typeface="Cambria Math"/>
                <a:cs typeface="Cambria Math"/>
              </a:rPr>
              <a:t>  </a:t>
            </a:r>
            <a:r>
              <a:rPr sz="1900" b="1" dirty="0">
                <a:solidFill>
                  <a:srgbClr val="C00000"/>
                </a:solidFill>
                <a:latin typeface="Times New Roman"/>
                <a:cs typeface="Times New Roman"/>
              </a:rPr>
              <a:t>S)}</a:t>
            </a:r>
            <a:r>
              <a:rPr sz="19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or</a:t>
            </a:r>
            <a:r>
              <a:rPr sz="1900" b="1" spc="-60" dirty="0"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D(S)</a:t>
            </a:r>
            <a:r>
              <a:rPr sz="19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19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19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19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19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19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x, y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r>
              <a:rPr sz="19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spc="-400" dirty="0">
                <a:solidFill>
                  <a:srgbClr val="00AF50"/>
                </a:solidFill>
                <a:latin typeface="Malgun Gothic"/>
                <a:cs typeface="Malgun Gothic"/>
              </a:rPr>
              <a:t>∈</a:t>
            </a:r>
            <a:r>
              <a:rPr sz="1900" b="1" spc="-65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S,</a:t>
            </a:r>
            <a:r>
              <a:rPr sz="19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19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some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19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1900" b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1F5F"/>
                </a:solidFill>
                <a:latin typeface="Times New Roman"/>
                <a:cs typeface="Times New Roman"/>
              </a:rPr>
              <a:t>range</a:t>
            </a:r>
            <a:r>
              <a:rPr sz="1900" b="1" i="1" spc="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1900" b="1" spc="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1900" b="1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relation</a:t>
            </a:r>
            <a:r>
              <a:rPr sz="1900" b="1" spc="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1F5F"/>
                </a:solidFill>
                <a:latin typeface="Times New Roman"/>
                <a:cs typeface="Times New Roman"/>
              </a:rPr>
              <a:t>S</a:t>
            </a:r>
            <a:r>
              <a:rPr sz="1900" b="1" i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1900" b="1" spc="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defined</a:t>
            </a:r>
            <a:r>
              <a:rPr sz="1900" b="1" spc="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as</a:t>
            </a:r>
            <a:r>
              <a:rPr sz="1900" b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1900" b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set</a:t>
            </a:r>
            <a:r>
              <a:rPr sz="1900" b="1" spc="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1900" b="1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all</a:t>
            </a:r>
            <a:r>
              <a:rPr sz="1900" b="1" spc="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second</a:t>
            </a:r>
            <a:r>
              <a:rPr sz="1900" b="1" spc="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elements</a:t>
            </a:r>
            <a:r>
              <a:rPr sz="1900" b="1" spc="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1900" b="1" spc="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1900" b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ordered</a:t>
            </a:r>
            <a:r>
              <a:rPr sz="1900" b="1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pairs</a:t>
            </a:r>
            <a:r>
              <a:rPr sz="1900" b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that</a:t>
            </a:r>
            <a:r>
              <a:rPr sz="1900" b="1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belong</a:t>
            </a:r>
            <a:endParaRPr sz="19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915"/>
              </a:spcBef>
            </a:pP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19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001F5F"/>
                </a:solidFill>
                <a:latin typeface="Times New Roman"/>
                <a:cs typeface="Times New Roman"/>
              </a:rPr>
              <a:t>S</a:t>
            </a:r>
            <a:r>
              <a:rPr sz="190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19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19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denoted</a:t>
            </a:r>
            <a:r>
              <a:rPr sz="19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r>
              <a:rPr sz="19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R</a:t>
            </a:r>
            <a:r>
              <a:rPr sz="19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(</a:t>
            </a:r>
            <a:r>
              <a:rPr sz="190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S</a:t>
            </a:r>
            <a:r>
              <a:rPr sz="19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).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900">
              <a:latin typeface="Times New Roman"/>
              <a:cs typeface="Times New Roman"/>
            </a:endParaRPr>
          </a:p>
          <a:p>
            <a:pPr marL="1045844">
              <a:lnSpc>
                <a:spcPct val="100000"/>
              </a:lnSpc>
            </a:pP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R(S)</a:t>
            </a:r>
            <a:r>
              <a:rPr sz="19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{y</a:t>
            </a:r>
            <a:r>
              <a:rPr sz="19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|</a:t>
            </a:r>
            <a:r>
              <a:rPr sz="19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00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x)</a:t>
            </a:r>
            <a:r>
              <a:rPr sz="19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(&lt;x,</a:t>
            </a:r>
            <a:r>
              <a:rPr sz="19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y&gt;</a:t>
            </a:r>
            <a:r>
              <a:rPr sz="19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 Math"/>
                <a:cs typeface="Cambria Math"/>
              </a:rPr>
              <a:t>∈</a:t>
            </a:r>
            <a:r>
              <a:rPr sz="1900" spc="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S)}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or</a:t>
            </a:r>
            <a:r>
              <a:rPr sz="1900" b="1" spc="-60" dirty="0"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(</a:t>
            </a:r>
            <a:r>
              <a:rPr sz="1900" b="1" i="1" dirty="0">
                <a:solidFill>
                  <a:srgbClr val="4B24F3"/>
                </a:solidFill>
                <a:latin typeface="Times New Roman"/>
                <a:cs typeface="Times New Roman"/>
              </a:rPr>
              <a:t>S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)</a:t>
            </a:r>
            <a:r>
              <a:rPr sz="19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=</a:t>
            </a:r>
            <a:r>
              <a:rPr sz="19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{</a:t>
            </a:r>
            <a:r>
              <a:rPr sz="1900" b="1" spc="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4B24F3"/>
                </a:solidFill>
                <a:latin typeface="Times New Roman"/>
                <a:cs typeface="Times New Roman"/>
              </a:rPr>
              <a:t>y</a:t>
            </a:r>
            <a:r>
              <a:rPr sz="19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: (</a:t>
            </a:r>
            <a:r>
              <a:rPr sz="1900" b="1" i="1" dirty="0">
                <a:solidFill>
                  <a:srgbClr val="4B24F3"/>
                </a:solidFill>
                <a:latin typeface="Times New Roman"/>
                <a:cs typeface="Times New Roman"/>
              </a:rPr>
              <a:t>x,</a:t>
            </a:r>
            <a:r>
              <a:rPr sz="1900" b="1" i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4B24F3"/>
                </a:solidFill>
                <a:latin typeface="Times New Roman"/>
                <a:cs typeface="Times New Roman"/>
              </a:rPr>
              <a:t>y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)</a:t>
            </a:r>
            <a:r>
              <a:rPr sz="1900" b="1" spc="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spc="-400" dirty="0">
                <a:solidFill>
                  <a:srgbClr val="4B24F3"/>
                </a:solidFill>
                <a:latin typeface="Malgun Gothic"/>
                <a:cs typeface="Malgun Gothic"/>
              </a:rPr>
              <a:t>∈</a:t>
            </a:r>
            <a:r>
              <a:rPr sz="1900" b="1" spc="-65" dirty="0">
                <a:solidFill>
                  <a:srgbClr val="4B24F3"/>
                </a:solidFill>
                <a:latin typeface="Malgun Gothic"/>
                <a:cs typeface="Malgun Gothic"/>
              </a:rPr>
              <a:t> </a:t>
            </a:r>
            <a:r>
              <a:rPr sz="1900" b="1" i="1" dirty="0">
                <a:solidFill>
                  <a:srgbClr val="4B24F3"/>
                </a:solidFill>
                <a:latin typeface="Times New Roman"/>
                <a:cs typeface="Times New Roman"/>
              </a:rPr>
              <a:t>S,</a:t>
            </a:r>
            <a:r>
              <a:rPr sz="19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for</a:t>
            </a:r>
            <a:r>
              <a:rPr sz="1900" b="1" spc="-6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B24F3"/>
                </a:solidFill>
                <a:latin typeface="Times New Roman"/>
                <a:cs typeface="Times New Roman"/>
              </a:rPr>
              <a:t>some</a:t>
            </a:r>
            <a:r>
              <a:rPr sz="19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19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x</a:t>
            </a:r>
            <a:r>
              <a:rPr sz="19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16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{</a:t>
            </a:r>
            <a:r>
              <a:rPr sz="2000" b="1" dirty="0">
                <a:latin typeface="Times New Roman"/>
                <a:cs typeface="Times New Roman"/>
              </a:rPr>
              <a:t>2</a:t>
            </a:r>
            <a:r>
              <a:rPr sz="2000" b="1" i="1" dirty="0">
                <a:latin typeface="Times New Roman"/>
                <a:cs typeface="Times New Roman"/>
              </a:rPr>
              <a:t>,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</a:t>
            </a:r>
            <a:r>
              <a:rPr sz="2000" b="1" i="1" dirty="0">
                <a:latin typeface="Times New Roman"/>
                <a:cs typeface="Times New Roman"/>
              </a:rPr>
              <a:t>,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4</a:t>
            </a:r>
            <a:r>
              <a:rPr sz="2000" b="1" i="1" dirty="0">
                <a:latin typeface="Times New Roman"/>
                <a:cs typeface="Times New Roman"/>
              </a:rPr>
              <a:t>}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{</a:t>
            </a:r>
            <a:r>
              <a:rPr sz="2000" b="1" dirty="0">
                <a:latin typeface="Times New Roman"/>
                <a:cs typeface="Times New Roman"/>
              </a:rPr>
              <a:t>3</a:t>
            </a:r>
            <a:r>
              <a:rPr sz="2000" b="1" i="1" dirty="0">
                <a:latin typeface="Times New Roman"/>
                <a:cs typeface="Times New Roman"/>
              </a:rPr>
              <a:t>,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4</a:t>
            </a:r>
            <a:r>
              <a:rPr sz="2000" b="1" i="1" dirty="0">
                <a:latin typeface="Times New Roman"/>
                <a:cs typeface="Times New Roman"/>
              </a:rPr>
              <a:t>,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</a:t>
            </a:r>
            <a:r>
              <a:rPr sz="2000" b="1" i="1" dirty="0">
                <a:latin typeface="Times New Roman"/>
                <a:cs typeface="Times New Roman"/>
              </a:rPr>
              <a:t>,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6</a:t>
            </a:r>
            <a:r>
              <a:rPr sz="2000" b="1" i="1" dirty="0">
                <a:latin typeface="Times New Roman"/>
                <a:cs typeface="Times New Roman"/>
              </a:rPr>
              <a:t>,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7</a:t>
            </a:r>
            <a:r>
              <a:rPr sz="2000" b="1" i="1" dirty="0">
                <a:latin typeface="Times New Roman"/>
                <a:cs typeface="Times New Roman"/>
              </a:rPr>
              <a:t>}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Define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sz="2000" b="1" i="1" dirty="0">
                <a:latin typeface="Times New Roman"/>
                <a:cs typeface="Times New Roman"/>
              </a:rPr>
              <a:t>a,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</a:t>
            </a:r>
            <a:r>
              <a:rPr sz="2000" b="1" dirty="0">
                <a:latin typeface="Times New Roman"/>
                <a:cs typeface="Times New Roman"/>
              </a:rPr>
              <a:t>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420" dirty="0">
                <a:latin typeface="Malgun Gothic"/>
                <a:cs typeface="Malgun Gothic"/>
              </a:rPr>
              <a:t>∈</a:t>
            </a:r>
            <a:r>
              <a:rPr sz="2000" b="1" spc="-55" dirty="0">
                <a:latin typeface="Malgun Gothic"/>
                <a:cs typeface="Malgun Gothic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divides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b</a:t>
            </a:r>
            <a:r>
              <a:rPr sz="2000" b="1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Solution:</a:t>
            </a:r>
            <a:r>
              <a:rPr sz="20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We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obtain</a:t>
            </a:r>
            <a:r>
              <a:rPr sz="20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0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(2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4)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(2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6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6)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(3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3)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(3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6)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(4</a:t>
            </a:r>
            <a:r>
              <a:rPr sz="2000" b="1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4)</a:t>
            </a:r>
            <a:r>
              <a:rPr sz="2000" b="1" i="1" spc="-20" dirty="0">
                <a:solidFill>
                  <a:srgbClr val="4B24F3"/>
                </a:solidFill>
                <a:latin typeface="Times New Roman"/>
                <a:cs typeface="Times New Roman"/>
              </a:rPr>
              <a:t>}</a:t>
            </a:r>
            <a:r>
              <a:rPr sz="20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Domain</a:t>
            </a:r>
            <a:r>
              <a:rPr sz="2000" b="1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R</a:t>
            </a:r>
            <a:r>
              <a:rPr sz="20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2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,</a:t>
            </a:r>
            <a:r>
              <a:rPr sz="20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3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4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}</a:t>
            </a:r>
            <a:r>
              <a:rPr sz="20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range</a:t>
            </a:r>
            <a:r>
              <a:rPr sz="2000" b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R</a:t>
            </a:r>
            <a:r>
              <a:rPr sz="20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3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,</a:t>
            </a:r>
            <a:r>
              <a:rPr sz="20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4</a:t>
            </a:r>
            <a:r>
              <a:rPr sz="2000" b="1" i="1" dirty="0">
                <a:solidFill>
                  <a:srgbClr val="6F2F9F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6</a:t>
            </a:r>
            <a:r>
              <a:rPr sz="2000" b="1" i="1" spc="-25" dirty="0">
                <a:solidFill>
                  <a:srgbClr val="6F2F9F"/>
                </a:solidFill>
                <a:latin typeface="Times New Roman"/>
                <a:cs typeface="Times New Roman"/>
              </a:rPr>
              <a:t>}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19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2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set</a:t>
            </a:r>
            <a:r>
              <a:rPr sz="1900" b="1" spc="1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x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defines</a:t>
            </a:r>
            <a:r>
              <a:rPr sz="1900" b="1" spc="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relation</a:t>
            </a:r>
            <a:r>
              <a:rPr sz="1900" b="1" spc="1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in</a:t>
            </a:r>
            <a:r>
              <a:rPr sz="1900" b="1" spc="1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and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is</a:t>
            </a:r>
            <a:r>
              <a:rPr sz="1900" b="1" spc="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called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2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universal</a:t>
            </a:r>
            <a:r>
              <a:rPr sz="1900" b="1" i="1" spc="2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relation</a:t>
            </a:r>
            <a:r>
              <a:rPr sz="1900" b="1" i="1" spc="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in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A.</a:t>
            </a:r>
            <a:r>
              <a:rPr sz="1900" b="1" spc="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47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empty</a:t>
            </a:r>
            <a:r>
              <a:rPr sz="1900" b="1" spc="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set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which</a:t>
            </a:r>
            <a:r>
              <a:rPr sz="1900" b="1" spc="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is</a:t>
            </a:r>
            <a:r>
              <a:rPr sz="1900" b="1" spc="30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also</a:t>
            </a:r>
            <a:endParaRPr sz="19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subset</a:t>
            </a:r>
            <a:r>
              <a:rPr sz="1900" b="1" spc="-1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of A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x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is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called</a:t>
            </a:r>
            <a:r>
              <a:rPr sz="1900" b="1" spc="-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void</a:t>
            </a:r>
            <a:r>
              <a:rPr sz="1900" b="1" i="1" spc="-4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relation</a:t>
            </a:r>
            <a:r>
              <a:rPr sz="1900" b="1" i="1" spc="-1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in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A.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026" y="952201"/>
            <a:ext cx="11079480" cy="49390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35"/>
              </a:spcBef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Example-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1: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Define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relation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between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two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sets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{5,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6,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7}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{x,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y}.</a:t>
            </a:r>
            <a:endParaRPr sz="2400">
              <a:latin typeface="Calibri"/>
              <a:cs typeface="Calibri"/>
            </a:endParaRPr>
          </a:p>
          <a:p>
            <a:pPr marL="279400" marR="17780" indent="-161925">
              <a:lnSpc>
                <a:spcPts val="2300"/>
              </a:lnSpc>
              <a:spcBef>
                <a:spcPts val="994"/>
              </a:spcBef>
            </a:pPr>
            <a:r>
              <a:rPr sz="2400" b="1" dirty="0">
                <a:solidFill>
                  <a:srgbClr val="FFC000"/>
                </a:solidFill>
                <a:latin typeface="Calibri"/>
                <a:cs typeface="Calibri"/>
              </a:rPr>
              <a:t>Solution:</a:t>
            </a:r>
            <a:r>
              <a:rPr sz="2400" b="1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{5,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6,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7}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{x,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y},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then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subset R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{(5,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x), (5,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y),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(6,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x),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(6,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y)}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a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relation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from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Example-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2: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consider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set</a:t>
            </a:r>
            <a:r>
              <a:rPr sz="2400" b="1" spc="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A={1,2,3,4}.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30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Let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R=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{(1,1),(1,2),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(1,3),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(1,4),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(2,2),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(2,4),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(3,3),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(4,4)}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09"/>
              </a:spcBef>
            </a:pP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set</a:t>
            </a:r>
            <a:r>
              <a:rPr sz="2400" b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4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A.</a:t>
            </a:r>
            <a:r>
              <a:rPr sz="24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Calibri"/>
                <a:cs typeface="Calibri"/>
              </a:rPr>
              <a:t>Therefore,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24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relation</a:t>
            </a:r>
            <a:r>
              <a:rPr sz="24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on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A.</a:t>
            </a:r>
            <a:r>
              <a:rPr sz="24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We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further</a:t>
            </a:r>
            <a:r>
              <a:rPr sz="2400" b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note</a:t>
            </a:r>
            <a:r>
              <a:rPr sz="24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that</a:t>
            </a:r>
            <a:r>
              <a:rPr sz="2400" b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(x,</a:t>
            </a:r>
            <a:r>
              <a:rPr sz="24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y)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50800" marR="251460">
              <a:lnSpc>
                <a:spcPct val="114199"/>
              </a:lnSpc>
              <a:spcBef>
                <a:spcPts val="5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only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divides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y.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Hence,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here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stands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sz="2400" b="1" spc="-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statement</a:t>
            </a:r>
            <a:r>
              <a:rPr sz="2400" b="1" spc="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“x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divides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y”,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stands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sz="2400" b="1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word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“divides”.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Example-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3: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Let</a:t>
            </a:r>
            <a:r>
              <a:rPr sz="24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denote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set</a:t>
            </a:r>
            <a:r>
              <a:rPr sz="2400" b="1" spc="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real numbers.</a:t>
            </a:r>
            <a:r>
              <a:rPr sz="2400" b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Then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Q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{&lt;x</a:t>
            </a:r>
            <a:r>
              <a:rPr sz="2400" b="1" baseline="24305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x&gt;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|x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-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R}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defines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relation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square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real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154" rIns="0" bIns="0" rtlCol="0">
            <a:spAutoFit/>
          </a:bodyPr>
          <a:lstStyle/>
          <a:p>
            <a:pPr marL="2701290">
              <a:lnSpc>
                <a:spcPct val="100000"/>
              </a:lnSpc>
              <a:spcBef>
                <a:spcPts val="95"/>
              </a:spcBef>
            </a:pPr>
            <a:r>
              <a:rPr dirty="0"/>
              <a:t>Matrix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544" y="945896"/>
            <a:ext cx="10149205" cy="22910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54000" marR="955675" indent="-22860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Matrix:</a:t>
            </a:r>
            <a:r>
              <a:rPr sz="2400" b="1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from</a:t>
            </a:r>
            <a:r>
              <a:rPr sz="2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finite</a:t>
            </a:r>
            <a:r>
              <a:rPr sz="24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set</a:t>
            </a:r>
            <a:r>
              <a:rPr sz="2400" b="1" spc="-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finite</a:t>
            </a:r>
            <a:r>
              <a:rPr sz="24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set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can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be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represented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by</a:t>
            </a:r>
            <a:r>
              <a:rPr sz="24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matrix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called</a:t>
            </a:r>
            <a:r>
              <a:rPr sz="24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2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matrix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R.</a:t>
            </a:r>
            <a:endParaRPr sz="2400">
              <a:latin typeface="Times New Roman"/>
              <a:cs typeface="Times New Roman"/>
            </a:endParaRPr>
          </a:p>
          <a:p>
            <a:pPr marL="254000" marR="17780" indent="-152400">
              <a:lnSpc>
                <a:spcPct val="90100"/>
              </a:lnSpc>
              <a:spcBef>
                <a:spcPts val="95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Let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{a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...,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m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{b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...,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finite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sets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containing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n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elements,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respectively,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from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B.</a:t>
            </a:r>
            <a:r>
              <a:rPr sz="24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can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be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represented</a:t>
            </a:r>
            <a:r>
              <a:rPr sz="24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×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matrix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M</a:t>
            </a:r>
            <a:r>
              <a:rPr sz="2400" b="1" baseline="-20833" dirty="0">
                <a:solidFill>
                  <a:srgbClr val="4A2BD4"/>
                </a:solidFill>
                <a:latin typeface="Times New Roman"/>
                <a:cs typeface="Times New Roman"/>
              </a:rPr>
              <a:t>R</a:t>
            </a:r>
            <a:r>
              <a:rPr sz="2400" b="1" spc="254" baseline="-20833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[r</a:t>
            </a:r>
            <a:r>
              <a:rPr sz="2400" b="1" baseline="-20833" dirty="0">
                <a:solidFill>
                  <a:srgbClr val="4A2BD4"/>
                </a:solidFill>
                <a:latin typeface="Times New Roman"/>
                <a:cs typeface="Times New Roman"/>
              </a:rPr>
              <a:t>ij</a:t>
            </a:r>
            <a:r>
              <a:rPr sz="2400" b="1" spc="300" baseline="-20833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],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which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defined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as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follows: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9975" y="3543808"/>
            <a:ext cx="2232660" cy="93471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  <a:tabLst>
                <a:tab pos="418465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1,</a:t>
            </a:r>
            <a:r>
              <a:rPr sz="2400" b="1" dirty="0">
                <a:latin typeface="Times New Roman"/>
                <a:cs typeface="Times New Roman"/>
              </a:rPr>
              <a:t>	if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(a</a:t>
            </a:r>
            <a:r>
              <a:rPr sz="2400" b="1" baseline="-20833" dirty="0">
                <a:latin typeface="Times New Roman"/>
                <a:cs typeface="Times New Roman"/>
              </a:rPr>
              <a:t>i</a:t>
            </a:r>
            <a:r>
              <a:rPr sz="2400" b="1" spc="292" baseline="-2083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baseline="-20833" dirty="0">
                <a:latin typeface="Times New Roman"/>
                <a:cs typeface="Times New Roman"/>
              </a:rPr>
              <a:t>j</a:t>
            </a:r>
            <a:r>
              <a:rPr sz="2400" b="1" spc="270" baseline="-2083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  <a:tabLst>
                <a:tab pos="418465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0,</a:t>
            </a:r>
            <a:r>
              <a:rPr sz="2400" b="1" dirty="0">
                <a:latin typeface="Times New Roman"/>
                <a:cs typeface="Times New Roman"/>
              </a:rPr>
              <a:t>	if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(a</a:t>
            </a:r>
            <a:r>
              <a:rPr sz="2400" b="1" baseline="-20833" dirty="0">
                <a:latin typeface="Times New Roman"/>
                <a:cs typeface="Times New Roman"/>
              </a:rPr>
              <a:t>i</a:t>
            </a:r>
            <a:r>
              <a:rPr sz="2400" b="1" spc="292" baseline="-2083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baseline="-20833" dirty="0">
                <a:latin typeface="Times New Roman"/>
                <a:cs typeface="Times New Roman"/>
              </a:rPr>
              <a:t>j</a:t>
            </a:r>
            <a:r>
              <a:rPr sz="2400" b="1" spc="270" baseline="-2083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844" y="4543755"/>
            <a:ext cx="10080625" cy="163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735"/>
              </a:lnSpc>
              <a:spcBef>
                <a:spcPts val="10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n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matrix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formed by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these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ij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‘s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adjacency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matrix,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sz="24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266700">
              <a:lnSpc>
                <a:spcPts val="2735"/>
              </a:lnSpc>
              <a:tabLst>
                <a:tab pos="1628139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matrix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of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	relation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it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denoted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M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30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sz="2400" b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M(R).</a:t>
            </a:r>
            <a:endParaRPr sz="2400">
              <a:latin typeface="Times New Roman"/>
              <a:cs typeface="Times New Roman"/>
            </a:endParaRPr>
          </a:p>
          <a:p>
            <a:pPr marL="38100" marR="4869180" indent="45720">
              <a:lnSpc>
                <a:spcPct val="124200"/>
              </a:lnSpc>
              <a:spcBef>
                <a:spcPts val="25"/>
              </a:spcBef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rows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M</a:t>
            </a:r>
            <a:r>
              <a:rPr sz="2400" b="1" baseline="-20833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400" b="1" spc="277" baseline="-20833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elements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of</a:t>
            </a:r>
            <a:r>
              <a:rPr sz="2400" b="1" spc="-15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A.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columns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254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elements</a:t>
            </a:r>
            <a:r>
              <a:rPr sz="24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50791" y="4194047"/>
            <a:ext cx="130810" cy="247015"/>
          </a:xfrm>
          <a:custGeom>
            <a:avLst/>
            <a:gdLst/>
            <a:ahLst/>
            <a:cxnLst/>
            <a:rect l="l" t="t" r="r" b="b"/>
            <a:pathLst>
              <a:path w="130810" h="247014">
                <a:moveTo>
                  <a:pt x="130683" y="0"/>
                </a:moveTo>
                <a:lnTo>
                  <a:pt x="0" y="24676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16787" y="3935729"/>
            <a:ext cx="72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baseline="-20833" dirty="0">
                <a:latin typeface="Times New Roman"/>
                <a:cs typeface="Times New Roman"/>
              </a:rPr>
              <a:t>ij</a:t>
            </a:r>
            <a:r>
              <a:rPr sz="2400" spc="142" baseline="-20833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86711" y="3688079"/>
            <a:ext cx="363220" cy="810895"/>
          </a:xfrm>
          <a:custGeom>
            <a:avLst/>
            <a:gdLst/>
            <a:ahLst/>
            <a:cxnLst/>
            <a:rect l="l" t="t" r="r" b="b"/>
            <a:pathLst>
              <a:path w="363219" h="810895">
                <a:moveTo>
                  <a:pt x="362712" y="810768"/>
                </a:moveTo>
                <a:lnTo>
                  <a:pt x="292101" y="808384"/>
                </a:lnTo>
                <a:lnTo>
                  <a:pt x="234457" y="801893"/>
                </a:lnTo>
                <a:lnTo>
                  <a:pt x="195601" y="792283"/>
                </a:lnTo>
                <a:lnTo>
                  <a:pt x="181356" y="780542"/>
                </a:lnTo>
                <a:lnTo>
                  <a:pt x="181356" y="435610"/>
                </a:lnTo>
                <a:lnTo>
                  <a:pt x="167110" y="423868"/>
                </a:lnTo>
                <a:lnTo>
                  <a:pt x="128254" y="414258"/>
                </a:lnTo>
                <a:lnTo>
                  <a:pt x="70610" y="407767"/>
                </a:lnTo>
                <a:lnTo>
                  <a:pt x="0" y="405384"/>
                </a:lnTo>
                <a:lnTo>
                  <a:pt x="70610" y="403000"/>
                </a:lnTo>
                <a:lnTo>
                  <a:pt x="128254" y="396509"/>
                </a:lnTo>
                <a:lnTo>
                  <a:pt x="167110" y="386899"/>
                </a:lnTo>
                <a:lnTo>
                  <a:pt x="181356" y="375158"/>
                </a:lnTo>
                <a:lnTo>
                  <a:pt x="181356" y="30226"/>
                </a:lnTo>
                <a:lnTo>
                  <a:pt x="195601" y="18484"/>
                </a:lnTo>
                <a:lnTo>
                  <a:pt x="234457" y="8874"/>
                </a:lnTo>
                <a:lnTo>
                  <a:pt x="292101" y="2383"/>
                </a:lnTo>
                <a:lnTo>
                  <a:pt x="362712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191906"/>
            <a:ext cx="10133965" cy="276034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Example.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Let</a:t>
            </a:r>
            <a:r>
              <a:rPr sz="2400" spc="-1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spc="-1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{1,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2,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3,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4}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B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{b1,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b2,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b3}.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{(1,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b2),</a:t>
            </a:r>
            <a:r>
              <a:rPr sz="24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(1,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b3),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(3, b2),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(4,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b1),</a:t>
            </a:r>
            <a:r>
              <a:rPr sz="24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(4,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b3)}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matrix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Solution: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{1,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4},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{b1,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b2,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b3}.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latin typeface="Times New Roman"/>
                <a:cs typeface="Times New Roman"/>
              </a:rPr>
              <a:t>Relation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{(1,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b2),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b3),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(3,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b2),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(4,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b1),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(4,</a:t>
            </a:r>
            <a:r>
              <a:rPr sz="2400" spc="-10" dirty="0">
                <a:latin typeface="Times New Roman"/>
                <a:cs typeface="Times New Roman"/>
              </a:rPr>
              <a:t> b3)}.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/>
                <a:cs typeface="Times New Roman"/>
              </a:rPr>
              <a:t>Matrix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written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1028" y="3930280"/>
            <a:ext cx="330200" cy="2303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95"/>
              </a:spcBef>
            </a:pPr>
            <a:r>
              <a:rPr sz="2400" spc="-25" dirty="0">
                <a:latin typeface="Times New Roman"/>
                <a:cs typeface="Times New Roman"/>
              </a:rPr>
              <a:t>b1 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5429" y="3930280"/>
            <a:ext cx="330200" cy="2303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24200"/>
              </a:lnSpc>
              <a:spcBef>
                <a:spcPts val="95"/>
              </a:spcBef>
            </a:pPr>
            <a:r>
              <a:rPr sz="2400" spc="-25" dirty="0">
                <a:latin typeface="Times New Roman"/>
                <a:cs typeface="Times New Roman"/>
              </a:rPr>
              <a:t>b2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9829" y="4018279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imes New Roman"/>
                <a:cs typeface="Times New Roman"/>
              </a:rPr>
              <a:t>b3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4380402"/>
            <a:ext cx="2007235" cy="18529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2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  <a:tabLst>
                <a:tab pos="1828800" algn="l"/>
              </a:tabLst>
            </a:pP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sz="2400" spc="-5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90209" y="4380402"/>
            <a:ext cx="178435" cy="18529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41776" y="4572000"/>
            <a:ext cx="73660" cy="1755775"/>
          </a:xfrm>
          <a:custGeom>
            <a:avLst/>
            <a:gdLst/>
            <a:ahLst/>
            <a:cxnLst/>
            <a:rect l="l" t="t" r="r" b="b"/>
            <a:pathLst>
              <a:path w="73660" h="1755775">
                <a:moveTo>
                  <a:pt x="73151" y="1755648"/>
                </a:moveTo>
                <a:lnTo>
                  <a:pt x="44684" y="1755168"/>
                </a:lnTo>
                <a:lnTo>
                  <a:pt x="21431" y="1753862"/>
                </a:lnTo>
                <a:lnTo>
                  <a:pt x="5750" y="1751924"/>
                </a:lnTo>
                <a:lnTo>
                  <a:pt x="0" y="1749552"/>
                </a:lnTo>
                <a:lnTo>
                  <a:pt x="0" y="6095"/>
                </a:lnTo>
                <a:lnTo>
                  <a:pt x="5750" y="3696"/>
                </a:lnTo>
                <a:lnTo>
                  <a:pt x="21431" y="1762"/>
                </a:lnTo>
                <a:lnTo>
                  <a:pt x="44684" y="470"/>
                </a:lnTo>
                <a:lnTo>
                  <a:pt x="73151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32703" y="4556759"/>
            <a:ext cx="128270" cy="1786255"/>
          </a:xfrm>
          <a:custGeom>
            <a:avLst/>
            <a:gdLst/>
            <a:ahLst/>
            <a:cxnLst/>
            <a:rect l="l" t="t" r="r" b="b"/>
            <a:pathLst>
              <a:path w="128270" h="1786254">
                <a:moveTo>
                  <a:pt x="0" y="0"/>
                </a:moveTo>
                <a:lnTo>
                  <a:pt x="49845" y="845"/>
                </a:lnTo>
                <a:lnTo>
                  <a:pt x="90535" y="3143"/>
                </a:lnTo>
                <a:lnTo>
                  <a:pt x="117961" y="6536"/>
                </a:lnTo>
                <a:lnTo>
                  <a:pt x="128016" y="10667"/>
                </a:lnTo>
                <a:lnTo>
                  <a:pt x="128016" y="1775459"/>
                </a:lnTo>
                <a:lnTo>
                  <a:pt x="117961" y="1779612"/>
                </a:lnTo>
                <a:lnTo>
                  <a:pt x="90535" y="1783003"/>
                </a:lnTo>
                <a:lnTo>
                  <a:pt x="49845" y="1785289"/>
                </a:lnTo>
                <a:lnTo>
                  <a:pt x="0" y="1786127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405371" y="4205223"/>
          <a:ext cx="5143500" cy="1979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1033017"/>
            <a:ext cx="9770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latin typeface="Times New Roman"/>
                <a:cs typeface="Times New Roman"/>
              </a:rPr>
              <a:t>Example:</a:t>
            </a:r>
            <a:r>
              <a:rPr sz="2400" b="0" spc="-45" dirty="0"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Let</a:t>
            </a:r>
            <a:r>
              <a:rPr sz="2400" b="0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0" i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1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0" i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3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4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2400" b="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Find</a:t>
            </a:r>
            <a:r>
              <a:rPr sz="2400" b="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relation 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400" b="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0" i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determined</a:t>
            </a:r>
            <a:r>
              <a:rPr sz="2400" b="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400" b="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0" spc="-10" dirty="0">
                <a:solidFill>
                  <a:srgbClr val="00AF50"/>
                </a:solidFill>
                <a:latin typeface="Times New Roman"/>
                <a:cs typeface="Times New Roman"/>
              </a:rPr>
              <a:t>matrix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4391" y="1853057"/>
            <a:ext cx="202565" cy="17240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819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219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4250666"/>
            <a:ext cx="8764905" cy="111633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400" spc="-10" dirty="0">
                <a:solidFill>
                  <a:srgbClr val="FFC000"/>
                </a:solidFill>
                <a:latin typeface="Times New Roman"/>
                <a:cs typeface="Times New Roman"/>
              </a:rPr>
              <a:t>Solution:</a:t>
            </a:r>
            <a:endParaRPr sz="2400">
              <a:latin typeface="Times New Roman"/>
              <a:cs typeface="Times New Roman"/>
            </a:endParaRPr>
          </a:p>
          <a:p>
            <a:pPr marL="727710">
              <a:lnSpc>
                <a:spcPct val="100000"/>
              </a:lnSpc>
              <a:spcBef>
                <a:spcPts val="1415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i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{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(1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1)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(1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3)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(2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3)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(3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1)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(4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1)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(4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2)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(4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4)</a:t>
            </a:r>
            <a:r>
              <a:rPr sz="24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}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3200" y="1901951"/>
            <a:ext cx="131445" cy="1740535"/>
          </a:xfrm>
          <a:custGeom>
            <a:avLst/>
            <a:gdLst/>
            <a:ahLst/>
            <a:cxnLst/>
            <a:rect l="l" t="t" r="r" b="b"/>
            <a:pathLst>
              <a:path w="131444" h="1740535">
                <a:moveTo>
                  <a:pt x="131063" y="1740408"/>
                </a:moveTo>
                <a:lnTo>
                  <a:pt x="80045" y="1739540"/>
                </a:lnTo>
                <a:lnTo>
                  <a:pt x="38385" y="1737185"/>
                </a:lnTo>
                <a:lnTo>
                  <a:pt x="10298" y="1733710"/>
                </a:lnTo>
                <a:lnTo>
                  <a:pt x="0" y="1729486"/>
                </a:lnTo>
                <a:lnTo>
                  <a:pt x="0" y="10922"/>
                </a:lnTo>
                <a:lnTo>
                  <a:pt x="10298" y="6697"/>
                </a:lnTo>
                <a:lnTo>
                  <a:pt x="38385" y="3222"/>
                </a:lnTo>
                <a:lnTo>
                  <a:pt x="80045" y="867"/>
                </a:lnTo>
                <a:lnTo>
                  <a:pt x="131063" y="0"/>
                </a:lnTo>
              </a:path>
            </a:pathLst>
          </a:custGeom>
          <a:ln w="609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02223" y="1917192"/>
            <a:ext cx="131445" cy="1725295"/>
          </a:xfrm>
          <a:custGeom>
            <a:avLst/>
            <a:gdLst/>
            <a:ahLst/>
            <a:cxnLst/>
            <a:rect l="l" t="t" r="r" b="b"/>
            <a:pathLst>
              <a:path w="131445" h="1725295">
                <a:moveTo>
                  <a:pt x="0" y="0"/>
                </a:moveTo>
                <a:lnTo>
                  <a:pt x="51018" y="867"/>
                </a:lnTo>
                <a:lnTo>
                  <a:pt x="92678" y="3222"/>
                </a:lnTo>
                <a:lnTo>
                  <a:pt x="120765" y="6697"/>
                </a:lnTo>
                <a:lnTo>
                  <a:pt x="131063" y="10922"/>
                </a:lnTo>
                <a:lnTo>
                  <a:pt x="131063" y="1714246"/>
                </a:lnTo>
                <a:lnTo>
                  <a:pt x="120765" y="1718470"/>
                </a:lnTo>
                <a:lnTo>
                  <a:pt x="92678" y="1721945"/>
                </a:lnTo>
                <a:lnTo>
                  <a:pt x="51018" y="1724300"/>
                </a:lnTo>
                <a:lnTo>
                  <a:pt x="0" y="1725168"/>
                </a:lnTo>
              </a:path>
            </a:pathLst>
          </a:custGeom>
          <a:ln w="609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61028" y="1310897"/>
            <a:ext cx="249554" cy="226631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155"/>
              </a:spcBef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5809" y="1310897"/>
            <a:ext cx="248920" cy="226631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155"/>
              </a:spcBef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0209" y="1310897"/>
            <a:ext cx="249554" cy="226631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155"/>
              </a:spcBef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1356" y="2529662"/>
            <a:ext cx="5118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MR </a:t>
            </a: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4448" y="2018791"/>
            <a:ext cx="1803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5589" y="1444828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535928" y="1886585"/>
          <a:ext cx="4809490" cy="1851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027" y="1263853"/>
            <a:ext cx="10190480" cy="449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also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represented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 pictorially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drawing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its</a:t>
            </a:r>
            <a:r>
              <a:rPr sz="24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graph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461009" indent="76200">
              <a:lnSpc>
                <a:spcPct val="124600"/>
              </a:lnSpc>
              <a:spcBef>
                <a:spcPts val="5"/>
              </a:spcBef>
            </a:pP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Let</a:t>
            </a:r>
            <a:r>
              <a:rPr sz="2400" b="1" spc="-2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R</a:t>
            </a:r>
            <a:r>
              <a:rPr sz="2400" b="1" i="1" spc="-1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be</a:t>
            </a:r>
            <a:r>
              <a:rPr sz="2400" b="1" spc="-2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relation</a:t>
            </a:r>
            <a:r>
              <a:rPr sz="2400" b="1" spc="-1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in</a:t>
            </a:r>
            <a:r>
              <a:rPr sz="2400" b="1" spc="-2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set</a:t>
            </a:r>
            <a:r>
              <a:rPr sz="2400" b="1" spc="1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X</a:t>
            </a:r>
            <a:r>
              <a:rPr sz="2400" b="1" i="1" spc="-1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=</a:t>
            </a:r>
            <a:r>
              <a:rPr sz="2400" b="1" spc="-4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{x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1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,</a:t>
            </a:r>
            <a:r>
              <a:rPr sz="2400" b="1" i="1" spc="-1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x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2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,</a:t>
            </a:r>
            <a:r>
              <a:rPr sz="2400" b="1" i="1" spc="-1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...,</a:t>
            </a:r>
            <a:r>
              <a:rPr sz="2400" b="1" i="1" spc="-1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xm}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.</a:t>
            </a:r>
            <a:r>
              <a:rPr sz="2400" b="1" spc="-8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elements</a:t>
            </a:r>
            <a:r>
              <a:rPr sz="2400" b="1" spc="2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X</a:t>
            </a:r>
            <a:r>
              <a:rPr sz="2400" b="1" i="1" spc="-1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4B083"/>
                </a:solidFill>
                <a:latin typeface="Times New Roman"/>
                <a:cs typeface="Times New Roman"/>
              </a:rPr>
              <a:t>are </a:t>
            </a:r>
            <a:r>
              <a:rPr sz="2400" b="1" spc="-10" dirty="0">
                <a:solidFill>
                  <a:srgbClr val="F4B083"/>
                </a:solidFill>
                <a:latin typeface="Times New Roman"/>
                <a:cs typeface="Times New Roman"/>
              </a:rPr>
              <a:t>represented</a:t>
            </a:r>
            <a:r>
              <a:rPr sz="2400" b="1" spc="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by</a:t>
            </a:r>
            <a:r>
              <a:rPr sz="2400" b="1" spc="-7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points</a:t>
            </a:r>
            <a:r>
              <a:rPr sz="2400" b="1" spc="-4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or</a:t>
            </a:r>
            <a:r>
              <a:rPr sz="2400" b="1" spc="-9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circles(bullet)</a:t>
            </a:r>
            <a:r>
              <a:rPr sz="2400" b="1" spc="-25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called</a:t>
            </a:r>
            <a:r>
              <a:rPr sz="2400" b="1" spc="-3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4B083"/>
                </a:solidFill>
                <a:latin typeface="Times New Roman"/>
                <a:cs typeface="Times New Roman"/>
              </a:rPr>
              <a:t>nodes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.</a:t>
            </a:r>
            <a:r>
              <a:rPr sz="2400" b="1" spc="-9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These</a:t>
            </a:r>
            <a:r>
              <a:rPr sz="2400" b="1" spc="-5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nodes</a:t>
            </a:r>
            <a:r>
              <a:rPr sz="2400" b="1" spc="-4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4B083"/>
                </a:solidFill>
                <a:latin typeface="Times New Roman"/>
                <a:cs typeface="Times New Roman"/>
              </a:rPr>
              <a:t>are</a:t>
            </a:r>
            <a:r>
              <a:rPr sz="2400" b="1" spc="-30" dirty="0">
                <a:solidFill>
                  <a:srgbClr val="F4B08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4B083"/>
                </a:solidFill>
                <a:latin typeface="Times New Roman"/>
                <a:cs typeface="Times New Roman"/>
              </a:rPr>
              <a:t>called </a:t>
            </a:r>
            <a:r>
              <a:rPr sz="2400" b="1" i="1" spc="-10" dirty="0">
                <a:solidFill>
                  <a:srgbClr val="F4B083"/>
                </a:solidFill>
                <a:latin typeface="Times New Roman"/>
                <a:cs typeface="Times New Roman"/>
              </a:rPr>
              <a:t>vertices</a:t>
            </a:r>
            <a:r>
              <a:rPr sz="2400" b="1" spc="-10" dirty="0">
                <a:solidFill>
                  <a:srgbClr val="F4B083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5080" indent="76200">
              <a:lnSpc>
                <a:spcPts val="3600"/>
              </a:lnSpc>
              <a:spcBef>
                <a:spcPts val="24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xi,</a:t>
            </a:r>
            <a:r>
              <a:rPr sz="24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xj</a:t>
            </a:r>
            <a:r>
              <a:rPr sz="24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)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-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we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connect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nodes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xi</a:t>
            </a:r>
            <a:r>
              <a:rPr sz="24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xj</a:t>
            </a:r>
            <a:r>
              <a:rPr sz="24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by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means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arc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put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arrow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on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arc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direction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from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xi</a:t>
            </a:r>
            <a:r>
              <a:rPr sz="2400" b="1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xj</a:t>
            </a:r>
            <a:r>
              <a:rPr sz="24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r>
              <a:rPr sz="24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This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called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edge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all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nodes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corresponding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ordered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pairs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i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are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connected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by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arcs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with</a:t>
            </a:r>
            <a:endParaRPr sz="2400">
              <a:latin typeface="Times New Roman"/>
              <a:cs typeface="Times New Roman"/>
            </a:endParaRPr>
          </a:p>
          <a:p>
            <a:pPr marL="12700" marR="359410">
              <a:lnSpc>
                <a:spcPct val="125000"/>
              </a:lnSpc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proper</a:t>
            </a:r>
            <a:r>
              <a:rPr sz="2400" b="1" spc="-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arrows,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we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get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graph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r>
              <a:rPr sz="2400" b="1" spc="-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resulting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pictorial representation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called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directed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graph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or</a:t>
            </a:r>
            <a:r>
              <a:rPr sz="2400" b="1" spc="-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digraph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154" rIns="0" bIns="0" rtlCol="0">
            <a:spAutoFit/>
          </a:bodyPr>
          <a:lstStyle/>
          <a:p>
            <a:pPr marL="2588260">
              <a:lnSpc>
                <a:spcPct val="100000"/>
              </a:lnSpc>
              <a:spcBef>
                <a:spcPts val="95"/>
              </a:spcBef>
            </a:pPr>
            <a:r>
              <a:rPr dirty="0"/>
              <a:t>Digraph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Relation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4572000"/>
            <a:ext cx="451484" cy="451484"/>
          </a:xfrm>
          <a:custGeom>
            <a:avLst/>
            <a:gdLst/>
            <a:ahLst/>
            <a:cxnLst/>
            <a:rect l="l" t="t" r="r" b="b"/>
            <a:pathLst>
              <a:path w="451485" h="451485">
                <a:moveTo>
                  <a:pt x="0" y="225551"/>
                </a:moveTo>
                <a:lnTo>
                  <a:pt x="4581" y="180090"/>
                </a:lnTo>
                <a:lnTo>
                  <a:pt x="17722" y="137749"/>
                </a:lnTo>
                <a:lnTo>
                  <a:pt x="38515" y="99435"/>
                </a:lnTo>
                <a:lnTo>
                  <a:pt x="66055" y="66055"/>
                </a:lnTo>
                <a:lnTo>
                  <a:pt x="99435" y="38515"/>
                </a:lnTo>
                <a:lnTo>
                  <a:pt x="137749" y="17722"/>
                </a:lnTo>
                <a:lnTo>
                  <a:pt x="180090" y="4581"/>
                </a:lnTo>
                <a:lnTo>
                  <a:pt x="225551" y="0"/>
                </a:lnTo>
                <a:lnTo>
                  <a:pt x="271013" y="4581"/>
                </a:lnTo>
                <a:lnTo>
                  <a:pt x="313354" y="17722"/>
                </a:lnTo>
                <a:lnTo>
                  <a:pt x="351668" y="38515"/>
                </a:lnTo>
                <a:lnTo>
                  <a:pt x="385048" y="66055"/>
                </a:lnTo>
                <a:lnTo>
                  <a:pt x="412588" y="99435"/>
                </a:lnTo>
                <a:lnTo>
                  <a:pt x="433381" y="137749"/>
                </a:lnTo>
                <a:lnTo>
                  <a:pt x="446522" y="180090"/>
                </a:lnTo>
                <a:lnTo>
                  <a:pt x="451104" y="225551"/>
                </a:lnTo>
                <a:lnTo>
                  <a:pt x="446522" y="271013"/>
                </a:lnTo>
                <a:lnTo>
                  <a:pt x="433381" y="313354"/>
                </a:lnTo>
                <a:lnTo>
                  <a:pt x="412588" y="351668"/>
                </a:lnTo>
                <a:lnTo>
                  <a:pt x="385048" y="385048"/>
                </a:lnTo>
                <a:lnTo>
                  <a:pt x="351668" y="412588"/>
                </a:lnTo>
                <a:lnTo>
                  <a:pt x="313354" y="433381"/>
                </a:lnTo>
                <a:lnTo>
                  <a:pt x="271013" y="446522"/>
                </a:lnTo>
                <a:lnTo>
                  <a:pt x="225551" y="451104"/>
                </a:lnTo>
                <a:lnTo>
                  <a:pt x="180090" y="446522"/>
                </a:lnTo>
                <a:lnTo>
                  <a:pt x="137749" y="433381"/>
                </a:lnTo>
                <a:lnTo>
                  <a:pt x="99435" y="412588"/>
                </a:lnTo>
                <a:lnTo>
                  <a:pt x="66055" y="385048"/>
                </a:lnTo>
                <a:lnTo>
                  <a:pt x="38515" y="351668"/>
                </a:lnTo>
                <a:lnTo>
                  <a:pt x="17722" y="313354"/>
                </a:lnTo>
                <a:lnTo>
                  <a:pt x="4581" y="271013"/>
                </a:lnTo>
                <a:lnTo>
                  <a:pt x="0" y="22555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88285" y="463367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0" y="4507991"/>
            <a:ext cx="451484" cy="448309"/>
          </a:xfrm>
          <a:custGeom>
            <a:avLst/>
            <a:gdLst/>
            <a:ahLst/>
            <a:cxnLst/>
            <a:rect l="l" t="t" r="r" b="b"/>
            <a:pathLst>
              <a:path w="451485" h="448310">
                <a:moveTo>
                  <a:pt x="0" y="224027"/>
                </a:moveTo>
                <a:lnTo>
                  <a:pt x="4581" y="178886"/>
                </a:lnTo>
                <a:lnTo>
                  <a:pt x="17722" y="136838"/>
                </a:lnTo>
                <a:lnTo>
                  <a:pt x="38515" y="98784"/>
                </a:lnTo>
                <a:lnTo>
                  <a:pt x="66055" y="65627"/>
                </a:lnTo>
                <a:lnTo>
                  <a:pt x="99435" y="38268"/>
                </a:lnTo>
                <a:lnTo>
                  <a:pt x="137749" y="17609"/>
                </a:lnTo>
                <a:lnTo>
                  <a:pt x="180090" y="4552"/>
                </a:lnTo>
                <a:lnTo>
                  <a:pt x="225551" y="0"/>
                </a:lnTo>
                <a:lnTo>
                  <a:pt x="271013" y="4552"/>
                </a:lnTo>
                <a:lnTo>
                  <a:pt x="313354" y="17609"/>
                </a:lnTo>
                <a:lnTo>
                  <a:pt x="351668" y="38268"/>
                </a:lnTo>
                <a:lnTo>
                  <a:pt x="385048" y="65627"/>
                </a:lnTo>
                <a:lnTo>
                  <a:pt x="412588" y="98784"/>
                </a:lnTo>
                <a:lnTo>
                  <a:pt x="433381" y="136838"/>
                </a:lnTo>
                <a:lnTo>
                  <a:pt x="446522" y="178886"/>
                </a:lnTo>
                <a:lnTo>
                  <a:pt x="451103" y="224027"/>
                </a:lnTo>
                <a:lnTo>
                  <a:pt x="446522" y="269169"/>
                </a:lnTo>
                <a:lnTo>
                  <a:pt x="433381" y="311217"/>
                </a:lnTo>
                <a:lnTo>
                  <a:pt x="412588" y="349271"/>
                </a:lnTo>
                <a:lnTo>
                  <a:pt x="385048" y="382428"/>
                </a:lnTo>
                <a:lnTo>
                  <a:pt x="351668" y="409787"/>
                </a:lnTo>
                <a:lnTo>
                  <a:pt x="313354" y="430446"/>
                </a:lnTo>
                <a:lnTo>
                  <a:pt x="271013" y="443503"/>
                </a:lnTo>
                <a:lnTo>
                  <a:pt x="225551" y="448055"/>
                </a:lnTo>
                <a:lnTo>
                  <a:pt x="180090" y="443503"/>
                </a:lnTo>
                <a:lnTo>
                  <a:pt x="137749" y="430446"/>
                </a:lnTo>
                <a:lnTo>
                  <a:pt x="99435" y="409787"/>
                </a:lnTo>
                <a:lnTo>
                  <a:pt x="66055" y="382428"/>
                </a:lnTo>
                <a:lnTo>
                  <a:pt x="38515" y="349271"/>
                </a:lnTo>
                <a:lnTo>
                  <a:pt x="17722" y="311217"/>
                </a:lnTo>
                <a:lnTo>
                  <a:pt x="4581" y="269169"/>
                </a:lnTo>
                <a:lnTo>
                  <a:pt x="0" y="224027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64940" y="45686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12264" y="5681471"/>
            <a:ext cx="448309" cy="451484"/>
          </a:xfrm>
          <a:custGeom>
            <a:avLst/>
            <a:gdLst/>
            <a:ahLst/>
            <a:cxnLst/>
            <a:rect l="l" t="t" r="r" b="b"/>
            <a:pathLst>
              <a:path w="448310" h="451485">
                <a:moveTo>
                  <a:pt x="0" y="225551"/>
                </a:moveTo>
                <a:lnTo>
                  <a:pt x="4552" y="180093"/>
                </a:lnTo>
                <a:lnTo>
                  <a:pt x="17609" y="137754"/>
                </a:lnTo>
                <a:lnTo>
                  <a:pt x="38268" y="99441"/>
                </a:lnTo>
                <a:lnTo>
                  <a:pt x="65627" y="66060"/>
                </a:lnTo>
                <a:lnTo>
                  <a:pt x="98784" y="38519"/>
                </a:lnTo>
                <a:lnTo>
                  <a:pt x="136838" y="17724"/>
                </a:lnTo>
                <a:lnTo>
                  <a:pt x="178886" y="4582"/>
                </a:lnTo>
                <a:lnTo>
                  <a:pt x="224028" y="0"/>
                </a:lnTo>
                <a:lnTo>
                  <a:pt x="269169" y="4582"/>
                </a:lnTo>
                <a:lnTo>
                  <a:pt x="311217" y="17724"/>
                </a:lnTo>
                <a:lnTo>
                  <a:pt x="349271" y="38519"/>
                </a:lnTo>
                <a:lnTo>
                  <a:pt x="382428" y="66060"/>
                </a:lnTo>
                <a:lnTo>
                  <a:pt x="409787" y="99441"/>
                </a:lnTo>
                <a:lnTo>
                  <a:pt x="430446" y="137754"/>
                </a:lnTo>
                <a:lnTo>
                  <a:pt x="443503" y="180093"/>
                </a:lnTo>
                <a:lnTo>
                  <a:pt x="448056" y="225551"/>
                </a:lnTo>
                <a:lnTo>
                  <a:pt x="443503" y="271010"/>
                </a:lnTo>
                <a:lnTo>
                  <a:pt x="430446" y="313349"/>
                </a:lnTo>
                <a:lnTo>
                  <a:pt x="409787" y="351662"/>
                </a:lnTo>
                <a:lnTo>
                  <a:pt x="382428" y="385043"/>
                </a:lnTo>
                <a:lnTo>
                  <a:pt x="349271" y="412584"/>
                </a:lnTo>
                <a:lnTo>
                  <a:pt x="311217" y="433379"/>
                </a:lnTo>
                <a:lnTo>
                  <a:pt x="269169" y="446521"/>
                </a:lnTo>
                <a:lnTo>
                  <a:pt x="224028" y="451103"/>
                </a:lnTo>
                <a:lnTo>
                  <a:pt x="178886" y="446521"/>
                </a:lnTo>
                <a:lnTo>
                  <a:pt x="136838" y="433379"/>
                </a:lnTo>
                <a:lnTo>
                  <a:pt x="98784" y="412584"/>
                </a:lnTo>
                <a:lnTo>
                  <a:pt x="65627" y="385043"/>
                </a:lnTo>
                <a:lnTo>
                  <a:pt x="38268" y="351662"/>
                </a:lnTo>
                <a:lnTo>
                  <a:pt x="17609" y="313349"/>
                </a:lnTo>
                <a:lnTo>
                  <a:pt x="4552" y="271010"/>
                </a:lnTo>
                <a:lnTo>
                  <a:pt x="0" y="22555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66314" y="574497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74008" y="5644896"/>
            <a:ext cx="451484" cy="451484"/>
          </a:xfrm>
          <a:custGeom>
            <a:avLst/>
            <a:gdLst/>
            <a:ahLst/>
            <a:cxnLst/>
            <a:rect l="l" t="t" r="r" b="b"/>
            <a:pathLst>
              <a:path w="451485" h="451485">
                <a:moveTo>
                  <a:pt x="0" y="225551"/>
                </a:moveTo>
                <a:lnTo>
                  <a:pt x="4581" y="180093"/>
                </a:lnTo>
                <a:lnTo>
                  <a:pt x="17722" y="137754"/>
                </a:lnTo>
                <a:lnTo>
                  <a:pt x="38515" y="99441"/>
                </a:lnTo>
                <a:lnTo>
                  <a:pt x="66055" y="66060"/>
                </a:lnTo>
                <a:lnTo>
                  <a:pt x="99435" y="38519"/>
                </a:lnTo>
                <a:lnTo>
                  <a:pt x="137749" y="17724"/>
                </a:lnTo>
                <a:lnTo>
                  <a:pt x="180090" y="4582"/>
                </a:lnTo>
                <a:lnTo>
                  <a:pt x="225551" y="0"/>
                </a:lnTo>
                <a:lnTo>
                  <a:pt x="271013" y="4582"/>
                </a:lnTo>
                <a:lnTo>
                  <a:pt x="313354" y="17724"/>
                </a:lnTo>
                <a:lnTo>
                  <a:pt x="351668" y="38519"/>
                </a:lnTo>
                <a:lnTo>
                  <a:pt x="385048" y="66060"/>
                </a:lnTo>
                <a:lnTo>
                  <a:pt x="412588" y="99441"/>
                </a:lnTo>
                <a:lnTo>
                  <a:pt x="433381" y="137754"/>
                </a:lnTo>
                <a:lnTo>
                  <a:pt x="446522" y="180093"/>
                </a:lnTo>
                <a:lnTo>
                  <a:pt x="451103" y="225551"/>
                </a:lnTo>
                <a:lnTo>
                  <a:pt x="446522" y="271010"/>
                </a:lnTo>
                <a:lnTo>
                  <a:pt x="433381" y="313349"/>
                </a:lnTo>
                <a:lnTo>
                  <a:pt x="412588" y="351662"/>
                </a:lnTo>
                <a:lnTo>
                  <a:pt x="385048" y="385043"/>
                </a:lnTo>
                <a:lnTo>
                  <a:pt x="351668" y="412584"/>
                </a:lnTo>
                <a:lnTo>
                  <a:pt x="313354" y="433379"/>
                </a:lnTo>
                <a:lnTo>
                  <a:pt x="271013" y="446521"/>
                </a:lnTo>
                <a:lnTo>
                  <a:pt x="225551" y="451103"/>
                </a:lnTo>
                <a:lnTo>
                  <a:pt x="180090" y="446521"/>
                </a:lnTo>
                <a:lnTo>
                  <a:pt x="137749" y="433379"/>
                </a:lnTo>
                <a:lnTo>
                  <a:pt x="99435" y="412584"/>
                </a:lnTo>
                <a:lnTo>
                  <a:pt x="66055" y="385043"/>
                </a:lnTo>
                <a:lnTo>
                  <a:pt x="38515" y="351662"/>
                </a:lnTo>
                <a:lnTo>
                  <a:pt x="17722" y="313349"/>
                </a:lnTo>
                <a:lnTo>
                  <a:pt x="4581" y="271010"/>
                </a:lnTo>
                <a:lnTo>
                  <a:pt x="0" y="22555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30217" y="570870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05050" y="4682489"/>
            <a:ext cx="1841500" cy="1282700"/>
          </a:xfrm>
          <a:custGeom>
            <a:avLst/>
            <a:gdLst/>
            <a:ahLst/>
            <a:cxnLst/>
            <a:rect l="l" t="t" r="r" b="b"/>
            <a:pathLst>
              <a:path w="1841500" h="1282700">
                <a:moveTo>
                  <a:pt x="103251" y="430911"/>
                </a:moveTo>
                <a:lnTo>
                  <a:pt x="101600" y="427736"/>
                </a:lnTo>
                <a:lnTo>
                  <a:pt x="61137" y="352933"/>
                </a:lnTo>
                <a:lnTo>
                  <a:pt x="54483" y="340614"/>
                </a:lnTo>
                <a:lnTo>
                  <a:pt x="1778" y="424434"/>
                </a:lnTo>
                <a:lnTo>
                  <a:pt x="0" y="427482"/>
                </a:lnTo>
                <a:lnTo>
                  <a:pt x="762" y="430911"/>
                </a:lnTo>
                <a:lnTo>
                  <a:pt x="889" y="431419"/>
                </a:lnTo>
                <a:lnTo>
                  <a:pt x="3810" y="433197"/>
                </a:lnTo>
                <a:lnTo>
                  <a:pt x="6731" y="435102"/>
                </a:lnTo>
                <a:lnTo>
                  <a:pt x="10668" y="434213"/>
                </a:lnTo>
                <a:lnTo>
                  <a:pt x="12801" y="430911"/>
                </a:lnTo>
                <a:lnTo>
                  <a:pt x="46964" y="376631"/>
                </a:lnTo>
                <a:lnTo>
                  <a:pt x="26416" y="1000810"/>
                </a:lnTo>
                <a:lnTo>
                  <a:pt x="39116" y="1001217"/>
                </a:lnTo>
                <a:lnTo>
                  <a:pt x="59677" y="376910"/>
                </a:lnTo>
                <a:lnTo>
                  <a:pt x="92075" y="436880"/>
                </a:lnTo>
                <a:lnTo>
                  <a:pt x="96012" y="438023"/>
                </a:lnTo>
                <a:lnTo>
                  <a:pt x="102108" y="434721"/>
                </a:lnTo>
                <a:lnTo>
                  <a:pt x="103251" y="430911"/>
                </a:lnTo>
                <a:close/>
              </a:path>
              <a:path w="1841500" h="1282700">
                <a:moveTo>
                  <a:pt x="1503807" y="48006"/>
                </a:moveTo>
                <a:lnTo>
                  <a:pt x="1492758" y="42164"/>
                </a:lnTo>
                <a:lnTo>
                  <a:pt x="1416177" y="1651"/>
                </a:lnTo>
                <a:lnTo>
                  <a:pt x="1413129" y="0"/>
                </a:lnTo>
                <a:lnTo>
                  <a:pt x="1409192" y="1270"/>
                </a:lnTo>
                <a:lnTo>
                  <a:pt x="1407668" y="4318"/>
                </a:lnTo>
                <a:lnTo>
                  <a:pt x="1406017" y="7493"/>
                </a:lnTo>
                <a:lnTo>
                  <a:pt x="1407160" y="11303"/>
                </a:lnTo>
                <a:lnTo>
                  <a:pt x="1410208" y="12954"/>
                </a:lnTo>
                <a:lnTo>
                  <a:pt x="1467497" y="43154"/>
                </a:lnTo>
                <a:lnTo>
                  <a:pt x="1466748" y="43180"/>
                </a:lnTo>
                <a:lnTo>
                  <a:pt x="291592" y="92456"/>
                </a:lnTo>
                <a:lnTo>
                  <a:pt x="291947" y="101473"/>
                </a:lnTo>
                <a:lnTo>
                  <a:pt x="291985" y="102489"/>
                </a:lnTo>
                <a:lnTo>
                  <a:pt x="292100" y="105156"/>
                </a:lnTo>
                <a:lnTo>
                  <a:pt x="1468043" y="55854"/>
                </a:lnTo>
                <a:lnTo>
                  <a:pt x="1413510" y="90805"/>
                </a:lnTo>
                <a:lnTo>
                  <a:pt x="1410589" y="92710"/>
                </a:lnTo>
                <a:lnTo>
                  <a:pt x="1409700" y="96647"/>
                </a:lnTo>
                <a:lnTo>
                  <a:pt x="1413510" y="102489"/>
                </a:lnTo>
                <a:lnTo>
                  <a:pt x="1417447" y="103378"/>
                </a:lnTo>
                <a:lnTo>
                  <a:pt x="1420368" y="101473"/>
                </a:lnTo>
                <a:lnTo>
                  <a:pt x="1503807" y="48006"/>
                </a:lnTo>
                <a:close/>
              </a:path>
              <a:path w="1841500" h="1282700">
                <a:moveTo>
                  <a:pt x="1728470" y="273558"/>
                </a:moveTo>
                <a:lnTo>
                  <a:pt x="1626704" y="278130"/>
                </a:lnTo>
                <a:lnTo>
                  <a:pt x="1625981" y="278130"/>
                </a:lnTo>
                <a:lnTo>
                  <a:pt x="1623314" y="281178"/>
                </a:lnTo>
                <a:lnTo>
                  <a:pt x="1623441" y="284607"/>
                </a:lnTo>
                <a:lnTo>
                  <a:pt x="1623568" y="288163"/>
                </a:lnTo>
                <a:lnTo>
                  <a:pt x="1626616" y="290830"/>
                </a:lnTo>
                <a:lnTo>
                  <a:pt x="1627200" y="290830"/>
                </a:lnTo>
                <a:lnTo>
                  <a:pt x="1694561" y="287832"/>
                </a:lnTo>
                <a:lnTo>
                  <a:pt x="908100" y="795388"/>
                </a:lnTo>
                <a:lnTo>
                  <a:pt x="779462" y="709002"/>
                </a:lnTo>
                <a:lnTo>
                  <a:pt x="1574673" y="214884"/>
                </a:lnTo>
                <a:lnTo>
                  <a:pt x="1567942" y="204216"/>
                </a:lnTo>
                <a:lnTo>
                  <a:pt x="767956" y="701281"/>
                </a:lnTo>
                <a:lnTo>
                  <a:pt x="166725" y="297522"/>
                </a:lnTo>
                <a:lnTo>
                  <a:pt x="234950" y="301879"/>
                </a:lnTo>
                <a:lnTo>
                  <a:pt x="237998" y="299212"/>
                </a:lnTo>
                <a:lnTo>
                  <a:pt x="238125" y="295656"/>
                </a:lnTo>
                <a:lnTo>
                  <a:pt x="238379" y="292227"/>
                </a:lnTo>
                <a:lnTo>
                  <a:pt x="235712" y="289179"/>
                </a:lnTo>
                <a:lnTo>
                  <a:pt x="232283" y="288925"/>
                </a:lnTo>
                <a:lnTo>
                  <a:pt x="161607" y="284480"/>
                </a:lnTo>
                <a:lnTo>
                  <a:pt x="133350" y="282702"/>
                </a:lnTo>
                <a:lnTo>
                  <a:pt x="178054" y="375031"/>
                </a:lnTo>
                <a:lnTo>
                  <a:pt x="181864" y="376301"/>
                </a:lnTo>
                <a:lnTo>
                  <a:pt x="188214" y="373253"/>
                </a:lnTo>
                <a:lnTo>
                  <a:pt x="189484" y="369443"/>
                </a:lnTo>
                <a:lnTo>
                  <a:pt x="187960" y="366268"/>
                </a:lnTo>
                <a:lnTo>
                  <a:pt x="159791" y="308178"/>
                </a:lnTo>
                <a:lnTo>
                  <a:pt x="756119" y="708647"/>
                </a:lnTo>
                <a:lnTo>
                  <a:pt x="218465" y="1042708"/>
                </a:lnTo>
                <a:lnTo>
                  <a:pt x="250444" y="982306"/>
                </a:lnTo>
                <a:lnTo>
                  <a:pt x="249301" y="978471"/>
                </a:lnTo>
                <a:lnTo>
                  <a:pt x="246126" y="976833"/>
                </a:lnTo>
                <a:lnTo>
                  <a:pt x="243078" y="975194"/>
                </a:lnTo>
                <a:lnTo>
                  <a:pt x="239268" y="976376"/>
                </a:lnTo>
                <a:lnTo>
                  <a:pt x="191262" y="1067066"/>
                </a:lnTo>
                <a:lnTo>
                  <a:pt x="236245" y="1065809"/>
                </a:lnTo>
                <a:lnTo>
                  <a:pt x="290322" y="1064298"/>
                </a:lnTo>
                <a:lnTo>
                  <a:pt x="293649" y="1064298"/>
                </a:lnTo>
                <a:lnTo>
                  <a:pt x="296545" y="1061275"/>
                </a:lnTo>
                <a:lnTo>
                  <a:pt x="296418" y="1054265"/>
                </a:lnTo>
                <a:lnTo>
                  <a:pt x="293598" y="1051610"/>
                </a:lnTo>
                <a:lnTo>
                  <a:pt x="289941" y="1051610"/>
                </a:lnTo>
                <a:lnTo>
                  <a:pt x="225183" y="1053414"/>
                </a:lnTo>
                <a:lnTo>
                  <a:pt x="767613" y="716368"/>
                </a:lnTo>
                <a:lnTo>
                  <a:pt x="896467" y="802894"/>
                </a:lnTo>
                <a:lnTo>
                  <a:pt x="251841" y="1218907"/>
                </a:lnTo>
                <a:lnTo>
                  <a:pt x="258699" y="1229575"/>
                </a:lnTo>
                <a:lnTo>
                  <a:pt x="907961" y="810615"/>
                </a:lnTo>
                <a:lnTo>
                  <a:pt x="1610233" y="1282204"/>
                </a:lnTo>
                <a:lnTo>
                  <a:pt x="1617345" y="1271663"/>
                </a:lnTo>
                <a:lnTo>
                  <a:pt x="919594" y="803109"/>
                </a:lnTo>
                <a:lnTo>
                  <a:pt x="1701533" y="298538"/>
                </a:lnTo>
                <a:lnTo>
                  <a:pt x="1672336" y="356108"/>
                </a:lnTo>
                <a:lnTo>
                  <a:pt x="1670685" y="359283"/>
                </a:lnTo>
                <a:lnTo>
                  <a:pt x="1671955" y="363093"/>
                </a:lnTo>
                <a:lnTo>
                  <a:pt x="1675130" y="364744"/>
                </a:lnTo>
                <a:lnTo>
                  <a:pt x="1678178" y="366268"/>
                </a:lnTo>
                <a:lnTo>
                  <a:pt x="1682115" y="364998"/>
                </a:lnTo>
                <a:lnTo>
                  <a:pt x="1683639" y="361950"/>
                </a:lnTo>
                <a:lnTo>
                  <a:pt x="1727758" y="274955"/>
                </a:lnTo>
                <a:lnTo>
                  <a:pt x="1728470" y="273558"/>
                </a:lnTo>
                <a:close/>
              </a:path>
              <a:path w="1841500" h="1282700">
                <a:moveTo>
                  <a:pt x="1841373" y="873506"/>
                </a:moveTo>
                <a:lnTo>
                  <a:pt x="1840230" y="869696"/>
                </a:lnTo>
                <a:lnTo>
                  <a:pt x="1833880" y="866394"/>
                </a:lnTo>
                <a:lnTo>
                  <a:pt x="1830070" y="867664"/>
                </a:lnTo>
                <a:lnTo>
                  <a:pt x="1828546" y="870712"/>
                </a:lnTo>
                <a:lnTo>
                  <a:pt x="1798777" y="928141"/>
                </a:lnTo>
                <a:lnTo>
                  <a:pt x="1764322" y="246507"/>
                </a:lnTo>
                <a:lnTo>
                  <a:pt x="1764284" y="245745"/>
                </a:lnTo>
                <a:lnTo>
                  <a:pt x="1751584" y="246507"/>
                </a:lnTo>
                <a:lnTo>
                  <a:pt x="1786039" y="928141"/>
                </a:lnTo>
                <a:lnTo>
                  <a:pt x="1786077" y="928839"/>
                </a:lnTo>
                <a:lnTo>
                  <a:pt x="1748790" y="871728"/>
                </a:lnTo>
                <a:lnTo>
                  <a:pt x="1744853" y="870966"/>
                </a:lnTo>
                <a:lnTo>
                  <a:pt x="1741932" y="872871"/>
                </a:lnTo>
                <a:lnTo>
                  <a:pt x="1738884" y="874776"/>
                </a:lnTo>
                <a:lnTo>
                  <a:pt x="1738122" y="878713"/>
                </a:lnTo>
                <a:lnTo>
                  <a:pt x="1794256" y="964615"/>
                </a:lnTo>
                <a:lnTo>
                  <a:pt x="1800580" y="952347"/>
                </a:lnTo>
                <a:lnTo>
                  <a:pt x="1839722" y="876554"/>
                </a:lnTo>
                <a:lnTo>
                  <a:pt x="1841373" y="87350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04773" y="1040079"/>
            <a:ext cx="89623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10" dirty="0">
                <a:latin typeface="Times New Roman"/>
                <a:cs typeface="Times New Roman"/>
              </a:rPr>
              <a:t>Origin:</a:t>
            </a:r>
            <a:r>
              <a:rPr sz="2400" b="0" spc="-125" dirty="0"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400" b="0" spc="-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vertex</a:t>
            </a:r>
            <a:r>
              <a:rPr sz="24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24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which</a:t>
            </a:r>
            <a:r>
              <a:rPr sz="24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edge</a:t>
            </a:r>
            <a:r>
              <a:rPr sz="2400" b="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leaves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called</a:t>
            </a:r>
            <a:r>
              <a:rPr sz="24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source or</a:t>
            </a:r>
            <a:r>
              <a:rPr sz="24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origin.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0" spc="-25" dirty="0">
                <a:latin typeface="Times New Roman"/>
                <a:cs typeface="Times New Roman"/>
              </a:rPr>
              <a:t>Terminals:</a:t>
            </a:r>
            <a:r>
              <a:rPr sz="2400" b="0" spc="-130" dirty="0"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400" b="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vertex</a:t>
            </a:r>
            <a:r>
              <a:rPr sz="24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where</a:t>
            </a:r>
            <a:r>
              <a:rPr sz="24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24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edge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ends.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4773" y="1772539"/>
            <a:ext cx="105892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Isolated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vertex:</a:t>
            </a:r>
            <a:r>
              <a:rPr sz="2400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vertex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neither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terminals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called isolated.</a:t>
            </a:r>
            <a:endParaRPr sz="2400">
              <a:latin typeface="Times New Roman"/>
              <a:cs typeface="Times New Roman"/>
            </a:endParaRPr>
          </a:p>
          <a:p>
            <a:pPr marL="12700" marR="4394200">
              <a:lnSpc>
                <a:spcPct val="100000"/>
              </a:lnSpc>
            </a:pP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In-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degree:</a:t>
            </a:r>
            <a:r>
              <a:rPr sz="24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no.of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edges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terminating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vertex.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Out-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degree: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no.of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edges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vertex.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55464" y="4986528"/>
            <a:ext cx="448309" cy="448309"/>
          </a:xfrm>
          <a:custGeom>
            <a:avLst/>
            <a:gdLst/>
            <a:ahLst/>
            <a:cxnLst/>
            <a:rect l="l" t="t" r="r" b="b"/>
            <a:pathLst>
              <a:path w="448310" h="448310">
                <a:moveTo>
                  <a:pt x="0" y="224028"/>
                </a:moveTo>
                <a:lnTo>
                  <a:pt x="4552" y="178886"/>
                </a:lnTo>
                <a:lnTo>
                  <a:pt x="17609" y="136838"/>
                </a:lnTo>
                <a:lnTo>
                  <a:pt x="38268" y="98784"/>
                </a:lnTo>
                <a:lnTo>
                  <a:pt x="65627" y="65627"/>
                </a:lnTo>
                <a:lnTo>
                  <a:pt x="98784" y="38268"/>
                </a:lnTo>
                <a:lnTo>
                  <a:pt x="136838" y="17609"/>
                </a:lnTo>
                <a:lnTo>
                  <a:pt x="178886" y="4552"/>
                </a:lnTo>
                <a:lnTo>
                  <a:pt x="224027" y="0"/>
                </a:lnTo>
                <a:lnTo>
                  <a:pt x="269169" y="4552"/>
                </a:lnTo>
                <a:lnTo>
                  <a:pt x="311217" y="17609"/>
                </a:lnTo>
                <a:lnTo>
                  <a:pt x="349271" y="38268"/>
                </a:lnTo>
                <a:lnTo>
                  <a:pt x="382428" y="65627"/>
                </a:lnTo>
                <a:lnTo>
                  <a:pt x="409787" y="98784"/>
                </a:lnTo>
                <a:lnTo>
                  <a:pt x="430446" y="136838"/>
                </a:lnTo>
                <a:lnTo>
                  <a:pt x="443503" y="178886"/>
                </a:lnTo>
                <a:lnTo>
                  <a:pt x="448056" y="224028"/>
                </a:lnTo>
                <a:lnTo>
                  <a:pt x="443503" y="269169"/>
                </a:lnTo>
                <a:lnTo>
                  <a:pt x="430446" y="311217"/>
                </a:lnTo>
                <a:lnTo>
                  <a:pt x="409787" y="349271"/>
                </a:lnTo>
                <a:lnTo>
                  <a:pt x="382428" y="382428"/>
                </a:lnTo>
                <a:lnTo>
                  <a:pt x="349271" y="409787"/>
                </a:lnTo>
                <a:lnTo>
                  <a:pt x="311217" y="430446"/>
                </a:lnTo>
                <a:lnTo>
                  <a:pt x="269169" y="443503"/>
                </a:lnTo>
                <a:lnTo>
                  <a:pt x="224027" y="448056"/>
                </a:lnTo>
                <a:lnTo>
                  <a:pt x="178886" y="443503"/>
                </a:lnTo>
                <a:lnTo>
                  <a:pt x="136838" y="430446"/>
                </a:lnTo>
                <a:lnTo>
                  <a:pt x="98784" y="409787"/>
                </a:lnTo>
                <a:lnTo>
                  <a:pt x="65627" y="382428"/>
                </a:lnTo>
                <a:lnTo>
                  <a:pt x="38268" y="349271"/>
                </a:lnTo>
                <a:lnTo>
                  <a:pt x="17609" y="311217"/>
                </a:lnTo>
                <a:lnTo>
                  <a:pt x="4552" y="269169"/>
                </a:lnTo>
                <a:lnTo>
                  <a:pt x="0" y="22402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10150" y="504756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7503" y="5648655"/>
            <a:ext cx="39789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Vertex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Isolated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vertex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076705"/>
            <a:ext cx="10253980" cy="3330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tabLst>
                <a:tab pos="1718945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Note: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(i).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400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xi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xj</a:t>
            </a:r>
            <a:r>
              <a:rPr sz="240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xj</a:t>
            </a:r>
            <a:r>
              <a:rPr sz="240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xi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we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draw two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arcs between</a:t>
            </a:r>
            <a:r>
              <a:rPr sz="2400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xi</a:t>
            </a:r>
            <a:r>
              <a:rPr sz="240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xj</a:t>
            </a:r>
            <a:r>
              <a:rPr sz="240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with</a:t>
            </a:r>
            <a:r>
              <a:rPr sz="24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arrows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pointing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	both 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directions.</a:t>
            </a:r>
            <a:endParaRPr sz="2400">
              <a:latin typeface="Times New Roman"/>
              <a:cs typeface="Times New Roman"/>
            </a:endParaRPr>
          </a:p>
          <a:p>
            <a:pPr marL="241300" marR="321945" indent="-228600">
              <a:lnSpc>
                <a:spcPts val="2590"/>
              </a:lnSpc>
              <a:spcBef>
                <a:spcPts val="990"/>
              </a:spcBef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(ii).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400" spc="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xi</a:t>
            </a:r>
            <a:r>
              <a:rPr sz="2400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xi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we get</a:t>
            </a:r>
            <a:r>
              <a:rPr sz="2400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arc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which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starts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from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node</a:t>
            </a:r>
            <a:r>
              <a:rPr sz="2400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xi</a:t>
            </a:r>
            <a:r>
              <a:rPr sz="2400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returns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node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xi</a:t>
            </a:r>
            <a:r>
              <a:rPr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.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This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arc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loop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Ex: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Find</a:t>
            </a:r>
            <a:r>
              <a:rPr sz="2400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directed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graph of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the</a:t>
            </a:r>
            <a:r>
              <a:rPr sz="2400" spc="-4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relation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R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{&lt;1,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1&gt;,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&lt;1,</a:t>
            </a:r>
            <a:r>
              <a:rPr sz="2400" spc="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3&gt;,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&lt;2,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1&gt;,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&lt;2,</a:t>
            </a:r>
            <a:r>
              <a:rPr sz="2400" spc="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3&gt;,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&lt;2,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4&gt;,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&lt;3,</a:t>
            </a:r>
            <a:r>
              <a:rPr sz="2400" spc="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1&gt;,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&lt;3,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2&gt;,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&lt;4,</a:t>
            </a:r>
            <a:r>
              <a:rPr sz="2400" spc="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920000"/>
                </a:solidFill>
                <a:latin typeface="Times New Roman"/>
                <a:cs typeface="Times New Roman"/>
              </a:rPr>
              <a:t>1&gt;}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on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set {1,</a:t>
            </a:r>
            <a:r>
              <a:rPr sz="2400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0000"/>
                </a:solidFill>
                <a:latin typeface="Times New Roman"/>
                <a:cs typeface="Times New Roman"/>
              </a:rPr>
              <a:t>2, 3, </a:t>
            </a:r>
            <a:r>
              <a:rPr sz="2400" spc="-25" dirty="0">
                <a:solidFill>
                  <a:srgbClr val="920000"/>
                </a:solidFill>
                <a:latin typeface="Times New Roman"/>
                <a:cs typeface="Times New Roman"/>
              </a:rPr>
              <a:t>4}.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725"/>
              </a:spcBef>
            </a:pPr>
            <a:r>
              <a:rPr sz="2400" b="1" spc="-10" dirty="0">
                <a:latin typeface="Times New Roman"/>
                <a:cs typeface="Times New Roman"/>
              </a:rPr>
              <a:t>Solution: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6520" y="4556759"/>
            <a:ext cx="2197608" cy="1716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658" y="1163269"/>
            <a:ext cx="996188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Ex: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What</a:t>
            </a:r>
            <a:r>
              <a:rPr sz="24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are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ordered</a:t>
            </a:r>
            <a:r>
              <a:rPr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pairs</a:t>
            </a:r>
            <a:r>
              <a:rPr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represented</a:t>
            </a:r>
            <a:r>
              <a:rPr sz="24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by</a:t>
            </a:r>
            <a:r>
              <a:rPr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directed</a:t>
            </a:r>
            <a:r>
              <a:rPr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graph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  <a:tabLst>
                <a:tab pos="1189355" algn="l"/>
              </a:tabLst>
            </a:pP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shown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below?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0720" y="2353055"/>
            <a:ext cx="2432304" cy="21305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2330" y="4975301"/>
            <a:ext cx="96443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relation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{(1,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(1,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4), (2,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1),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(2,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(2,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3),(3,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(3, 3),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(4,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1),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(4,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3)}.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0998" y="681050"/>
            <a:ext cx="370712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Operations</a:t>
            </a:r>
            <a:r>
              <a:rPr sz="2800" spc="-90" dirty="0"/>
              <a:t> </a:t>
            </a:r>
            <a:r>
              <a:rPr sz="2800" dirty="0"/>
              <a:t>on</a:t>
            </a:r>
            <a:r>
              <a:rPr sz="2800" spc="5" dirty="0"/>
              <a:t> </a:t>
            </a:r>
            <a:r>
              <a:rPr sz="2800" spc="-10" dirty="0"/>
              <a:t>Relations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17244" y="1265301"/>
            <a:ext cx="10763885" cy="426366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7305" indent="-241300">
              <a:lnSpc>
                <a:spcPts val="2590"/>
              </a:lnSpc>
              <a:spcBef>
                <a:spcPts val="425"/>
              </a:spcBef>
              <a:buSzPct val="95833"/>
              <a:buAutoNum type="arabicPeriod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Union: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set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R2, </a:t>
            </a:r>
            <a:r>
              <a:rPr sz="2400" dirty="0">
                <a:latin typeface="Times New Roman"/>
                <a:cs typeface="Times New Roman"/>
              </a:rPr>
              <a:t>i.e,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R2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R2.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5"/>
              </a:spcBef>
              <a:buAutoNum type="arabicPeriod"/>
            </a:pPr>
            <a:endParaRPr sz="2400" dirty="0">
              <a:latin typeface="Times New Roman"/>
              <a:cs typeface="Times New Roman"/>
            </a:endParaRPr>
          </a:p>
          <a:p>
            <a:pPr marL="241300" marR="86995" indent="-228600">
              <a:lnSpc>
                <a:spcPts val="2590"/>
              </a:lnSpc>
              <a:buAutoNum type="arabicPeriod"/>
              <a:tabLst>
                <a:tab pos="241300" algn="l"/>
                <a:tab pos="4358640" algn="l"/>
              </a:tabLst>
            </a:pP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​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Intersection: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intersection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R1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R2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∩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R2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R1∩R2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R2.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AutoNum type="arabicPeriod"/>
            </a:pPr>
            <a:endParaRPr sz="24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24800"/>
              </a:lnSpc>
              <a:buAutoNum type="arabicPeriod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​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Complement: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 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lang="en-IN"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IN" sz="2400" spc="-2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property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lang="en-IN" sz="2400" dirty="0">
                <a:solidFill>
                  <a:srgbClr val="006FC0"/>
                </a:solidFill>
                <a:latin typeface="Cambria Math"/>
                <a:cs typeface="Cambria Math"/>
              </a:rPr>
              <a:t>   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lang="en-IN" sz="2400" spc="30" dirty="0">
                <a:solidFill>
                  <a:srgbClr val="006FC0"/>
                </a:solidFill>
                <a:latin typeface="Cambria Math"/>
                <a:cs typeface="Cambria Math"/>
              </a:rPr>
              <a:t>  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lang="en-IN" sz="2400" spc="30" dirty="0">
                <a:solidFill>
                  <a:srgbClr val="006FC0"/>
                </a:solidFill>
                <a:latin typeface="Cambria Math"/>
                <a:cs typeface="Cambria Math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R.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 words,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 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 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universal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B.</a:t>
            </a:r>
            <a:r>
              <a:rPr lang="en-IN" sz="2400" spc="-25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(A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B)-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0808" y="4236720"/>
            <a:ext cx="290830" cy="1905"/>
          </a:xfrm>
          <a:custGeom>
            <a:avLst/>
            <a:gdLst/>
            <a:ahLst/>
            <a:cxnLst/>
            <a:rect l="l" t="t" r="r" b="b"/>
            <a:pathLst>
              <a:path w="290830" h="1904">
                <a:moveTo>
                  <a:pt x="0" y="0"/>
                </a:moveTo>
                <a:lnTo>
                  <a:pt x="290322" y="165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30840" y="4230623"/>
            <a:ext cx="290830" cy="1905"/>
          </a:xfrm>
          <a:custGeom>
            <a:avLst/>
            <a:gdLst/>
            <a:ahLst/>
            <a:cxnLst/>
            <a:rect l="l" t="t" r="r" b="b"/>
            <a:pathLst>
              <a:path w="290829" h="1904">
                <a:moveTo>
                  <a:pt x="0" y="0"/>
                </a:moveTo>
                <a:lnTo>
                  <a:pt x="290321" y="1524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A4E2F6-A3AF-A094-83A1-A5EBC1FA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24" y="4699155"/>
            <a:ext cx="340101" cy="2766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27B70B-4D04-49B0-5DCF-3734D08AA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841" y="4091784"/>
            <a:ext cx="323746" cy="4764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81FD50-237D-848A-7EF0-BD5C30A79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239" y="4156934"/>
            <a:ext cx="235198" cy="3461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4B9B1E-511F-F173-A588-BDEBE7007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404" y="5040884"/>
            <a:ext cx="330796" cy="4867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844" y="1093673"/>
            <a:ext cx="10381615" cy="96646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66700" marR="30480" indent="-228600">
              <a:lnSpc>
                <a:spcPct val="90100"/>
              </a:lnSpc>
              <a:spcBef>
                <a:spcPts val="370"/>
              </a:spcBef>
              <a:tabLst>
                <a:tab pos="2748280" algn="l"/>
                <a:tab pos="10001250" algn="l"/>
              </a:tabLst>
            </a:pPr>
            <a:r>
              <a:rPr sz="2200" dirty="0">
                <a:solidFill>
                  <a:srgbClr val="000000"/>
                </a:solidFill>
              </a:rPr>
              <a:t>4.</a:t>
            </a:r>
            <a:r>
              <a:rPr sz="2200" spc="-15" dirty="0">
                <a:solidFill>
                  <a:srgbClr val="000000"/>
                </a:solidFill>
              </a:rPr>
              <a:t> </a:t>
            </a:r>
            <a:r>
              <a:rPr sz="2200" dirty="0"/>
              <a:t>Converse:</a:t>
            </a:r>
            <a:r>
              <a:rPr sz="2200" spc="-65" dirty="0"/>
              <a:t> </a:t>
            </a:r>
            <a:r>
              <a:rPr sz="2200" dirty="0">
                <a:solidFill>
                  <a:srgbClr val="000000"/>
                </a:solidFill>
              </a:rPr>
              <a:t>Given</a:t>
            </a:r>
            <a:r>
              <a:rPr sz="2200" spc="-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a</a:t>
            </a:r>
            <a:r>
              <a:rPr sz="2200" spc="-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relation</a:t>
            </a:r>
            <a:r>
              <a:rPr sz="2200" spc="-6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R</a:t>
            </a:r>
            <a:r>
              <a:rPr sz="2200" spc="-1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from</a:t>
            </a:r>
            <a:r>
              <a:rPr sz="2200" spc="-4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a</a:t>
            </a:r>
            <a:r>
              <a:rPr sz="2200" spc="-30" dirty="0">
                <a:solidFill>
                  <a:srgbClr val="000000"/>
                </a:solidFill>
              </a:rPr>
              <a:t> </a:t>
            </a:r>
            <a:r>
              <a:rPr sz="2200" spc="-10" dirty="0">
                <a:solidFill>
                  <a:srgbClr val="000000"/>
                </a:solidFill>
              </a:rPr>
              <a:t>set</a:t>
            </a:r>
            <a:r>
              <a:rPr sz="2200" spc="-13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A</a:t>
            </a:r>
            <a:r>
              <a:rPr sz="2200" spc="-13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to</a:t>
            </a:r>
            <a:r>
              <a:rPr sz="2200" spc="-3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B,</a:t>
            </a:r>
            <a:r>
              <a:rPr sz="2200" spc="-3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the</a:t>
            </a:r>
            <a:r>
              <a:rPr sz="2200" spc="-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complement</a:t>
            </a:r>
            <a:r>
              <a:rPr sz="2200" spc="-7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of</a:t>
            </a:r>
            <a:r>
              <a:rPr sz="2200" spc="-2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R,</a:t>
            </a:r>
            <a:r>
              <a:rPr sz="2200" spc="-1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denoted</a:t>
            </a:r>
            <a:r>
              <a:rPr sz="2200" spc="-3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by</a:t>
            </a:r>
            <a:r>
              <a:rPr sz="2200" spc="40" dirty="0">
                <a:solidFill>
                  <a:srgbClr val="000000"/>
                </a:solidFill>
              </a:rPr>
              <a:t> </a:t>
            </a:r>
            <a:r>
              <a:rPr sz="2200" spc="-25" dirty="0">
                <a:solidFill>
                  <a:srgbClr val="000000"/>
                </a:solidFill>
              </a:rPr>
              <a:t>R</a:t>
            </a:r>
            <a:r>
              <a:rPr sz="2175" spc="-37" baseline="24904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2200" spc="-25" dirty="0">
                <a:solidFill>
                  <a:srgbClr val="000000"/>
                </a:solidFill>
              </a:rPr>
              <a:t>, </a:t>
            </a:r>
            <a:r>
              <a:rPr sz="2200" dirty="0">
                <a:solidFill>
                  <a:srgbClr val="000000"/>
                </a:solidFill>
              </a:rPr>
              <a:t>is</a:t>
            </a:r>
            <a:r>
              <a:rPr sz="2200" spc="-2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denoted</a:t>
            </a:r>
            <a:r>
              <a:rPr sz="2200" spc="-3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R, is</a:t>
            </a:r>
            <a:r>
              <a:rPr sz="2200" spc="-2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defined</a:t>
            </a:r>
            <a:r>
              <a:rPr sz="2200" spc="-7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as</a:t>
            </a:r>
            <a:r>
              <a:rPr sz="2200" spc="-2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a</a:t>
            </a:r>
            <a:r>
              <a:rPr sz="2200" spc="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relation</a:t>
            </a:r>
            <a:r>
              <a:rPr sz="2200" spc="-5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from</a:t>
            </a:r>
            <a:r>
              <a:rPr sz="2200" spc="-4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B</a:t>
            </a:r>
            <a:r>
              <a:rPr sz="2200" spc="-10" dirty="0">
                <a:solidFill>
                  <a:srgbClr val="000000"/>
                </a:solidFill>
              </a:rPr>
              <a:t> to</a:t>
            </a:r>
            <a:r>
              <a:rPr sz="2200" spc="-14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A</a:t>
            </a:r>
            <a:r>
              <a:rPr sz="2200" spc="-13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with</a:t>
            </a:r>
            <a:r>
              <a:rPr sz="2200" spc="-5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the</a:t>
            </a:r>
            <a:r>
              <a:rPr sz="2200" spc="-2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property</a:t>
            </a:r>
            <a:r>
              <a:rPr sz="2200" spc="-2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that</a:t>
            </a:r>
            <a:r>
              <a:rPr sz="2200" spc="-2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(</a:t>
            </a:r>
            <a:r>
              <a:rPr lang="en-IN" sz="2200" dirty="0">
                <a:solidFill>
                  <a:srgbClr val="000000"/>
                </a:solidFill>
              </a:rPr>
              <a:t>b</a:t>
            </a:r>
            <a:r>
              <a:rPr sz="2200" dirty="0">
                <a:solidFill>
                  <a:srgbClr val="000000"/>
                </a:solidFill>
              </a:rPr>
              <a:t>,</a:t>
            </a:r>
            <a:r>
              <a:rPr sz="2200" spc="-25" dirty="0">
                <a:solidFill>
                  <a:srgbClr val="000000"/>
                </a:solidFill>
              </a:rPr>
              <a:t> </a:t>
            </a:r>
            <a:r>
              <a:rPr lang="en-IN" sz="2200" spc="-10" dirty="0">
                <a:solidFill>
                  <a:srgbClr val="000000"/>
                </a:solidFill>
              </a:rPr>
              <a:t>a</a:t>
            </a:r>
            <a:r>
              <a:rPr sz="2200" spc="-10" dirty="0">
                <a:solidFill>
                  <a:srgbClr val="000000"/>
                </a:solidFill>
              </a:rPr>
              <a:t>)</a:t>
            </a:r>
            <a:r>
              <a:rPr sz="2200" b="0" spc="-1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200" spc="-10" dirty="0">
                <a:solidFill>
                  <a:srgbClr val="000000"/>
                </a:solidFill>
              </a:rPr>
              <a:t>R</a:t>
            </a:r>
            <a:r>
              <a:rPr sz="2175" spc="-15" baseline="24904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2175" baseline="24904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sz="2200" spc="-25" dirty="0">
                <a:solidFill>
                  <a:srgbClr val="000000"/>
                </a:solidFill>
              </a:rPr>
              <a:t>if </a:t>
            </a:r>
            <a:r>
              <a:rPr sz="2200" dirty="0">
                <a:solidFill>
                  <a:srgbClr val="000000"/>
                </a:solidFill>
              </a:rPr>
              <a:t>and</a:t>
            </a:r>
            <a:r>
              <a:rPr sz="2200" spc="-1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only</a:t>
            </a:r>
            <a:r>
              <a:rPr sz="2200" spc="-2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if</a:t>
            </a:r>
            <a:r>
              <a:rPr sz="2200" spc="-2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(a, </a:t>
            </a:r>
            <a:r>
              <a:rPr sz="2200" spc="-20" dirty="0">
                <a:solidFill>
                  <a:srgbClr val="000000"/>
                </a:solidFill>
              </a:rPr>
              <a:t>b)</a:t>
            </a:r>
            <a:r>
              <a:rPr sz="2200" b="0" spc="-20" dirty="0">
                <a:solidFill>
                  <a:srgbClr val="000000"/>
                </a:solidFill>
                <a:latin typeface="Cambria Math"/>
                <a:cs typeface="Cambria Math"/>
              </a:rPr>
              <a:t>∈</a:t>
            </a:r>
            <a:r>
              <a:rPr sz="2200" spc="-20" dirty="0">
                <a:solidFill>
                  <a:srgbClr val="000000"/>
                </a:solidFill>
              </a:rPr>
              <a:t>R</a:t>
            </a:r>
            <a:r>
              <a:rPr sz="2200" dirty="0">
                <a:solidFill>
                  <a:srgbClr val="000000"/>
                </a:solidFill>
              </a:rPr>
              <a:t>	from</a:t>
            </a:r>
            <a:r>
              <a:rPr sz="2200" spc="-4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the</a:t>
            </a:r>
            <a:r>
              <a:rPr sz="2200" spc="-3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definition</a:t>
            </a:r>
            <a:r>
              <a:rPr sz="2200" spc="-8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of</a:t>
            </a:r>
            <a:r>
              <a:rPr sz="2200" spc="25" dirty="0">
                <a:solidFill>
                  <a:srgbClr val="000000"/>
                </a:solidFill>
              </a:rPr>
              <a:t> </a:t>
            </a:r>
            <a:r>
              <a:rPr sz="2200" spc="-25" dirty="0">
                <a:solidFill>
                  <a:srgbClr val="000000"/>
                </a:solidFill>
              </a:rPr>
              <a:t>R</a:t>
            </a:r>
            <a:r>
              <a:rPr sz="2175" spc="-37" baseline="24904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endParaRPr sz="2175" baseline="24904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144" y="2031974"/>
            <a:ext cx="10401935" cy="406527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565785" indent="-514984">
              <a:lnSpc>
                <a:spcPct val="100000"/>
              </a:lnSpc>
              <a:spcBef>
                <a:spcPts val="840"/>
              </a:spcBef>
              <a:buAutoNum type="romanLcParenR"/>
              <a:tabLst>
                <a:tab pos="565785" algn="l"/>
                <a:tab pos="906780" algn="l"/>
              </a:tabLst>
            </a:pPr>
            <a:r>
              <a:rPr sz="2200" b="1" spc="-25" dirty="0">
                <a:latin typeface="Times New Roman"/>
                <a:cs typeface="Times New Roman"/>
              </a:rPr>
              <a:t>If</a:t>
            </a:r>
            <a:r>
              <a:rPr sz="2200" b="1" dirty="0">
                <a:latin typeface="Times New Roman"/>
                <a:cs typeface="Times New Roman"/>
              </a:rPr>
              <a:t>	M</a:t>
            </a:r>
            <a:r>
              <a:rPr sz="2175" b="1" baseline="-21072" dirty="0">
                <a:latin typeface="Times New Roman"/>
                <a:cs typeface="Times New Roman"/>
              </a:rPr>
              <a:t>R,</a:t>
            </a:r>
            <a:r>
              <a:rPr sz="2175" b="1" spc="277" baseline="-21072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then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(M</a:t>
            </a:r>
            <a:r>
              <a:rPr sz="2175" b="1" baseline="-21072" dirty="0">
                <a:latin typeface="Times New Roman"/>
                <a:cs typeface="Times New Roman"/>
              </a:rPr>
              <a:t>R</a:t>
            </a:r>
            <a:r>
              <a:rPr sz="2200" b="1" dirty="0">
                <a:latin typeface="Times New Roman"/>
                <a:cs typeface="Times New Roman"/>
              </a:rPr>
              <a:t>)</a:t>
            </a:r>
            <a:r>
              <a:rPr sz="2175" b="1" baseline="24904" dirty="0">
                <a:latin typeface="Times New Roman"/>
                <a:cs typeface="Times New Roman"/>
              </a:rPr>
              <a:t>T</a:t>
            </a:r>
            <a:r>
              <a:rPr sz="2175" b="1" spc="472" baseline="2490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,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transpose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1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</a:t>
            </a:r>
            <a:r>
              <a:rPr sz="2175" b="1" baseline="-21072" dirty="0">
                <a:latin typeface="Times New Roman"/>
                <a:cs typeface="Times New Roman"/>
              </a:rPr>
              <a:t>R,</a:t>
            </a:r>
            <a:r>
              <a:rPr sz="2175" b="1" spc="-7" baseline="-21072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175" b="1" baseline="24904" dirty="0">
                <a:latin typeface="Calibri"/>
                <a:cs typeface="Calibri"/>
              </a:rPr>
              <a:t>c</a:t>
            </a:r>
            <a:r>
              <a:rPr sz="2200" b="1" dirty="0">
                <a:latin typeface="Times New Roman"/>
                <a:cs typeface="Times New Roman"/>
              </a:rPr>
              <a:t>,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and</a:t>
            </a:r>
            <a:endParaRPr sz="2200" dirty="0">
              <a:latin typeface="Times New Roman"/>
              <a:cs typeface="Times New Roman"/>
            </a:endParaRPr>
          </a:p>
          <a:p>
            <a:pPr marL="565785" indent="-514984">
              <a:lnSpc>
                <a:spcPct val="100000"/>
              </a:lnSpc>
              <a:spcBef>
                <a:spcPts val="740"/>
              </a:spcBef>
              <a:buAutoNum type="romanLcParenR"/>
              <a:tabLst>
                <a:tab pos="565785" algn="l"/>
              </a:tabLst>
            </a:pP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(R</a:t>
            </a:r>
            <a:r>
              <a:rPr sz="2175" b="1" spc="-15" baseline="24904" dirty="0">
                <a:latin typeface="Calibri"/>
                <a:cs typeface="Calibri"/>
              </a:rPr>
              <a:t>c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)</a:t>
            </a:r>
            <a:r>
              <a:rPr sz="2200" b="1" spc="-2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175" b="1" spc="-37" baseline="24904" dirty="0">
                <a:latin typeface="Calibri"/>
                <a:cs typeface="Calibri"/>
              </a:rPr>
              <a:t>c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=R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Composition</a:t>
            </a:r>
            <a:r>
              <a:rPr sz="2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Relation:</a:t>
            </a:r>
            <a:endParaRPr sz="22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80"/>
              </a:spcBef>
            </a:pPr>
            <a:r>
              <a:rPr sz="1900" b="1" dirty="0">
                <a:latin typeface="Times New Roman"/>
                <a:cs typeface="Times New Roman"/>
              </a:rPr>
              <a:t>Let</a:t>
            </a:r>
            <a:r>
              <a:rPr sz="1900" b="1" spc="-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be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relation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from</a:t>
            </a:r>
            <a:r>
              <a:rPr sz="1900" b="1" spc="-1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-114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be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relation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from</a:t>
            </a:r>
            <a:r>
              <a:rPr sz="1900" b="1" spc="-6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C.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Then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relation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written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as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</a:t>
            </a:r>
            <a:r>
              <a:rPr sz="1900" b="1" spc="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◦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is</a:t>
            </a:r>
            <a:endParaRPr sz="19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95"/>
              </a:spcBef>
            </a:pPr>
            <a:r>
              <a:rPr sz="1900" b="1" dirty="0">
                <a:latin typeface="Times New Roman"/>
                <a:cs typeface="Times New Roman"/>
              </a:rPr>
              <a:t>called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composite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relation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where</a:t>
            </a:r>
            <a:r>
              <a:rPr sz="1900" b="1" spc="-6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R◦S</a:t>
            </a:r>
            <a:r>
              <a:rPr sz="1900" b="1" spc="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=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{(a,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c)|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-75" dirty="0">
                <a:latin typeface="Cambria Math"/>
                <a:cs typeface="Cambria Math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A,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5" dirty="0">
                <a:latin typeface="Cambria Math"/>
                <a:cs typeface="Cambria Math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C,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there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exists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35" dirty="0">
                <a:latin typeface="Cambria Math"/>
                <a:cs typeface="Cambria Math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with</a:t>
            </a:r>
            <a:endParaRPr sz="19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1900" b="1" dirty="0">
                <a:latin typeface="Times New Roman"/>
                <a:cs typeface="Times New Roman"/>
              </a:rPr>
              <a:t>(a,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b)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-85" dirty="0">
                <a:latin typeface="Cambria Math"/>
                <a:cs typeface="Cambria Math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-114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(b,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c)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5" dirty="0">
                <a:latin typeface="Cambria Math"/>
                <a:cs typeface="Cambria Math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}.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relation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R◦S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is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interpreted</a:t>
            </a:r>
            <a:r>
              <a:rPr sz="1900" b="1" dirty="0">
                <a:latin typeface="Times New Roman"/>
                <a:cs typeface="Times New Roman"/>
              </a:rPr>
              <a:t> as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“R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followed</a:t>
            </a:r>
            <a:r>
              <a:rPr sz="1900" b="1" spc="-6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by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S”.</a:t>
            </a:r>
            <a:endParaRPr sz="19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2200" b="1" dirty="0">
                <a:latin typeface="Times New Roman"/>
                <a:cs typeface="Times New Roman"/>
              </a:rPr>
              <a:t>Observe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that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 </a:t>
            </a:r>
            <a:r>
              <a:rPr sz="2200" dirty="0">
                <a:latin typeface="Cambria Math"/>
                <a:cs typeface="Cambria Math"/>
              </a:rPr>
              <a:t>⊆</a:t>
            </a:r>
            <a:r>
              <a:rPr sz="2200" spc="-25" dirty="0">
                <a:latin typeface="Cambria Math"/>
                <a:cs typeface="Cambria Math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(AxB),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⊆</a:t>
            </a:r>
            <a:r>
              <a:rPr sz="2200" spc="-25" dirty="0">
                <a:latin typeface="Cambria Math"/>
                <a:cs typeface="Cambria Math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(BxC)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R◦S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mbria Math"/>
                <a:cs typeface="Cambria Math"/>
              </a:rPr>
              <a:t>⊆</a:t>
            </a:r>
            <a:r>
              <a:rPr sz="2200" spc="-5" dirty="0">
                <a:latin typeface="Cambria Math"/>
                <a:cs typeface="Cambria Math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(AxC)</a:t>
            </a:r>
            <a:endParaRPr sz="2200" dirty="0">
              <a:latin typeface="Times New Roman"/>
              <a:cs typeface="Times New Roman"/>
            </a:endParaRPr>
          </a:p>
          <a:p>
            <a:pPr marL="50800">
              <a:lnSpc>
                <a:spcPts val="2510"/>
              </a:lnSpc>
              <a:spcBef>
                <a:spcPts val="795"/>
              </a:spcBef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Theorem:</a:t>
            </a:r>
            <a:r>
              <a:rPr sz="22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If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22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from</a:t>
            </a:r>
            <a:r>
              <a:rPr sz="2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200" b="1" i="1" spc="-1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2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22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from</a:t>
            </a:r>
            <a:r>
              <a:rPr sz="2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C</a:t>
            </a:r>
            <a:r>
              <a:rPr sz="2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sz="22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2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endParaRPr sz="2200" dirty="0">
              <a:latin typeface="Times New Roman"/>
              <a:cs typeface="Times New Roman"/>
            </a:endParaRPr>
          </a:p>
          <a:p>
            <a:pPr marL="279400">
              <a:lnSpc>
                <a:spcPts val="2510"/>
              </a:lnSpc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from</a:t>
            </a:r>
            <a:r>
              <a:rPr sz="22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C</a:t>
            </a:r>
            <a:r>
              <a:rPr sz="2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D</a:t>
            </a:r>
            <a:r>
              <a:rPr sz="22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then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T◦</a:t>
            </a:r>
            <a:r>
              <a:rPr sz="22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(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22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◦</a:t>
            </a:r>
            <a:r>
              <a:rPr sz="22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)</a:t>
            </a:r>
            <a:r>
              <a:rPr sz="22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(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2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◦</a:t>
            </a:r>
            <a:r>
              <a:rPr sz="22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) </a:t>
            </a:r>
            <a:r>
              <a:rPr sz="2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◦</a:t>
            </a:r>
            <a:r>
              <a:rPr sz="22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844" y="1061223"/>
            <a:ext cx="8958580" cy="13912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Ex: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Let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{1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3}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{1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4}.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relations</a:t>
            </a:r>
            <a:endParaRPr sz="2400">
              <a:latin typeface="Times New Roman"/>
              <a:cs typeface="Times New Roman"/>
            </a:endParaRPr>
          </a:p>
          <a:p>
            <a:pPr marL="38100" marR="30480">
              <a:lnSpc>
                <a:spcPts val="3600"/>
              </a:lnSpc>
              <a:spcBef>
                <a:spcPts val="8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b="1" spc="300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{&lt;1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&lt;2,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2&gt;,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&lt;3,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3&gt;}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spc="270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{&lt;1,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1&gt;,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&lt;1,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2&gt;,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&lt;1,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3&gt;,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&lt;1,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4&gt;}.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Find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b="1" spc="284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⋃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b="1" spc="284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⋂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b="1" spc="284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spc="284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37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844" y="2881771"/>
            <a:ext cx="7252970" cy="23088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15"/>
              </a:spcBef>
            </a:pP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Solution: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1</a:t>
            </a:r>
            <a:r>
              <a:rPr sz="2400" b="1" spc="300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⋃</a:t>
            </a:r>
            <a:r>
              <a:rPr sz="2400" spc="1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2</a:t>
            </a:r>
            <a:r>
              <a:rPr sz="2400" b="1" spc="307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{&lt;1,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1&gt;,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&lt;2,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2&gt;,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&lt;3,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3&gt;,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&lt;1,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2&gt;,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&lt;1,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3&gt;,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&lt;1,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4&gt;}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1</a:t>
            </a:r>
            <a:r>
              <a:rPr sz="2400" b="1" spc="292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⋂</a:t>
            </a:r>
            <a:r>
              <a:rPr sz="2400" spc="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2</a:t>
            </a:r>
            <a:r>
              <a:rPr sz="2400" b="1" spc="292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{&lt;1,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1&gt;}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1</a:t>
            </a:r>
            <a:r>
              <a:rPr sz="2400" b="1" spc="292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−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2</a:t>
            </a:r>
            <a:r>
              <a:rPr sz="2400" b="1" spc="270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{&lt;2,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2&gt;,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&lt;3,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3&gt;}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2</a:t>
            </a:r>
            <a:r>
              <a:rPr sz="2400" b="1" spc="300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−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1</a:t>
            </a:r>
            <a:r>
              <a:rPr sz="2400" b="1" spc="262" baseline="-20833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{&lt;1,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2&gt;,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&lt;1,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3&gt;,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&lt;1,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4&gt;}.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845707"/>
            <a:ext cx="10638155" cy="550481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Ex: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Let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{1, 2,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3,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4}.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R={(1,1),(1,3),(3,2),(3,4),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(4,2)}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&amp;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S={(2,1),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(3,3),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(3,4),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(4,1)}</a:t>
            </a:r>
            <a:endParaRPr sz="2400">
              <a:latin typeface="Calibri"/>
              <a:cs typeface="Calibri"/>
            </a:endParaRPr>
          </a:p>
          <a:p>
            <a:pPr marL="79375" marR="6156325" indent="-67310">
              <a:lnSpc>
                <a:spcPct val="124200"/>
              </a:lnSpc>
              <a:spcBef>
                <a:spcPts val="25"/>
              </a:spcBef>
              <a:tabLst>
                <a:tab pos="2591435" algn="l"/>
                <a:tab pos="3381375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Find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⋃</a:t>
            </a:r>
            <a:r>
              <a:rPr sz="2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S,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⋂</a:t>
            </a:r>
            <a:r>
              <a:rPr sz="2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S,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	,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R◦S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S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Solution:</a:t>
            </a:r>
            <a:endParaRPr sz="2400">
              <a:latin typeface="Calibri"/>
              <a:cs typeface="Calibri"/>
            </a:endParaRPr>
          </a:p>
          <a:p>
            <a:pPr marL="12700" marR="3982720">
              <a:lnSpc>
                <a:spcPct val="125099"/>
              </a:lnSpc>
            </a:pP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R </a:t>
            </a: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⋃</a:t>
            </a:r>
            <a:r>
              <a:rPr sz="2400" spc="-25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S</a:t>
            </a:r>
            <a:r>
              <a:rPr sz="2400" b="1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=</a:t>
            </a:r>
            <a:r>
              <a:rPr sz="2400" b="1" spc="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Calibri"/>
                <a:cs typeface="Calibri"/>
              </a:rPr>
              <a:t>{(1,1),(1,3),(3,2),(3,4),</a:t>
            </a:r>
            <a:r>
              <a:rPr sz="2400" b="1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(4,2),</a:t>
            </a:r>
            <a:r>
              <a:rPr sz="2400" b="1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(2,1),</a:t>
            </a:r>
            <a:r>
              <a:rPr sz="2400" b="1" spc="-1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(3,3),</a:t>
            </a:r>
            <a:r>
              <a:rPr sz="2400" b="1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Calibri"/>
                <a:cs typeface="Calibri"/>
              </a:rPr>
              <a:t>(4,1)}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⋂</a:t>
            </a:r>
            <a:r>
              <a:rPr sz="2400" spc="-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{(3,4)}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–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S</a:t>
            </a:r>
            <a:r>
              <a:rPr sz="24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Calibri"/>
                <a:cs typeface="Calibri"/>
              </a:rPr>
              <a:t>{(1,1),(1,3),(3,2),(4,2)}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(A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A)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–</a:t>
            </a:r>
            <a:r>
              <a:rPr sz="2400" b="1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A={(</a:t>
            </a:r>
            <a:r>
              <a:rPr sz="2400" b="1" spc="-10" dirty="0">
                <a:solidFill>
                  <a:srgbClr val="920000"/>
                </a:solidFill>
                <a:latin typeface="Calibri"/>
                <a:cs typeface="Calibri"/>
              </a:rPr>
              <a:t>1,1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),(1,2),(</a:t>
            </a:r>
            <a:r>
              <a:rPr sz="2400" b="1" spc="-10" dirty="0">
                <a:solidFill>
                  <a:srgbClr val="920000"/>
                </a:solidFill>
                <a:latin typeface="Calibri"/>
                <a:cs typeface="Calibri"/>
              </a:rPr>
              <a:t>1,3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),(1,4),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(2,1),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(2,2),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(2,3),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(2,4),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(3,1),(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3,2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),(3,3),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3,4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),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(4,1),(</a:t>
            </a:r>
            <a:r>
              <a:rPr sz="2400" b="1" spc="-10" dirty="0">
                <a:solidFill>
                  <a:srgbClr val="920000"/>
                </a:solidFill>
                <a:latin typeface="Calibri"/>
                <a:cs typeface="Calibri"/>
              </a:rPr>
              <a:t>4,2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),</a:t>
            </a:r>
            <a:endParaRPr sz="2400">
              <a:latin typeface="Calibri"/>
              <a:cs typeface="Calibri"/>
            </a:endParaRPr>
          </a:p>
          <a:p>
            <a:pPr marL="969644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(4,3),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(4,4)}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{(1,1),(1,3),(3,2),(3,4),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(4,2)}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320040" algn="l"/>
              </a:tabLst>
            </a:pP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	=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{(1,2),(1,4),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(2,1),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(2,2),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(2,3),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(2,4),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(3,1),(3,3),</a:t>
            </a:r>
            <a:r>
              <a:rPr sz="24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(4,1),(4,3),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(4,4)}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R◦S=</a:t>
            </a:r>
            <a:r>
              <a:rPr sz="2400" b="1" spc="-9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{(1,3),(1,4),(3,1),(4,1)}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90672" y="1450847"/>
            <a:ext cx="290830" cy="1905"/>
          </a:xfrm>
          <a:custGeom>
            <a:avLst/>
            <a:gdLst/>
            <a:ahLst/>
            <a:cxnLst/>
            <a:rect l="l" t="t" r="r" b="b"/>
            <a:pathLst>
              <a:path w="290829" h="1905">
                <a:moveTo>
                  <a:pt x="0" y="0"/>
                </a:moveTo>
                <a:lnTo>
                  <a:pt x="290322" y="165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0391" y="3721608"/>
            <a:ext cx="290830" cy="1905"/>
          </a:xfrm>
          <a:custGeom>
            <a:avLst/>
            <a:gdLst/>
            <a:ahLst/>
            <a:cxnLst/>
            <a:rect l="l" t="t" r="r" b="b"/>
            <a:pathLst>
              <a:path w="290830" h="1904">
                <a:moveTo>
                  <a:pt x="0" y="0"/>
                </a:moveTo>
                <a:lnTo>
                  <a:pt x="290283" y="1651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7824" y="5029200"/>
            <a:ext cx="290830" cy="1905"/>
          </a:xfrm>
          <a:custGeom>
            <a:avLst/>
            <a:gdLst/>
            <a:ahLst/>
            <a:cxnLst/>
            <a:rect l="l" t="t" r="r" b="b"/>
            <a:pathLst>
              <a:path w="290830" h="1904">
                <a:moveTo>
                  <a:pt x="0" y="0"/>
                </a:moveTo>
                <a:lnTo>
                  <a:pt x="290283" y="1524"/>
                </a:lnTo>
              </a:path>
            </a:pathLst>
          </a:custGeom>
          <a:ln w="609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1016398"/>
            <a:ext cx="10205720" cy="90931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600" dirty="0">
                <a:solidFill>
                  <a:srgbClr val="BE9000"/>
                </a:solidFill>
              </a:rPr>
              <a:t>Example:</a:t>
            </a:r>
            <a:r>
              <a:rPr sz="2600" spc="-15" dirty="0">
                <a:solidFill>
                  <a:srgbClr val="BE9000"/>
                </a:solidFill>
              </a:rPr>
              <a:t> </a:t>
            </a:r>
            <a:r>
              <a:rPr sz="2600" dirty="0">
                <a:solidFill>
                  <a:srgbClr val="2D75B6"/>
                </a:solidFill>
              </a:rPr>
              <a:t>Let</a:t>
            </a:r>
            <a:r>
              <a:rPr sz="2600" spc="-5" dirty="0">
                <a:solidFill>
                  <a:srgbClr val="2D75B6"/>
                </a:solidFill>
              </a:rPr>
              <a:t> 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R</a:t>
            </a:r>
            <a:r>
              <a:rPr sz="2600" i="1" spc="-2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=</a:t>
            </a:r>
            <a:r>
              <a:rPr sz="2600" spc="-20" dirty="0">
                <a:solidFill>
                  <a:srgbClr val="2D75B6"/>
                </a:solidFill>
              </a:rPr>
              <a:t> 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{</a:t>
            </a:r>
            <a:r>
              <a:rPr sz="2600" dirty="0">
                <a:solidFill>
                  <a:srgbClr val="2D75B6"/>
                </a:solidFill>
              </a:rPr>
              <a:t>(1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3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2)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3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(3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4)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3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(2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3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2)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}</a:t>
            </a:r>
            <a:r>
              <a:rPr sz="2600" i="1" spc="-2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and</a:t>
            </a:r>
            <a:r>
              <a:rPr sz="2600" spc="-5" dirty="0">
                <a:solidFill>
                  <a:srgbClr val="2D75B6"/>
                </a:solidFill>
              </a:rPr>
              <a:t> 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S</a:t>
            </a:r>
            <a:r>
              <a:rPr sz="2600" i="1" spc="-2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=</a:t>
            </a:r>
            <a:r>
              <a:rPr sz="2600" spc="-20" dirty="0">
                <a:solidFill>
                  <a:srgbClr val="2D75B6"/>
                </a:solidFill>
              </a:rPr>
              <a:t> 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{</a:t>
            </a:r>
            <a:r>
              <a:rPr sz="2600" dirty="0">
                <a:solidFill>
                  <a:srgbClr val="2D75B6"/>
                </a:solidFill>
              </a:rPr>
              <a:t>(4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2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2)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(2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3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5)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2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(3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3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1)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D75B6"/>
                </a:solidFill>
              </a:rPr>
              <a:t>(1</a:t>
            </a:r>
            <a:r>
              <a:rPr sz="2600" i="1" dirty="0">
                <a:solidFill>
                  <a:srgbClr val="2D75B6"/>
                </a:solidFill>
                <a:latin typeface="Times New Roman"/>
                <a:cs typeface="Times New Roman"/>
              </a:rPr>
              <a:t>,</a:t>
            </a:r>
            <a:r>
              <a:rPr sz="2600" i="1" spc="-2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2D75B6"/>
                </a:solidFill>
              </a:rPr>
              <a:t>3)</a:t>
            </a:r>
            <a:r>
              <a:rPr sz="2600" i="1" spc="-20" dirty="0">
                <a:solidFill>
                  <a:srgbClr val="2D75B6"/>
                </a:solidFill>
                <a:latin typeface="Times New Roman"/>
                <a:cs typeface="Times New Roman"/>
              </a:rPr>
              <a:t>}</a:t>
            </a:r>
            <a:r>
              <a:rPr sz="2600" spc="-20" dirty="0">
                <a:solidFill>
                  <a:srgbClr val="2D75B6"/>
                </a:solidFill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360"/>
              </a:spcBef>
            </a:pPr>
            <a:r>
              <a:rPr sz="2600" dirty="0">
                <a:solidFill>
                  <a:srgbClr val="000000"/>
                </a:solidFill>
              </a:rPr>
              <a:t>Find</a:t>
            </a:r>
            <a:r>
              <a:rPr sz="2600" spc="-60" dirty="0">
                <a:solidFill>
                  <a:srgbClr val="000000"/>
                </a:solidFill>
              </a:rPr>
              <a:t> 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R◦S</a:t>
            </a:r>
            <a:r>
              <a:rPr sz="2600" dirty="0">
                <a:solidFill>
                  <a:srgbClr val="000000"/>
                </a:solidFill>
              </a:rPr>
              <a:t>,</a:t>
            </a:r>
            <a:r>
              <a:rPr sz="2600" spc="-30" dirty="0">
                <a:solidFill>
                  <a:srgbClr val="000000"/>
                </a:solidFill>
              </a:rPr>
              <a:t> 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S◦R</a:t>
            </a:r>
            <a:r>
              <a:rPr sz="2600" dirty="0">
                <a:solidFill>
                  <a:srgbClr val="000000"/>
                </a:solidFill>
              </a:rPr>
              <a:t>,</a:t>
            </a:r>
            <a:r>
              <a:rPr sz="2600" spc="-50" dirty="0">
                <a:solidFill>
                  <a:srgbClr val="000000"/>
                </a:solidFill>
              </a:rPr>
              <a:t> 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R◦</a:t>
            </a:r>
            <a:r>
              <a:rPr sz="2600" dirty="0">
                <a:solidFill>
                  <a:srgbClr val="000000"/>
                </a:solidFill>
              </a:rPr>
              <a:t>(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S◦R</a:t>
            </a:r>
            <a:r>
              <a:rPr sz="2600" dirty="0">
                <a:solidFill>
                  <a:srgbClr val="000000"/>
                </a:solidFill>
              </a:rPr>
              <a:t>),</a:t>
            </a:r>
            <a:r>
              <a:rPr sz="2600" spc="-5" dirty="0">
                <a:solidFill>
                  <a:srgbClr val="000000"/>
                </a:solidFill>
              </a:rPr>
              <a:t> </a:t>
            </a:r>
            <a:r>
              <a:rPr sz="2600" dirty="0">
                <a:solidFill>
                  <a:srgbClr val="000000"/>
                </a:solidFill>
              </a:rPr>
              <a:t>(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R◦S</a:t>
            </a:r>
            <a:r>
              <a:rPr sz="2600" dirty="0">
                <a:solidFill>
                  <a:srgbClr val="000000"/>
                </a:solidFill>
              </a:rPr>
              <a:t>)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◦R</a:t>
            </a:r>
            <a:r>
              <a:rPr sz="2600" dirty="0">
                <a:solidFill>
                  <a:srgbClr val="000000"/>
                </a:solidFill>
              </a:rPr>
              <a:t>,</a:t>
            </a:r>
            <a:r>
              <a:rPr sz="2600" spc="-30" dirty="0">
                <a:solidFill>
                  <a:srgbClr val="000000"/>
                </a:solidFill>
              </a:rPr>
              <a:t> 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R◦R</a:t>
            </a:r>
            <a:r>
              <a:rPr sz="2600" dirty="0">
                <a:solidFill>
                  <a:srgbClr val="000000"/>
                </a:solidFill>
              </a:rPr>
              <a:t>,</a:t>
            </a:r>
            <a:r>
              <a:rPr sz="2600" spc="-25" dirty="0">
                <a:solidFill>
                  <a:srgbClr val="000000"/>
                </a:solidFill>
              </a:rPr>
              <a:t> </a:t>
            </a:r>
            <a:r>
              <a:rPr sz="2600" i="1" dirty="0">
                <a:solidFill>
                  <a:srgbClr val="000000"/>
                </a:solidFill>
                <a:latin typeface="Times New Roman"/>
                <a:cs typeface="Times New Roman"/>
              </a:rPr>
              <a:t>S◦S</a:t>
            </a:r>
            <a:r>
              <a:rPr sz="2600" dirty="0">
                <a:solidFill>
                  <a:srgbClr val="000000"/>
                </a:solidFill>
              </a:rPr>
              <a:t>,</a:t>
            </a:r>
            <a:r>
              <a:rPr sz="2600" spc="-55" dirty="0">
                <a:solidFill>
                  <a:srgbClr val="000000"/>
                </a:solidFill>
              </a:rPr>
              <a:t> </a:t>
            </a:r>
            <a:r>
              <a:rPr sz="2600" dirty="0">
                <a:solidFill>
                  <a:srgbClr val="000000"/>
                </a:solidFill>
              </a:rPr>
              <a:t>and</a:t>
            </a:r>
            <a:r>
              <a:rPr sz="2600" spc="-60" dirty="0">
                <a:solidFill>
                  <a:srgbClr val="000000"/>
                </a:solidFill>
              </a:rPr>
              <a:t> </a:t>
            </a:r>
            <a:r>
              <a:rPr sz="2600" spc="-10" dirty="0">
                <a:solidFill>
                  <a:srgbClr val="000000"/>
                </a:solidFill>
              </a:rPr>
              <a:t>(</a:t>
            </a:r>
            <a:r>
              <a:rPr sz="260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R◦R</a:t>
            </a:r>
            <a:r>
              <a:rPr sz="2600" spc="-10" dirty="0">
                <a:solidFill>
                  <a:srgbClr val="000000"/>
                </a:solidFill>
              </a:rPr>
              <a:t>)</a:t>
            </a:r>
            <a:r>
              <a:rPr sz="260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◦R</a:t>
            </a:r>
            <a:r>
              <a:rPr sz="2600" spc="-10" dirty="0">
                <a:solidFill>
                  <a:srgbClr val="000000"/>
                </a:solidFill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1899680"/>
            <a:ext cx="10500995" cy="135826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2600" b="1" dirty="0">
                <a:solidFill>
                  <a:srgbClr val="FFC000"/>
                </a:solidFill>
                <a:latin typeface="Times New Roman"/>
                <a:cs typeface="Times New Roman"/>
              </a:rPr>
              <a:t>Solution:</a:t>
            </a:r>
            <a:r>
              <a:rPr sz="2600" b="1" spc="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Given</a:t>
            </a:r>
            <a:r>
              <a:rPr sz="26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6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6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</a:t>
            </a:r>
            <a:r>
              <a:rPr sz="26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(4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1)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3)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6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(4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600" b="1" i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̸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844" y="3232291"/>
            <a:ext cx="4545965" cy="269113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89"/>
              </a:spcBef>
            </a:pP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r>
              <a:rPr sz="26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r>
              <a:rPr sz="26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6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r>
              <a:rPr sz="26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60"/>
              </a:spcBef>
            </a:pP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6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 ◦</a:t>
            </a:r>
            <a:r>
              <a:rPr sz="26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6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(4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3)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6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6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 </a:t>
            </a:r>
            <a:r>
              <a:rPr sz="26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1)</a:t>
            </a:r>
            <a:r>
              <a:rPr sz="26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Note:</a:t>
            </a:r>
            <a:r>
              <a:rPr sz="26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550" b="1" i="1" baseline="26143" dirty="0">
                <a:solidFill>
                  <a:srgbClr val="4B24F3"/>
                </a:solidFill>
                <a:latin typeface="Times New Roman"/>
                <a:cs typeface="Times New Roman"/>
              </a:rPr>
              <a:t>2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= R</a:t>
            </a:r>
            <a:r>
              <a:rPr sz="2600" b="1" i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◦</a:t>
            </a:r>
            <a:r>
              <a:rPr sz="2600" b="1" i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spc="-50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202565">
              <a:lnSpc>
                <a:spcPct val="100000"/>
              </a:lnSpc>
              <a:spcBef>
                <a:spcPts val="360"/>
              </a:spcBef>
            </a:pP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550" b="1" i="1" baseline="26143" dirty="0">
                <a:solidFill>
                  <a:srgbClr val="4B24F3"/>
                </a:solidFill>
                <a:latin typeface="Times New Roman"/>
                <a:cs typeface="Times New Roman"/>
              </a:rPr>
              <a:t>3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=</a:t>
            </a:r>
            <a:r>
              <a:rPr sz="2600" b="1" i="1" spc="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550" b="1" i="1" baseline="26143" dirty="0">
                <a:solidFill>
                  <a:srgbClr val="4B24F3"/>
                </a:solidFill>
                <a:latin typeface="Times New Roman"/>
                <a:cs typeface="Times New Roman"/>
              </a:rPr>
              <a:t>2</a:t>
            </a:r>
            <a:r>
              <a:rPr sz="2550" b="1" i="1" spc="-7" baseline="26143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◦</a:t>
            </a:r>
            <a:r>
              <a:rPr sz="2600" b="1" i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600" b="1" i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=</a:t>
            </a:r>
            <a:r>
              <a:rPr sz="2600" b="1" i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(R</a:t>
            </a:r>
            <a:r>
              <a:rPr sz="2600" b="1" i="1" spc="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4B24F3"/>
                </a:solidFill>
                <a:latin typeface="Times New Roman"/>
                <a:cs typeface="Times New Roman"/>
              </a:rPr>
              <a:t>◦</a:t>
            </a:r>
            <a:r>
              <a:rPr sz="26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600" b="1" i="1" spc="-20" dirty="0">
                <a:solidFill>
                  <a:srgbClr val="4B24F3"/>
                </a:solidFill>
                <a:latin typeface="Times New Roman"/>
                <a:cs typeface="Times New Roman"/>
              </a:rPr>
              <a:t>R)◦R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70320" y="3090672"/>
            <a:ext cx="829310" cy="2249805"/>
          </a:xfrm>
          <a:custGeom>
            <a:avLst/>
            <a:gdLst/>
            <a:ahLst/>
            <a:cxnLst/>
            <a:rect l="l" t="t" r="r" b="b"/>
            <a:pathLst>
              <a:path w="829309" h="2249804">
                <a:moveTo>
                  <a:pt x="0" y="1124711"/>
                </a:moveTo>
                <a:lnTo>
                  <a:pt x="756" y="1056198"/>
                </a:lnTo>
                <a:lnTo>
                  <a:pt x="2996" y="988769"/>
                </a:lnTo>
                <a:lnTo>
                  <a:pt x="6677" y="922544"/>
                </a:lnTo>
                <a:lnTo>
                  <a:pt x="11755" y="857640"/>
                </a:lnTo>
                <a:lnTo>
                  <a:pt x="18186" y="794174"/>
                </a:lnTo>
                <a:lnTo>
                  <a:pt x="25928" y="732265"/>
                </a:lnTo>
                <a:lnTo>
                  <a:pt x="34938" y="672029"/>
                </a:lnTo>
                <a:lnTo>
                  <a:pt x="45171" y="613585"/>
                </a:lnTo>
                <a:lnTo>
                  <a:pt x="56585" y="557050"/>
                </a:lnTo>
                <a:lnTo>
                  <a:pt x="69136" y="502541"/>
                </a:lnTo>
                <a:lnTo>
                  <a:pt x="82781" y="450177"/>
                </a:lnTo>
                <a:lnTo>
                  <a:pt x="97477" y="400076"/>
                </a:lnTo>
                <a:lnTo>
                  <a:pt x="113180" y="352354"/>
                </a:lnTo>
                <a:lnTo>
                  <a:pt x="129847" y="307129"/>
                </a:lnTo>
                <a:lnTo>
                  <a:pt x="147434" y="264519"/>
                </a:lnTo>
                <a:lnTo>
                  <a:pt x="165899" y="224642"/>
                </a:lnTo>
                <a:lnTo>
                  <a:pt x="185198" y="187615"/>
                </a:lnTo>
                <a:lnTo>
                  <a:pt x="205288" y="153557"/>
                </a:lnTo>
                <a:lnTo>
                  <a:pt x="247666" y="94814"/>
                </a:lnTo>
                <a:lnTo>
                  <a:pt x="292687" y="49355"/>
                </a:lnTo>
                <a:lnTo>
                  <a:pt x="340004" y="18120"/>
                </a:lnTo>
                <a:lnTo>
                  <a:pt x="389271" y="2052"/>
                </a:lnTo>
                <a:lnTo>
                  <a:pt x="414527" y="0"/>
                </a:lnTo>
                <a:lnTo>
                  <a:pt x="439784" y="2052"/>
                </a:lnTo>
                <a:lnTo>
                  <a:pt x="489051" y="18120"/>
                </a:lnTo>
                <a:lnTo>
                  <a:pt x="536368" y="49355"/>
                </a:lnTo>
                <a:lnTo>
                  <a:pt x="581389" y="94814"/>
                </a:lnTo>
                <a:lnTo>
                  <a:pt x="623767" y="153557"/>
                </a:lnTo>
                <a:lnTo>
                  <a:pt x="643857" y="187615"/>
                </a:lnTo>
                <a:lnTo>
                  <a:pt x="663156" y="224642"/>
                </a:lnTo>
                <a:lnTo>
                  <a:pt x="681621" y="264519"/>
                </a:lnTo>
                <a:lnTo>
                  <a:pt x="699208" y="307129"/>
                </a:lnTo>
                <a:lnTo>
                  <a:pt x="715875" y="352354"/>
                </a:lnTo>
                <a:lnTo>
                  <a:pt x="731578" y="400076"/>
                </a:lnTo>
                <a:lnTo>
                  <a:pt x="746274" y="450177"/>
                </a:lnTo>
                <a:lnTo>
                  <a:pt x="759919" y="502541"/>
                </a:lnTo>
                <a:lnTo>
                  <a:pt x="772470" y="557050"/>
                </a:lnTo>
                <a:lnTo>
                  <a:pt x="783884" y="613585"/>
                </a:lnTo>
                <a:lnTo>
                  <a:pt x="794117" y="672029"/>
                </a:lnTo>
                <a:lnTo>
                  <a:pt x="803127" y="732265"/>
                </a:lnTo>
                <a:lnTo>
                  <a:pt x="810869" y="794174"/>
                </a:lnTo>
                <a:lnTo>
                  <a:pt x="817300" y="857640"/>
                </a:lnTo>
                <a:lnTo>
                  <a:pt x="822378" y="922544"/>
                </a:lnTo>
                <a:lnTo>
                  <a:pt x="826059" y="988769"/>
                </a:lnTo>
                <a:lnTo>
                  <a:pt x="828299" y="1056198"/>
                </a:lnTo>
                <a:lnTo>
                  <a:pt x="829055" y="1124711"/>
                </a:lnTo>
                <a:lnTo>
                  <a:pt x="828299" y="1193225"/>
                </a:lnTo>
                <a:lnTo>
                  <a:pt x="826059" y="1260654"/>
                </a:lnTo>
                <a:lnTo>
                  <a:pt x="822378" y="1326879"/>
                </a:lnTo>
                <a:lnTo>
                  <a:pt x="817300" y="1391783"/>
                </a:lnTo>
                <a:lnTo>
                  <a:pt x="810869" y="1455249"/>
                </a:lnTo>
                <a:lnTo>
                  <a:pt x="803127" y="1517158"/>
                </a:lnTo>
                <a:lnTo>
                  <a:pt x="794117" y="1577394"/>
                </a:lnTo>
                <a:lnTo>
                  <a:pt x="783884" y="1635838"/>
                </a:lnTo>
                <a:lnTo>
                  <a:pt x="772470" y="1692373"/>
                </a:lnTo>
                <a:lnTo>
                  <a:pt x="759919" y="1746882"/>
                </a:lnTo>
                <a:lnTo>
                  <a:pt x="746274" y="1799246"/>
                </a:lnTo>
                <a:lnTo>
                  <a:pt x="731578" y="1849347"/>
                </a:lnTo>
                <a:lnTo>
                  <a:pt x="715875" y="1897069"/>
                </a:lnTo>
                <a:lnTo>
                  <a:pt x="699208" y="1942294"/>
                </a:lnTo>
                <a:lnTo>
                  <a:pt x="681621" y="1984904"/>
                </a:lnTo>
                <a:lnTo>
                  <a:pt x="663156" y="2024781"/>
                </a:lnTo>
                <a:lnTo>
                  <a:pt x="643857" y="2061808"/>
                </a:lnTo>
                <a:lnTo>
                  <a:pt x="623767" y="2095866"/>
                </a:lnTo>
                <a:lnTo>
                  <a:pt x="581389" y="2154609"/>
                </a:lnTo>
                <a:lnTo>
                  <a:pt x="536368" y="2200068"/>
                </a:lnTo>
                <a:lnTo>
                  <a:pt x="489051" y="2231303"/>
                </a:lnTo>
                <a:lnTo>
                  <a:pt x="439784" y="2247371"/>
                </a:lnTo>
                <a:lnTo>
                  <a:pt x="414527" y="2249424"/>
                </a:lnTo>
                <a:lnTo>
                  <a:pt x="389271" y="2247371"/>
                </a:lnTo>
                <a:lnTo>
                  <a:pt x="340004" y="2231303"/>
                </a:lnTo>
                <a:lnTo>
                  <a:pt x="292687" y="2200068"/>
                </a:lnTo>
                <a:lnTo>
                  <a:pt x="247666" y="2154609"/>
                </a:lnTo>
                <a:lnTo>
                  <a:pt x="205288" y="2095866"/>
                </a:lnTo>
                <a:lnTo>
                  <a:pt x="185198" y="2061808"/>
                </a:lnTo>
                <a:lnTo>
                  <a:pt x="165899" y="2024781"/>
                </a:lnTo>
                <a:lnTo>
                  <a:pt x="147434" y="1984904"/>
                </a:lnTo>
                <a:lnTo>
                  <a:pt x="129847" y="1942294"/>
                </a:lnTo>
                <a:lnTo>
                  <a:pt x="113180" y="1897069"/>
                </a:lnTo>
                <a:lnTo>
                  <a:pt x="97477" y="1849347"/>
                </a:lnTo>
                <a:lnTo>
                  <a:pt x="82781" y="1799246"/>
                </a:lnTo>
                <a:lnTo>
                  <a:pt x="69136" y="1746882"/>
                </a:lnTo>
                <a:lnTo>
                  <a:pt x="56585" y="1692373"/>
                </a:lnTo>
                <a:lnTo>
                  <a:pt x="45171" y="1635838"/>
                </a:lnTo>
                <a:lnTo>
                  <a:pt x="34938" y="1577394"/>
                </a:lnTo>
                <a:lnTo>
                  <a:pt x="25928" y="1517158"/>
                </a:lnTo>
                <a:lnTo>
                  <a:pt x="18186" y="1455249"/>
                </a:lnTo>
                <a:lnTo>
                  <a:pt x="11755" y="1391783"/>
                </a:lnTo>
                <a:lnTo>
                  <a:pt x="6677" y="1326879"/>
                </a:lnTo>
                <a:lnTo>
                  <a:pt x="2996" y="1260654"/>
                </a:lnTo>
                <a:lnTo>
                  <a:pt x="756" y="1193225"/>
                </a:lnTo>
                <a:lnTo>
                  <a:pt x="0" y="112471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95693" y="3272790"/>
            <a:ext cx="18034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61959" y="3063239"/>
            <a:ext cx="829310" cy="2265045"/>
          </a:xfrm>
          <a:custGeom>
            <a:avLst/>
            <a:gdLst/>
            <a:ahLst/>
            <a:cxnLst/>
            <a:rect l="l" t="t" r="r" b="b"/>
            <a:pathLst>
              <a:path w="829309" h="2265045">
                <a:moveTo>
                  <a:pt x="0" y="1132332"/>
                </a:moveTo>
                <a:lnTo>
                  <a:pt x="756" y="1063355"/>
                </a:lnTo>
                <a:lnTo>
                  <a:pt x="2996" y="995472"/>
                </a:lnTo>
                <a:lnTo>
                  <a:pt x="6677" y="928799"/>
                </a:lnTo>
                <a:lnTo>
                  <a:pt x="11755" y="863456"/>
                </a:lnTo>
                <a:lnTo>
                  <a:pt x="18186" y="799561"/>
                </a:lnTo>
                <a:lnTo>
                  <a:pt x="25928" y="737233"/>
                </a:lnTo>
                <a:lnTo>
                  <a:pt x="34938" y="676590"/>
                </a:lnTo>
                <a:lnTo>
                  <a:pt x="45171" y="617750"/>
                </a:lnTo>
                <a:lnTo>
                  <a:pt x="56585" y="560832"/>
                </a:lnTo>
                <a:lnTo>
                  <a:pt x="69136" y="505954"/>
                </a:lnTo>
                <a:lnTo>
                  <a:pt x="82781" y="453235"/>
                </a:lnTo>
                <a:lnTo>
                  <a:pt x="97477" y="402793"/>
                </a:lnTo>
                <a:lnTo>
                  <a:pt x="113180" y="354747"/>
                </a:lnTo>
                <a:lnTo>
                  <a:pt x="129847" y="309216"/>
                </a:lnTo>
                <a:lnTo>
                  <a:pt x="147434" y="266317"/>
                </a:lnTo>
                <a:lnTo>
                  <a:pt x="165899" y="226169"/>
                </a:lnTo>
                <a:lnTo>
                  <a:pt x="185198" y="188891"/>
                </a:lnTo>
                <a:lnTo>
                  <a:pt x="205288" y="154601"/>
                </a:lnTo>
                <a:lnTo>
                  <a:pt x="247666" y="95459"/>
                </a:lnTo>
                <a:lnTo>
                  <a:pt x="292687" y="49690"/>
                </a:lnTo>
                <a:lnTo>
                  <a:pt x="340004" y="18244"/>
                </a:lnTo>
                <a:lnTo>
                  <a:pt x="389271" y="2066"/>
                </a:lnTo>
                <a:lnTo>
                  <a:pt x="414528" y="0"/>
                </a:lnTo>
                <a:lnTo>
                  <a:pt x="439784" y="2066"/>
                </a:lnTo>
                <a:lnTo>
                  <a:pt x="489051" y="18244"/>
                </a:lnTo>
                <a:lnTo>
                  <a:pt x="536368" y="49690"/>
                </a:lnTo>
                <a:lnTo>
                  <a:pt x="581389" y="95459"/>
                </a:lnTo>
                <a:lnTo>
                  <a:pt x="623767" y="154601"/>
                </a:lnTo>
                <a:lnTo>
                  <a:pt x="643857" y="188891"/>
                </a:lnTo>
                <a:lnTo>
                  <a:pt x="663156" y="226169"/>
                </a:lnTo>
                <a:lnTo>
                  <a:pt x="681621" y="266317"/>
                </a:lnTo>
                <a:lnTo>
                  <a:pt x="699208" y="309216"/>
                </a:lnTo>
                <a:lnTo>
                  <a:pt x="715875" y="354747"/>
                </a:lnTo>
                <a:lnTo>
                  <a:pt x="731578" y="402793"/>
                </a:lnTo>
                <a:lnTo>
                  <a:pt x="746274" y="453235"/>
                </a:lnTo>
                <a:lnTo>
                  <a:pt x="759919" y="505954"/>
                </a:lnTo>
                <a:lnTo>
                  <a:pt x="772470" y="560831"/>
                </a:lnTo>
                <a:lnTo>
                  <a:pt x="783884" y="617750"/>
                </a:lnTo>
                <a:lnTo>
                  <a:pt x="794117" y="676590"/>
                </a:lnTo>
                <a:lnTo>
                  <a:pt x="803127" y="737233"/>
                </a:lnTo>
                <a:lnTo>
                  <a:pt x="810869" y="799561"/>
                </a:lnTo>
                <a:lnTo>
                  <a:pt x="817300" y="863456"/>
                </a:lnTo>
                <a:lnTo>
                  <a:pt x="822378" y="928799"/>
                </a:lnTo>
                <a:lnTo>
                  <a:pt x="826059" y="995472"/>
                </a:lnTo>
                <a:lnTo>
                  <a:pt x="828299" y="1063355"/>
                </a:lnTo>
                <a:lnTo>
                  <a:pt x="829056" y="1132332"/>
                </a:lnTo>
                <a:lnTo>
                  <a:pt x="828299" y="1201308"/>
                </a:lnTo>
                <a:lnTo>
                  <a:pt x="826059" y="1269191"/>
                </a:lnTo>
                <a:lnTo>
                  <a:pt x="822378" y="1335864"/>
                </a:lnTo>
                <a:lnTo>
                  <a:pt x="817300" y="1401207"/>
                </a:lnTo>
                <a:lnTo>
                  <a:pt x="810869" y="1465102"/>
                </a:lnTo>
                <a:lnTo>
                  <a:pt x="803127" y="1527430"/>
                </a:lnTo>
                <a:lnTo>
                  <a:pt x="794117" y="1588073"/>
                </a:lnTo>
                <a:lnTo>
                  <a:pt x="783884" y="1646913"/>
                </a:lnTo>
                <a:lnTo>
                  <a:pt x="772470" y="1703832"/>
                </a:lnTo>
                <a:lnTo>
                  <a:pt x="759919" y="1758709"/>
                </a:lnTo>
                <a:lnTo>
                  <a:pt x="746274" y="1811428"/>
                </a:lnTo>
                <a:lnTo>
                  <a:pt x="731578" y="1861870"/>
                </a:lnTo>
                <a:lnTo>
                  <a:pt x="715875" y="1909916"/>
                </a:lnTo>
                <a:lnTo>
                  <a:pt x="699208" y="1955447"/>
                </a:lnTo>
                <a:lnTo>
                  <a:pt x="681621" y="1998346"/>
                </a:lnTo>
                <a:lnTo>
                  <a:pt x="663156" y="2038494"/>
                </a:lnTo>
                <a:lnTo>
                  <a:pt x="643857" y="2075772"/>
                </a:lnTo>
                <a:lnTo>
                  <a:pt x="623767" y="2110062"/>
                </a:lnTo>
                <a:lnTo>
                  <a:pt x="581389" y="2169204"/>
                </a:lnTo>
                <a:lnTo>
                  <a:pt x="536368" y="2214973"/>
                </a:lnTo>
                <a:lnTo>
                  <a:pt x="489051" y="2246419"/>
                </a:lnTo>
                <a:lnTo>
                  <a:pt x="439784" y="2262597"/>
                </a:lnTo>
                <a:lnTo>
                  <a:pt x="414528" y="2264664"/>
                </a:lnTo>
                <a:lnTo>
                  <a:pt x="389271" y="2262597"/>
                </a:lnTo>
                <a:lnTo>
                  <a:pt x="340004" y="2246419"/>
                </a:lnTo>
                <a:lnTo>
                  <a:pt x="292687" y="2214973"/>
                </a:lnTo>
                <a:lnTo>
                  <a:pt x="247666" y="2169204"/>
                </a:lnTo>
                <a:lnTo>
                  <a:pt x="205288" y="2110062"/>
                </a:lnTo>
                <a:lnTo>
                  <a:pt x="185198" y="2075772"/>
                </a:lnTo>
                <a:lnTo>
                  <a:pt x="165899" y="2038494"/>
                </a:lnTo>
                <a:lnTo>
                  <a:pt x="147434" y="1998346"/>
                </a:lnTo>
                <a:lnTo>
                  <a:pt x="129847" y="1955447"/>
                </a:lnTo>
                <a:lnTo>
                  <a:pt x="113180" y="1909916"/>
                </a:lnTo>
                <a:lnTo>
                  <a:pt x="97477" y="1861870"/>
                </a:lnTo>
                <a:lnTo>
                  <a:pt x="82781" y="1811428"/>
                </a:lnTo>
                <a:lnTo>
                  <a:pt x="69136" y="1758709"/>
                </a:lnTo>
                <a:lnTo>
                  <a:pt x="56585" y="1703832"/>
                </a:lnTo>
                <a:lnTo>
                  <a:pt x="45171" y="1646913"/>
                </a:lnTo>
                <a:lnTo>
                  <a:pt x="34938" y="1588073"/>
                </a:lnTo>
                <a:lnTo>
                  <a:pt x="25928" y="1527430"/>
                </a:lnTo>
                <a:lnTo>
                  <a:pt x="18186" y="1465102"/>
                </a:lnTo>
                <a:lnTo>
                  <a:pt x="11755" y="1401207"/>
                </a:lnTo>
                <a:lnTo>
                  <a:pt x="6677" y="1335864"/>
                </a:lnTo>
                <a:lnTo>
                  <a:pt x="2996" y="1269191"/>
                </a:lnTo>
                <a:lnTo>
                  <a:pt x="756" y="1201308"/>
                </a:lnTo>
                <a:lnTo>
                  <a:pt x="0" y="1132332"/>
                </a:lnTo>
                <a:close/>
              </a:path>
            </a:pathLst>
          </a:custGeom>
          <a:ln w="12192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6698" y="3250514"/>
            <a:ext cx="18034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06000" y="3105911"/>
            <a:ext cx="826135" cy="2265045"/>
          </a:xfrm>
          <a:custGeom>
            <a:avLst/>
            <a:gdLst/>
            <a:ahLst/>
            <a:cxnLst/>
            <a:rect l="l" t="t" r="r" b="b"/>
            <a:pathLst>
              <a:path w="826134" h="2265045">
                <a:moveTo>
                  <a:pt x="0" y="1132332"/>
                </a:moveTo>
                <a:lnTo>
                  <a:pt x="753" y="1063355"/>
                </a:lnTo>
                <a:lnTo>
                  <a:pt x="2986" y="995472"/>
                </a:lnTo>
                <a:lnTo>
                  <a:pt x="6654" y="928799"/>
                </a:lnTo>
                <a:lnTo>
                  <a:pt x="11714" y="863456"/>
                </a:lnTo>
                <a:lnTo>
                  <a:pt x="18123" y="799561"/>
                </a:lnTo>
                <a:lnTo>
                  <a:pt x="25839" y="737233"/>
                </a:lnTo>
                <a:lnTo>
                  <a:pt x="34816" y="676590"/>
                </a:lnTo>
                <a:lnTo>
                  <a:pt x="45014" y="617750"/>
                </a:lnTo>
                <a:lnTo>
                  <a:pt x="56387" y="560832"/>
                </a:lnTo>
                <a:lnTo>
                  <a:pt x="68894" y="505954"/>
                </a:lnTo>
                <a:lnTo>
                  <a:pt x="82491" y="453235"/>
                </a:lnTo>
                <a:lnTo>
                  <a:pt x="97134" y="402793"/>
                </a:lnTo>
                <a:lnTo>
                  <a:pt x="112781" y="354747"/>
                </a:lnTo>
                <a:lnTo>
                  <a:pt x="129388" y="309216"/>
                </a:lnTo>
                <a:lnTo>
                  <a:pt x="146912" y="266317"/>
                </a:lnTo>
                <a:lnTo>
                  <a:pt x="165310" y="226169"/>
                </a:lnTo>
                <a:lnTo>
                  <a:pt x="184538" y="188891"/>
                </a:lnTo>
                <a:lnTo>
                  <a:pt x="204554" y="154601"/>
                </a:lnTo>
                <a:lnTo>
                  <a:pt x="246776" y="95459"/>
                </a:lnTo>
                <a:lnTo>
                  <a:pt x="291628" y="49690"/>
                </a:lnTo>
                <a:lnTo>
                  <a:pt x="338767" y="18244"/>
                </a:lnTo>
                <a:lnTo>
                  <a:pt x="387845" y="2066"/>
                </a:lnTo>
                <a:lnTo>
                  <a:pt x="413003" y="0"/>
                </a:lnTo>
                <a:lnTo>
                  <a:pt x="438162" y="2066"/>
                </a:lnTo>
                <a:lnTo>
                  <a:pt x="487240" y="18244"/>
                </a:lnTo>
                <a:lnTo>
                  <a:pt x="534379" y="49690"/>
                </a:lnTo>
                <a:lnTo>
                  <a:pt x="579231" y="95459"/>
                </a:lnTo>
                <a:lnTo>
                  <a:pt x="621453" y="154601"/>
                </a:lnTo>
                <a:lnTo>
                  <a:pt x="641469" y="188891"/>
                </a:lnTo>
                <a:lnTo>
                  <a:pt x="660697" y="226169"/>
                </a:lnTo>
                <a:lnTo>
                  <a:pt x="679095" y="266317"/>
                </a:lnTo>
                <a:lnTo>
                  <a:pt x="696619" y="309216"/>
                </a:lnTo>
                <a:lnTo>
                  <a:pt x="713226" y="354747"/>
                </a:lnTo>
                <a:lnTo>
                  <a:pt x="728873" y="402793"/>
                </a:lnTo>
                <a:lnTo>
                  <a:pt x="743516" y="453235"/>
                </a:lnTo>
                <a:lnTo>
                  <a:pt x="757113" y="505954"/>
                </a:lnTo>
                <a:lnTo>
                  <a:pt x="769619" y="560831"/>
                </a:lnTo>
                <a:lnTo>
                  <a:pt x="780993" y="617750"/>
                </a:lnTo>
                <a:lnTo>
                  <a:pt x="791191" y="676590"/>
                </a:lnTo>
                <a:lnTo>
                  <a:pt x="800168" y="737233"/>
                </a:lnTo>
                <a:lnTo>
                  <a:pt x="807884" y="799561"/>
                </a:lnTo>
                <a:lnTo>
                  <a:pt x="814293" y="863456"/>
                </a:lnTo>
                <a:lnTo>
                  <a:pt x="819353" y="928799"/>
                </a:lnTo>
                <a:lnTo>
                  <a:pt x="823021" y="995472"/>
                </a:lnTo>
                <a:lnTo>
                  <a:pt x="825254" y="1063355"/>
                </a:lnTo>
                <a:lnTo>
                  <a:pt x="826007" y="1132332"/>
                </a:lnTo>
                <a:lnTo>
                  <a:pt x="825254" y="1201308"/>
                </a:lnTo>
                <a:lnTo>
                  <a:pt x="823021" y="1269191"/>
                </a:lnTo>
                <a:lnTo>
                  <a:pt x="819353" y="1335864"/>
                </a:lnTo>
                <a:lnTo>
                  <a:pt x="814293" y="1401207"/>
                </a:lnTo>
                <a:lnTo>
                  <a:pt x="807884" y="1465102"/>
                </a:lnTo>
                <a:lnTo>
                  <a:pt x="800168" y="1527430"/>
                </a:lnTo>
                <a:lnTo>
                  <a:pt x="791191" y="1588073"/>
                </a:lnTo>
                <a:lnTo>
                  <a:pt x="780993" y="1646913"/>
                </a:lnTo>
                <a:lnTo>
                  <a:pt x="769620" y="1703832"/>
                </a:lnTo>
                <a:lnTo>
                  <a:pt x="757113" y="1758709"/>
                </a:lnTo>
                <a:lnTo>
                  <a:pt x="743516" y="1811428"/>
                </a:lnTo>
                <a:lnTo>
                  <a:pt x="728873" y="1861870"/>
                </a:lnTo>
                <a:lnTo>
                  <a:pt x="713226" y="1909916"/>
                </a:lnTo>
                <a:lnTo>
                  <a:pt x="696619" y="1955447"/>
                </a:lnTo>
                <a:lnTo>
                  <a:pt x="679095" y="1998346"/>
                </a:lnTo>
                <a:lnTo>
                  <a:pt x="660697" y="2038494"/>
                </a:lnTo>
                <a:lnTo>
                  <a:pt x="641469" y="2075772"/>
                </a:lnTo>
                <a:lnTo>
                  <a:pt x="621453" y="2110062"/>
                </a:lnTo>
                <a:lnTo>
                  <a:pt x="579231" y="2169204"/>
                </a:lnTo>
                <a:lnTo>
                  <a:pt x="534379" y="2214973"/>
                </a:lnTo>
                <a:lnTo>
                  <a:pt x="487240" y="2246419"/>
                </a:lnTo>
                <a:lnTo>
                  <a:pt x="438162" y="2262597"/>
                </a:lnTo>
                <a:lnTo>
                  <a:pt x="413003" y="2264664"/>
                </a:lnTo>
                <a:lnTo>
                  <a:pt x="387845" y="2262597"/>
                </a:lnTo>
                <a:lnTo>
                  <a:pt x="338767" y="2246419"/>
                </a:lnTo>
                <a:lnTo>
                  <a:pt x="291628" y="2214973"/>
                </a:lnTo>
                <a:lnTo>
                  <a:pt x="246776" y="2169204"/>
                </a:lnTo>
                <a:lnTo>
                  <a:pt x="204554" y="2110062"/>
                </a:lnTo>
                <a:lnTo>
                  <a:pt x="184538" y="2075772"/>
                </a:lnTo>
                <a:lnTo>
                  <a:pt x="165310" y="2038494"/>
                </a:lnTo>
                <a:lnTo>
                  <a:pt x="146912" y="1998346"/>
                </a:lnTo>
                <a:lnTo>
                  <a:pt x="129388" y="1955447"/>
                </a:lnTo>
                <a:lnTo>
                  <a:pt x="112781" y="1909916"/>
                </a:lnTo>
                <a:lnTo>
                  <a:pt x="97134" y="1861870"/>
                </a:lnTo>
                <a:lnTo>
                  <a:pt x="82491" y="1811428"/>
                </a:lnTo>
                <a:lnTo>
                  <a:pt x="68894" y="1758709"/>
                </a:lnTo>
                <a:lnTo>
                  <a:pt x="56388" y="1703832"/>
                </a:lnTo>
                <a:lnTo>
                  <a:pt x="45014" y="1646913"/>
                </a:lnTo>
                <a:lnTo>
                  <a:pt x="34816" y="1588073"/>
                </a:lnTo>
                <a:lnTo>
                  <a:pt x="25839" y="1527430"/>
                </a:lnTo>
                <a:lnTo>
                  <a:pt x="18123" y="1465102"/>
                </a:lnTo>
                <a:lnTo>
                  <a:pt x="11714" y="1401207"/>
                </a:lnTo>
                <a:lnTo>
                  <a:pt x="6654" y="1335864"/>
                </a:lnTo>
                <a:lnTo>
                  <a:pt x="2986" y="1269191"/>
                </a:lnTo>
                <a:lnTo>
                  <a:pt x="753" y="1201308"/>
                </a:lnTo>
                <a:lnTo>
                  <a:pt x="0" y="1132332"/>
                </a:lnTo>
                <a:close/>
              </a:path>
            </a:pathLst>
          </a:custGeom>
          <a:ln w="12192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230739" y="3294075"/>
            <a:ext cx="18034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35470" y="3389375"/>
            <a:ext cx="3282950" cy="1558925"/>
          </a:xfrm>
          <a:custGeom>
            <a:avLst/>
            <a:gdLst/>
            <a:ahLst/>
            <a:cxnLst/>
            <a:rect l="l" t="t" r="r" b="b"/>
            <a:pathLst>
              <a:path w="3282950" h="1558925">
                <a:moveTo>
                  <a:pt x="1453261" y="1139952"/>
                </a:moveTo>
                <a:lnTo>
                  <a:pt x="1377061" y="1071118"/>
                </a:lnTo>
                <a:lnTo>
                  <a:pt x="1373124" y="1071372"/>
                </a:lnTo>
                <a:lnTo>
                  <a:pt x="1370711" y="1073912"/>
                </a:lnTo>
                <a:lnTo>
                  <a:pt x="1368425" y="1076579"/>
                </a:lnTo>
                <a:lnTo>
                  <a:pt x="1368552" y="1080516"/>
                </a:lnTo>
                <a:lnTo>
                  <a:pt x="1419212" y="1126363"/>
                </a:lnTo>
                <a:lnTo>
                  <a:pt x="3048" y="828929"/>
                </a:lnTo>
                <a:lnTo>
                  <a:pt x="508" y="841375"/>
                </a:lnTo>
                <a:lnTo>
                  <a:pt x="1416481" y="1138770"/>
                </a:lnTo>
                <a:lnTo>
                  <a:pt x="1355217" y="1159129"/>
                </a:lnTo>
                <a:lnTo>
                  <a:pt x="1351915" y="1160272"/>
                </a:lnTo>
                <a:lnTo>
                  <a:pt x="1350010" y="1163828"/>
                </a:lnTo>
                <a:lnTo>
                  <a:pt x="1351153" y="1167257"/>
                </a:lnTo>
                <a:lnTo>
                  <a:pt x="1352296" y="1170559"/>
                </a:lnTo>
                <a:lnTo>
                  <a:pt x="1355852" y="1172337"/>
                </a:lnTo>
                <a:lnTo>
                  <a:pt x="1359154" y="1171194"/>
                </a:lnTo>
                <a:lnTo>
                  <a:pt x="1442161" y="1143635"/>
                </a:lnTo>
                <a:lnTo>
                  <a:pt x="1453261" y="1139952"/>
                </a:lnTo>
                <a:close/>
              </a:path>
              <a:path w="3282950" h="1558925">
                <a:moveTo>
                  <a:pt x="1467739" y="426974"/>
                </a:moveTo>
                <a:lnTo>
                  <a:pt x="1396873" y="352806"/>
                </a:lnTo>
                <a:lnTo>
                  <a:pt x="1392809" y="352806"/>
                </a:lnTo>
                <a:lnTo>
                  <a:pt x="1387729" y="357632"/>
                </a:lnTo>
                <a:lnTo>
                  <a:pt x="1387602" y="361696"/>
                </a:lnTo>
                <a:lnTo>
                  <a:pt x="1434757" y="410933"/>
                </a:lnTo>
                <a:lnTo>
                  <a:pt x="3556" y="0"/>
                </a:lnTo>
                <a:lnTo>
                  <a:pt x="0" y="12192"/>
                </a:lnTo>
                <a:lnTo>
                  <a:pt x="1431188" y="423125"/>
                </a:lnTo>
                <a:lnTo>
                  <a:pt x="1365123" y="439928"/>
                </a:lnTo>
                <a:lnTo>
                  <a:pt x="1363091" y="443357"/>
                </a:lnTo>
                <a:lnTo>
                  <a:pt x="1364183" y="447611"/>
                </a:lnTo>
                <a:lnTo>
                  <a:pt x="1294765" y="410210"/>
                </a:lnTo>
                <a:lnTo>
                  <a:pt x="1291590" y="408559"/>
                </a:lnTo>
                <a:lnTo>
                  <a:pt x="1287780" y="409702"/>
                </a:lnTo>
                <a:lnTo>
                  <a:pt x="1284478" y="415798"/>
                </a:lnTo>
                <a:lnTo>
                  <a:pt x="1285621" y="419735"/>
                </a:lnTo>
                <a:lnTo>
                  <a:pt x="1345666" y="452031"/>
                </a:lnTo>
                <a:lnTo>
                  <a:pt x="89916" y="494411"/>
                </a:lnTo>
                <a:lnTo>
                  <a:pt x="90335" y="505079"/>
                </a:lnTo>
                <a:lnTo>
                  <a:pt x="90424" y="507111"/>
                </a:lnTo>
                <a:lnTo>
                  <a:pt x="1346187" y="464731"/>
                </a:lnTo>
                <a:lnTo>
                  <a:pt x="1291336" y="499237"/>
                </a:lnTo>
                <a:lnTo>
                  <a:pt x="1288415" y="501142"/>
                </a:lnTo>
                <a:lnTo>
                  <a:pt x="1287526" y="505079"/>
                </a:lnTo>
                <a:lnTo>
                  <a:pt x="1289304" y="508000"/>
                </a:lnTo>
                <a:lnTo>
                  <a:pt x="1291209" y="510921"/>
                </a:lnTo>
                <a:lnTo>
                  <a:pt x="1295146" y="511810"/>
                </a:lnTo>
                <a:lnTo>
                  <a:pt x="1298067" y="510032"/>
                </a:lnTo>
                <a:lnTo>
                  <a:pt x="1382014" y="457200"/>
                </a:lnTo>
                <a:lnTo>
                  <a:pt x="1371358" y="451472"/>
                </a:lnTo>
                <a:lnTo>
                  <a:pt x="1457236" y="429641"/>
                </a:lnTo>
                <a:lnTo>
                  <a:pt x="1467739" y="426974"/>
                </a:lnTo>
                <a:close/>
              </a:path>
              <a:path w="3282950" h="1558925">
                <a:moveTo>
                  <a:pt x="3282442" y="499872"/>
                </a:moveTo>
                <a:lnTo>
                  <a:pt x="3274250" y="498729"/>
                </a:lnTo>
                <a:lnTo>
                  <a:pt x="3180842" y="485648"/>
                </a:lnTo>
                <a:lnTo>
                  <a:pt x="3177667" y="488188"/>
                </a:lnTo>
                <a:lnTo>
                  <a:pt x="3176651" y="495046"/>
                </a:lnTo>
                <a:lnTo>
                  <a:pt x="3179064" y="498348"/>
                </a:lnTo>
                <a:lnTo>
                  <a:pt x="3182620" y="498729"/>
                </a:lnTo>
                <a:lnTo>
                  <a:pt x="3246666" y="507682"/>
                </a:lnTo>
                <a:lnTo>
                  <a:pt x="2850159" y="670547"/>
                </a:lnTo>
                <a:lnTo>
                  <a:pt x="2833967" y="663295"/>
                </a:lnTo>
                <a:lnTo>
                  <a:pt x="2833967" y="677202"/>
                </a:lnTo>
                <a:lnTo>
                  <a:pt x="2300376" y="896366"/>
                </a:lnTo>
                <a:lnTo>
                  <a:pt x="1951342" y="652678"/>
                </a:lnTo>
                <a:lnTo>
                  <a:pt x="2402167" y="483628"/>
                </a:lnTo>
                <a:lnTo>
                  <a:pt x="2833967" y="677202"/>
                </a:lnTo>
                <a:lnTo>
                  <a:pt x="2833967" y="663295"/>
                </a:lnTo>
                <a:lnTo>
                  <a:pt x="2419083" y="477278"/>
                </a:lnTo>
                <a:lnTo>
                  <a:pt x="3235668" y="171069"/>
                </a:lnTo>
                <a:lnTo>
                  <a:pt x="3194812" y="221234"/>
                </a:lnTo>
                <a:lnTo>
                  <a:pt x="3192526" y="223901"/>
                </a:lnTo>
                <a:lnTo>
                  <a:pt x="3192907" y="227838"/>
                </a:lnTo>
                <a:lnTo>
                  <a:pt x="3198368" y="232283"/>
                </a:lnTo>
                <a:lnTo>
                  <a:pt x="3202432" y="231902"/>
                </a:lnTo>
                <a:lnTo>
                  <a:pt x="3267202" y="152400"/>
                </a:lnTo>
                <a:lnTo>
                  <a:pt x="3258312" y="150876"/>
                </a:lnTo>
                <a:lnTo>
                  <a:pt x="3169539" y="135636"/>
                </a:lnTo>
                <a:lnTo>
                  <a:pt x="3166110" y="135128"/>
                </a:lnTo>
                <a:lnTo>
                  <a:pt x="3162808" y="137414"/>
                </a:lnTo>
                <a:lnTo>
                  <a:pt x="3162173" y="140855"/>
                </a:lnTo>
                <a:lnTo>
                  <a:pt x="3161665" y="144399"/>
                </a:lnTo>
                <a:lnTo>
                  <a:pt x="3163951" y="147574"/>
                </a:lnTo>
                <a:lnTo>
                  <a:pt x="3167380" y="148209"/>
                </a:lnTo>
                <a:lnTo>
                  <a:pt x="3231248" y="159118"/>
                </a:lnTo>
                <a:lnTo>
                  <a:pt x="2402522" y="469861"/>
                </a:lnTo>
                <a:lnTo>
                  <a:pt x="1586230" y="103886"/>
                </a:lnTo>
                <a:lnTo>
                  <a:pt x="1581150" y="115570"/>
                </a:lnTo>
                <a:lnTo>
                  <a:pt x="2385606" y="476199"/>
                </a:lnTo>
                <a:lnTo>
                  <a:pt x="1938629" y="643801"/>
                </a:lnTo>
                <a:lnTo>
                  <a:pt x="1703197" y="479425"/>
                </a:lnTo>
                <a:lnTo>
                  <a:pt x="1695831" y="489839"/>
                </a:lnTo>
                <a:lnTo>
                  <a:pt x="1924138" y="649236"/>
                </a:lnTo>
                <a:lnTo>
                  <a:pt x="1639316" y="756031"/>
                </a:lnTo>
                <a:lnTo>
                  <a:pt x="1643888" y="767969"/>
                </a:lnTo>
                <a:lnTo>
                  <a:pt x="1936864" y="658114"/>
                </a:lnTo>
                <a:lnTo>
                  <a:pt x="2286381" y="902119"/>
                </a:lnTo>
                <a:lnTo>
                  <a:pt x="1654429" y="1161669"/>
                </a:lnTo>
                <a:lnTo>
                  <a:pt x="1659255" y="1173353"/>
                </a:lnTo>
                <a:lnTo>
                  <a:pt x="2298750" y="910755"/>
                </a:lnTo>
                <a:lnTo>
                  <a:pt x="3204832" y="1543291"/>
                </a:lnTo>
                <a:lnTo>
                  <a:pt x="3140329" y="1537970"/>
                </a:lnTo>
                <a:lnTo>
                  <a:pt x="3136773" y="1537716"/>
                </a:lnTo>
                <a:lnTo>
                  <a:pt x="3133725" y="1540256"/>
                </a:lnTo>
                <a:lnTo>
                  <a:pt x="3133496" y="1543291"/>
                </a:lnTo>
                <a:lnTo>
                  <a:pt x="3133420" y="1544332"/>
                </a:lnTo>
                <a:lnTo>
                  <a:pt x="3133356" y="1545209"/>
                </a:lnTo>
                <a:lnTo>
                  <a:pt x="3133280" y="1546352"/>
                </a:lnTo>
                <a:lnTo>
                  <a:pt x="3133217" y="1547241"/>
                </a:lnTo>
                <a:lnTo>
                  <a:pt x="3135757" y="1550416"/>
                </a:lnTo>
                <a:lnTo>
                  <a:pt x="3237992" y="1558671"/>
                </a:lnTo>
                <a:lnTo>
                  <a:pt x="3237103" y="1556766"/>
                </a:lnTo>
                <a:lnTo>
                  <a:pt x="3196463" y="1468755"/>
                </a:lnTo>
                <a:lnTo>
                  <a:pt x="3194989" y="1465707"/>
                </a:lnTo>
                <a:lnTo>
                  <a:pt x="3195269" y="1465707"/>
                </a:lnTo>
                <a:lnTo>
                  <a:pt x="3191256" y="1464183"/>
                </a:lnTo>
                <a:lnTo>
                  <a:pt x="3187954" y="1465707"/>
                </a:lnTo>
                <a:lnTo>
                  <a:pt x="3184779" y="1467104"/>
                </a:lnTo>
                <a:lnTo>
                  <a:pt x="3183382" y="1470914"/>
                </a:lnTo>
                <a:lnTo>
                  <a:pt x="3184906" y="1474089"/>
                </a:lnTo>
                <a:lnTo>
                  <a:pt x="3212173" y="1532953"/>
                </a:lnTo>
                <a:lnTo>
                  <a:pt x="2312746" y="905002"/>
                </a:lnTo>
                <a:lnTo>
                  <a:pt x="2849994" y="684377"/>
                </a:lnTo>
                <a:lnTo>
                  <a:pt x="3231870" y="855560"/>
                </a:lnTo>
                <a:lnTo>
                  <a:pt x="3167507" y="862457"/>
                </a:lnTo>
                <a:lnTo>
                  <a:pt x="3163951" y="862711"/>
                </a:lnTo>
                <a:lnTo>
                  <a:pt x="3161411" y="865886"/>
                </a:lnTo>
                <a:lnTo>
                  <a:pt x="3162173" y="872871"/>
                </a:lnTo>
                <a:lnTo>
                  <a:pt x="3165348" y="875411"/>
                </a:lnTo>
                <a:lnTo>
                  <a:pt x="3261385" y="865124"/>
                </a:lnTo>
                <a:lnTo>
                  <a:pt x="3267329" y="864489"/>
                </a:lnTo>
                <a:lnTo>
                  <a:pt x="3209671" y="783844"/>
                </a:lnTo>
                <a:lnTo>
                  <a:pt x="3207639" y="781050"/>
                </a:lnTo>
                <a:lnTo>
                  <a:pt x="3203702" y="780415"/>
                </a:lnTo>
                <a:lnTo>
                  <a:pt x="3200781" y="782447"/>
                </a:lnTo>
                <a:lnTo>
                  <a:pt x="3197987" y="784479"/>
                </a:lnTo>
                <a:lnTo>
                  <a:pt x="3197352" y="788416"/>
                </a:lnTo>
                <a:lnTo>
                  <a:pt x="3199384" y="791337"/>
                </a:lnTo>
                <a:lnTo>
                  <a:pt x="3237103" y="844016"/>
                </a:lnTo>
                <a:lnTo>
                  <a:pt x="2866174" y="677735"/>
                </a:lnTo>
                <a:lnTo>
                  <a:pt x="3251466" y="519506"/>
                </a:lnTo>
                <a:lnTo>
                  <a:pt x="3212211" y="570865"/>
                </a:lnTo>
                <a:lnTo>
                  <a:pt x="3210052" y="573659"/>
                </a:lnTo>
                <a:lnTo>
                  <a:pt x="3210560" y="577596"/>
                </a:lnTo>
                <a:lnTo>
                  <a:pt x="3216148" y="581914"/>
                </a:lnTo>
                <a:lnTo>
                  <a:pt x="3220085" y="581406"/>
                </a:lnTo>
                <a:lnTo>
                  <a:pt x="3222244" y="578612"/>
                </a:lnTo>
                <a:lnTo>
                  <a:pt x="3282442" y="49987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24673" y="5358180"/>
            <a:ext cx="197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06508" y="5329224"/>
            <a:ext cx="170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714638"/>
            <a:ext cx="2477135" cy="276034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7E5F00"/>
                </a:solidFill>
                <a:latin typeface="Times New Roman"/>
                <a:cs typeface="Times New Roman"/>
              </a:rPr>
              <a:t>Reflexive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Irreflexive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Symmetric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Compatibility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BE9000"/>
                </a:solidFill>
                <a:latin typeface="Times New Roman"/>
                <a:cs typeface="Times New Roman"/>
              </a:rPr>
              <a:t>Antisymmetric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Transitive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2825" y="793242"/>
            <a:ext cx="529145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Properties</a:t>
            </a:r>
            <a:r>
              <a:rPr spc="-5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Binary</a:t>
            </a:r>
            <a:r>
              <a:rPr spc="-80" dirty="0"/>
              <a:t> </a:t>
            </a:r>
            <a:r>
              <a:rPr spc="-10" dirty="0"/>
              <a:t>Relations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216" y="204215"/>
            <a:ext cx="7663180" cy="4114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240"/>
              </a:lnSpc>
            </a:pPr>
            <a:r>
              <a:rPr dirty="0">
                <a:solidFill>
                  <a:srgbClr val="FFFFFF"/>
                </a:solidFill>
              </a:rPr>
              <a:t>Properties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spc="-114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Binary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193" y="851204"/>
            <a:ext cx="10807700" cy="430720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19"/>
              </a:spcBef>
              <a:tabLst>
                <a:tab pos="7165975" algn="l"/>
              </a:tabLst>
            </a:pPr>
            <a:r>
              <a:rPr sz="20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Reflexive:</a:t>
            </a:r>
            <a:r>
              <a:rPr sz="2000" b="1" u="sng" spc="-114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000" b="1" spc="-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binary</a:t>
            </a:r>
            <a:r>
              <a:rPr sz="2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relation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set</a:t>
            </a:r>
            <a:r>
              <a:rPr sz="2000" b="1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000" b="1" spc="-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is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reflexive</a:t>
            </a:r>
            <a:r>
              <a:rPr sz="20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if,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0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every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000" spc="40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A,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0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x,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i.e.,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25"/>
              </a:spcBef>
              <a:tabLst>
                <a:tab pos="661162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&lt;x,</a:t>
            </a:r>
            <a:r>
              <a:rPr sz="2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x&gt;</a:t>
            </a:r>
            <a:r>
              <a:rPr sz="2000" b="1" spc="4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000" spc="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R,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0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all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0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A.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reflexive</a:t>
            </a:r>
            <a:r>
              <a:rPr sz="20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2000" b="1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Cambria Math"/>
                <a:cs typeface="Cambria Math"/>
              </a:rPr>
              <a:t>⇔</a:t>
            </a:r>
            <a:r>
              <a:rPr sz="2000" spc="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(x)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(x</a:t>
            </a:r>
            <a:r>
              <a:rPr sz="2000" b="1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000" spc="409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0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x)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ts val="2280"/>
              </a:lnSpc>
              <a:spcBef>
                <a:spcPts val="790"/>
              </a:spcBef>
            </a:pP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Def:</a:t>
            </a:r>
            <a:r>
              <a:rPr sz="20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0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relation</a:t>
            </a:r>
            <a:r>
              <a:rPr sz="20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R</a:t>
            </a:r>
            <a:r>
              <a:rPr sz="2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on</a:t>
            </a:r>
            <a:r>
              <a:rPr sz="20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set</a:t>
            </a:r>
            <a:r>
              <a:rPr sz="2000" b="1" spc="-1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0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0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reflexive</a:t>
            </a:r>
            <a:r>
              <a:rPr sz="20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whenever</a:t>
            </a:r>
            <a:r>
              <a:rPr sz="2000" b="1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every</a:t>
            </a:r>
            <a:r>
              <a:rPr sz="20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element</a:t>
            </a:r>
            <a:r>
              <a:rPr sz="20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x</a:t>
            </a:r>
            <a:r>
              <a:rPr sz="20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000" b="1" spc="-1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000" b="1" spc="-11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0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related</a:t>
            </a:r>
            <a:r>
              <a:rPr sz="20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0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itself</a:t>
            </a:r>
            <a:r>
              <a:rPr sz="20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r>
              <a:rPr sz="20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R(</a:t>
            </a:r>
            <a:r>
              <a:rPr sz="20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i.e</a:t>
            </a:r>
            <a:r>
              <a:rPr sz="20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xRx,</a:t>
            </a:r>
            <a:endParaRPr sz="2000">
              <a:latin typeface="Times New Roman"/>
              <a:cs typeface="Times New Roman"/>
            </a:endParaRPr>
          </a:p>
          <a:p>
            <a:pPr marL="279400">
              <a:lnSpc>
                <a:spcPts val="2280"/>
              </a:lnSpc>
            </a:pP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0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all</a:t>
            </a:r>
            <a:r>
              <a:rPr sz="20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x</a:t>
            </a:r>
            <a:r>
              <a:rPr sz="2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Cambria Math"/>
                <a:cs typeface="Cambria Math"/>
              </a:rPr>
              <a:t>∈</a:t>
            </a:r>
            <a:r>
              <a:rPr sz="2000" spc="3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0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R)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45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Ex:</a:t>
            </a:r>
            <a:r>
              <a:rPr sz="20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Let</a:t>
            </a:r>
            <a:r>
              <a:rPr sz="2000" b="1" spc="-1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000" b="1" spc="-10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{1,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2,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4}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{&lt;1,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1&gt;,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&lt;2,</a:t>
            </a:r>
            <a:r>
              <a:rPr sz="20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2&gt;,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&lt;3,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3&gt;,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&lt;4,</a:t>
            </a:r>
            <a:r>
              <a:rPr sz="20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4&gt;}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R2</a:t>
            </a:r>
            <a:r>
              <a:rPr sz="2000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{&lt;1,</a:t>
            </a:r>
            <a:r>
              <a:rPr sz="2000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1&gt;,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&lt;2,</a:t>
            </a:r>
            <a:r>
              <a:rPr sz="2000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2&gt;,</a:t>
            </a:r>
            <a:r>
              <a:rPr sz="2000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&lt;3,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3&gt;}</a:t>
            </a:r>
            <a:r>
              <a:rPr sz="2000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Not</a:t>
            </a:r>
            <a:r>
              <a:rPr sz="2000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C55A11"/>
                </a:solidFill>
                <a:latin typeface="Times New Roman"/>
                <a:cs typeface="Times New Roman"/>
              </a:rPr>
              <a:t>Reflexive</a:t>
            </a:r>
            <a:endParaRPr sz="2000">
              <a:latin typeface="Times New Roman"/>
              <a:cs typeface="Times New Roman"/>
            </a:endParaRPr>
          </a:p>
          <a:p>
            <a:pPr marL="50800" marR="3186430">
              <a:lnSpc>
                <a:spcPts val="3170"/>
              </a:lnSpc>
              <a:spcBef>
                <a:spcPts val="210"/>
              </a:spcBef>
              <a:tabLst>
                <a:tab pos="2526030" algn="l"/>
              </a:tabLst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Note:</a:t>
            </a:r>
            <a:r>
              <a:rPr sz="20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</a:t>
            </a:r>
            <a:r>
              <a:rPr sz="2000" b="1" spc="-25" dirty="0">
                <a:latin typeface="Times New Roman"/>
                <a:cs typeface="Times New Roman"/>
              </a:rPr>
              <a:t>,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reflexive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numbers. NOTE:</a:t>
            </a:r>
            <a:endParaRPr sz="2000">
              <a:latin typeface="Times New Roman"/>
              <a:cs typeface="Times New Roman"/>
            </a:endParaRPr>
          </a:p>
          <a:p>
            <a:pPr marL="508000" indent="-457200">
              <a:lnSpc>
                <a:spcPct val="100000"/>
              </a:lnSpc>
              <a:spcBef>
                <a:spcPts val="535"/>
              </a:spcBef>
              <a:buAutoNum type="arabicParenR"/>
              <a:tabLst>
                <a:tab pos="508000" algn="l"/>
                <a:tab pos="6522084" algn="l"/>
              </a:tabLst>
            </a:pP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reflexive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relation,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all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main</a:t>
            </a:r>
            <a:r>
              <a:rPr sz="2000" b="1" dirty="0">
                <a:latin typeface="Times New Roman"/>
                <a:cs typeface="Times New Roman"/>
              </a:rPr>
              <a:t>	diagonal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</a:t>
            </a:r>
            <a:r>
              <a:rPr sz="2025" b="1" baseline="-20576" dirty="0">
                <a:latin typeface="Times New Roman"/>
                <a:cs typeface="Times New Roman"/>
              </a:rPr>
              <a:t>R</a:t>
            </a:r>
            <a:r>
              <a:rPr sz="2025" b="1" spc="135" baseline="-20576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equal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  <a:p>
            <a:pPr marL="508000" indent="-457200">
              <a:lnSpc>
                <a:spcPct val="100000"/>
              </a:lnSpc>
              <a:spcBef>
                <a:spcPts val="745"/>
              </a:spcBef>
              <a:buAutoNum type="arabicParenR"/>
              <a:tabLst>
                <a:tab pos="508000" algn="l"/>
              </a:tabLst>
            </a:pPr>
            <a:r>
              <a:rPr sz="2000" b="1" dirty="0">
                <a:latin typeface="Times New Roman"/>
                <a:cs typeface="Times New Roman"/>
              </a:rPr>
              <a:t>At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every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vertex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digraph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reflexive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there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must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cycle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length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0048" y="5245608"/>
            <a:ext cx="1463039" cy="1136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8274" y="1097026"/>
            <a:ext cx="11295380" cy="332486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210"/>
              </a:spcBef>
              <a:tabLst>
                <a:tab pos="10951210" algn="l"/>
              </a:tabLst>
            </a:pP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relation</a:t>
            </a:r>
            <a:r>
              <a:rPr sz="2400" b="1"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</a:t>
            </a:r>
            <a:r>
              <a:rPr sz="2400" b="1"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in</a:t>
            </a:r>
            <a:r>
              <a:rPr sz="24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set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Calibri"/>
                <a:cs typeface="Calibri"/>
              </a:rPr>
              <a:t>irreflexive</a:t>
            </a:r>
            <a:r>
              <a:rPr sz="2400" b="1" i="1" spc="-8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if,</a:t>
            </a:r>
            <a:r>
              <a:rPr sz="24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for</a:t>
            </a:r>
            <a:r>
              <a:rPr sz="24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every</a:t>
            </a:r>
            <a:r>
              <a:rPr sz="24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x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∈</a:t>
            </a:r>
            <a:r>
              <a:rPr sz="2400" spc="-5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A,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&lt;x,</a:t>
            </a:r>
            <a:r>
              <a:rPr sz="24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x&gt;</a:t>
            </a:r>
            <a:r>
              <a:rPr sz="2400" b="1" spc="-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R.</a:t>
            </a:r>
            <a:r>
              <a:rPr sz="2400" b="1"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</a:t>
            </a:r>
            <a:r>
              <a:rPr sz="2400" b="1"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irreflexive</a:t>
            </a:r>
            <a:r>
              <a:rPr sz="2400" b="1"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in</a:t>
            </a:r>
            <a:r>
              <a:rPr sz="24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4B24F3"/>
                </a:solidFill>
                <a:latin typeface="Cambria Math"/>
                <a:cs typeface="Cambria Math"/>
              </a:rPr>
              <a:t>⇔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	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(x)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(x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∈</a:t>
            </a:r>
            <a:r>
              <a:rPr sz="2400" spc="-1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→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x</a:t>
            </a:r>
            <a:r>
              <a:rPr sz="2400" b="1"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x)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85"/>
              </a:lnSpc>
            </a:pP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Def:</a:t>
            </a:r>
            <a:r>
              <a:rPr sz="2400" b="1"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relation</a:t>
            </a:r>
            <a:r>
              <a:rPr sz="2400" b="1" spc="-6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</a:t>
            </a:r>
            <a:r>
              <a:rPr sz="24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irreflexive</a:t>
            </a:r>
            <a:r>
              <a:rPr sz="2400" b="1"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if</a:t>
            </a:r>
            <a:r>
              <a:rPr sz="2400" b="1"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no</a:t>
            </a:r>
            <a:r>
              <a:rPr sz="2400" b="1" spc="-6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z="2400" b="1"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related</a:t>
            </a:r>
            <a:r>
              <a:rPr sz="2400" b="1"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itself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by</a:t>
            </a:r>
            <a:r>
              <a:rPr sz="24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R.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Ex: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Let</a:t>
            </a:r>
            <a:r>
              <a:rPr sz="24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{1,</a:t>
            </a:r>
            <a:r>
              <a:rPr sz="24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2,</a:t>
            </a:r>
            <a:r>
              <a:rPr sz="24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3,</a:t>
            </a:r>
            <a:r>
              <a:rPr sz="24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4}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R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{&lt;1,2&gt;,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&lt;1,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3&gt;,</a:t>
            </a:r>
            <a:r>
              <a:rPr sz="24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&lt;2,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3&gt;,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&lt;4,</a:t>
            </a:r>
            <a:r>
              <a:rPr sz="24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3&gt;,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&lt;3,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4&gt;,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&lt;2,</a:t>
            </a:r>
            <a:r>
              <a:rPr sz="24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4&gt;,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&lt;1,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4&gt;}</a:t>
            </a:r>
            <a:endParaRPr sz="2400">
              <a:latin typeface="Calibri"/>
              <a:cs typeface="Calibri"/>
            </a:endParaRPr>
          </a:p>
          <a:p>
            <a:pPr marL="12700" marR="62992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Ex: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relations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&lt;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irreflexive. NOTE: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matrix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irreflexive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relation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must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have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0’s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it’s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main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diagonal.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AutoNum type="arabicParenR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digraph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irreflexive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relation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cycle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length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vertex.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76400" y="313943"/>
            <a:ext cx="6952615" cy="4635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8575" rIns="0" bIns="0" rtlCol="0">
            <a:spAutoFit/>
          </a:bodyPr>
          <a:lstStyle/>
          <a:p>
            <a:pPr marL="66040" algn="ctr">
              <a:lnSpc>
                <a:spcPct val="100000"/>
              </a:lnSpc>
              <a:spcBef>
                <a:spcPts val="225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Irreflexive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78354" y="5023865"/>
          <a:ext cx="1424305" cy="1441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8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8020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R="24130" algn="r">
                        <a:lnSpc>
                          <a:spcPts val="2400"/>
                        </a:lnSpc>
                        <a:spcBef>
                          <a:spcPts val="55"/>
                        </a:spcBef>
                      </a:pP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761744" y="5020055"/>
            <a:ext cx="0" cy="1642745"/>
          </a:xfrm>
          <a:custGeom>
            <a:avLst/>
            <a:gdLst/>
            <a:ahLst/>
            <a:cxnLst/>
            <a:rect l="l" t="t" r="r" b="b"/>
            <a:pathLst>
              <a:path h="1642745">
                <a:moveTo>
                  <a:pt x="0" y="0"/>
                </a:moveTo>
                <a:lnTo>
                  <a:pt x="0" y="1642541"/>
                </a:lnTo>
              </a:path>
            </a:pathLst>
          </a:custGeom>
          <a:ln w="18288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2067" y="4963667"/>
            <a:ext cx="8890" cy="1727200"/>
          </a:xfrm>
          <a:custGeom>
            <a:avLst/>
            <a:gdLst/>
            <a:ahLst/>
            <a:cxnLst/>
            <a:rect l="l" t="t" r="r" b="b"/>
            <a:pathLst>
              <a:path w="8889" h="1727200">
                <a:moveTo>
                  <a:pt x="0" y="0"/>
                </a:moveTo>
                <a:lnTo>
                  <a:pt x="8509" y="1727199"/>
                </a:lnTo>
              </a:path>
            </a:pathLst>
          </a:custGeom>
          <a:ln w="1524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2011" y="905382"/>
            <a:ext cx="10160000" cy="3988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0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set</a:t>
            </a:r>
            <a:r>
              <a:rPr sz="2000" b="1" spc="-11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symmetric</a:t>
            </a:r>
            <a:r>
              <a:rPr sz="2000" b="1" i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if,</a:t>
            </a:r>
            <a:r>
              <a:rPr sz="20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0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every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000" b="1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A,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whenever</a:t>
            </a:r>
            <a:r>
              <a:rPr sz="20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 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y,</a:t>
            </a:r>
            <a:r>
              <a:rPr sz="20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0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all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  <a:spcBef>
                <a:spcPts val="25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x,y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B24F3"/>
                </a:solidFill>
                <a:latin typeface="Cambria Math"/>
                <a:cs typeface="Cambria Math"/>
              </a:rPr>
              <a:t>∈</a:t>
            </a:r>
            <a:r>
              <a:rPr sz="20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  <a:tabLst>
                <a:tab pos="6201410" algn="l"/>
              </a:tabLst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0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0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symmetric</a:t>
            </a:r>
            <a:r>
              <a:rPr sz="2000" b="1" spc="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000" b="1" spc="-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000" b="1" spc="-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EF"/>
                </a:solidFill>
                <a:latin typeface="Cambria Math"/>
                <a:cs typeface="Cambria Math"/>
              </a:rPr>
              <a:t>⇔</a:t>
            </a:r>
            <a:r>
              <a:rPr sz="2000" spc="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(x)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(y)</a:t>
            </a:r>
            <a:r>
              <a:rPr sz="20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x</a:t>
            </a:r>
            <a:r>
              <a:rPr sz="20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∈</a:t>
            </a:r>
            <a:r>
              <a:rPr sz="2000" spc="39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</a:t>
            </a:r>
            <a:r>
              <a:rPr sz="2000" b="1" spc="-1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EF"/>
                </a:solidFill>
                <a:latin typeface="Cambria Math"/>
                <a:cs typeface="Cambria Math"/>
              </a:rPr>
              <a:t>⋀</a:t>
            </a:r>
            <a:r>
              <a:rPr sz="2000" spc="1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∈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EF"/>
                </a:solidFill>
                <a:latin typeface="Cambria Math"/>
                <a:cs typeface="Cambria Math"/>
              </a:rPr>
              <a:t>⋀</a:t>
            </a:r>
            <a:r>
              <a:rPr sz="2000" spc="49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xR</a:t>
            </a:r>
            <a:r>
              <a:rPr sz="20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000" b="1" spc="4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AFEF"/>
                </a:solidFill>
                <a:latin typeface="Calibri"/>
                <a:cs typeface="Calibri"/>
              </a:rPr>
              <a:t>→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x)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Ex:</a:t>
            </a:r>
            <a:r>
              <a:rPr sz="20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Let</a:t>
            </a:r>
            <a:r>
              <a:rPr sz="2000" b="1" spc="-1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000" b="1" spc="-10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{1,</a:t>
            </a:r>
            <a:r>
              <a:rPr sz="20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2,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3,</a:t>
            </a:r>
            <a:r>
              <a:rPr sz="20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4}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R1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{&lt;1,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2&gt;,</a:t>
            </a:r>
            <a:r>
              <a:rPr sz="20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&lt;2,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1&gt;,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&lt;2,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3&gt;,</a:t>
            </a:r>
            <a:r>
              <a:rPr sz="20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&lt;3,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2&gt;,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&lt;3,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4&gt;,</a:t>
            </a:r>
            <a:r>
              <a:rPr sz="20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&lt;4,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3&gt;,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&lt;4,</a:t>
            </a:r>
            <a:r>
              <a:rPr sz="20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4&gt;}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R2=</a:t>
            </a:r>
            <a:r>
              <a:rPr sz="20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(1,2),(2,1),(1,3)}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R3</a:t>
            </a:r>
            <a:r>
              <a:rPr sz="2000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{&lt;1,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2&gt;,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&lt;2,</a:t>
            </a:r>
            <a:r>
              <a:rPr sz="2000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1&gt;,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&lt;2,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3&gt;,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&lt;3,</a:t>
            </a:r>
            <a:r>
              <a:rPr sz="2000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4&gt;,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&lt;4,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3&gt;,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55A11"/>
                </a:solidFill>
                <a:latin typeface="Times New Roman"/>
                <a:cs typeface="Times New Roman"/>
              </a:rPr>
              <a:t>&lt;4,</a:t>
            </a:r>
            <a:r>
              <a:rPr sz="2000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C55A11"/>
                </a:solidFill>
                <a:latin typeface="Times New Roman"/>
                <a:cs typeface="Times New Roman"/>
              </a:rPr>
              <a:t>4&gt;}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R1</a:t>
            </a:r>
            <a:r>
              <a:rPr sz="20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000" b="1" spc="-4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0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symmetric</a:t>
            </a:r>
            <a:r>
              <a:rPr sz="2000" b="1" spc="6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0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R2</a:t>
            </a:r>
            <a:r>
              <a:rPr sz="20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R3</a:t>
            </a:r>
            <a:r>
              <a:rPr sz="20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0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B24F3"/>
                </a:solidFill>
                <a:latin typeface="Times New Roman"/>
                <a:cs typeface="Times New Roman"/>
              </a:rPr>
              <a:t>not</a:t>
            </a:r>
            <a:r>
              <a:rPr sz="20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symmetric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Ex:</a:t>
            </a:r>
            <a:r>
              <a:rPr sz="20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symmetric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real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numbers.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NOTE: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relation</a:t>
            </a:r>
            <a:r>
              <a:rPr sz="2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which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symmetric</a:t>
            </a:r>
            <a:r>
              <a:rPr sz="2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called</a:t>
            </a:r>
            <a:r>
              <a:rPr sz="20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asymmetric.</a:t>
            </a:r>
            <a:endParaRPr sz="2000">
              <a:latin typeface="Times New Roman"/>
              <a:cs typeface="Times New Roman"/>
            </a:endParaRPr>
          </a:p>
          <a:p>
            <a:pPr marL="212725" indent="-204470">
              <a:lnSpc>
                <a:spcPct val="100000"/>
              </a:lnSpc>
              <a:buSzPct val="95000"/>
              <a:buFont typeface="Wingdings"/>
              <a:buChar char=""/>
              <a:tabLst>
                <a:tab pos="212725" algn="l"/>
              </a:tabLst>
            </a:pPr>
            <a:r>
              <a:rPr sz="2000" b="1" dirty="0">
                <a:latin typeface="Times New Roman"/>
                <a:cs typeface="Times New Roman"/>
              </a:rPr>
              <a:t>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symmetric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relation,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only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mij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r>
              <a:rPr sz="2000" b="1" spc="4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whenever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mji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  <a:p>
            <a:pPr marL="213360" indent="-204470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b="1" dirty="0">
                <a:latin typeface="Times New Roman"/>
                <a:cs typeface="Times New Roman"/>
              </a:rPr>
              <a:t>digraph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symmetric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edge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connecting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two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vertices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always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bi-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directed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edge.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79448" y="374904"/>
            <a:ext cx="7031990" cy="4603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73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15"/>
              </a:spcBef>
            </a:pPr>
            <a:r>
              <a:rPr sz="2400" spc="-10" dirty="0">
                <a:solidFill>
                  <a:srgbClr val="FFFFFF"/>
                </a:solidFill>
              </a:rPr>
              <a:t>Symmetric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4614671" y="5081015"/>
            <a:ext cx="3197860" cy="1649095"/>
            <a:chOff x="4614671" y="5081015"/>
            <a:chExt cx="3197860" cy="16490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4671" y="5215127"/>
              <a:ext cx="3029712" cy="15148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0111" y="5087111"/>
              <a:ext cx="1576070" cy="1637030"/>
            </a:xfrm>
            <a:custGeom>
              <a:avLst/>
              <a:gdLst/>
              <a:ahLst/>
              <a:cxnLst/>
              <a:rect l="l" t="t" r="r" b="b"/>
              <a:pathLst>
                <a:path w="1576070" h="1637029">
                  <a:moveTo>
                    <a:pt x="1575815" y="0"/>
                  </a:moveTo>
                  <a:lnTo>
                    <a:pt x="0" y="0"/>
                  </a:lnTo>
                  <a:lnTo>
                    <a:pt x="0" y="1636776"/>
                  </a:lnTo>
                  <a:lnTo>
                    <a:pt x="1575815" y="1636776"/>
                  </a:lnTo>
                  <a:lnTo>
                    <a:pt x="15758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30111" y="5087111"/>
              <a:ext cx="1576070" cy="1637030"/>
            </a:xfrm>
            <a:custGeom>
              <a:avLst/>
              <a:gdLst/>
              <a:ahLst/>
              <a:cxnLst/>
              <a:rect l="l" t="t" r="r" b="b"/>
              <a:pathLst>
                <a:path w="1576070" h="1637029">
                  <a:moveTo>
                    <a:pt x="0" y="1636776"/>
                  </a:moveTo>
                  <a:lnTo>
                    <a:pt x="1575815" y="1636776"/>
                  </a:lnTo>
                  <a:lnTo>
                    <a:pt x="1575815" y="0"/>
                  </a:lnTo>
                  <a:lnTo>
                    <a:pt x="0" y="0"/>
                  </a:lnTo>
                  <a:lnTo>
                    <a:pt x="0" y="163677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97735" y="399288"/>
            <a:ext cx="7007859" cy="4635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solidFill>
                  <a:srgbClr val="FFFFFF"/>
                </a:solidFill>
              </a:rPr>
              <a:t>Compatibility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823975" y="1149553"/>
            <a:ext cx="10483850" cy="5149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relation</a:t>
            </a:r>
            <a:r>
              <a:rPr sz="24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</a:t>
            </a:r>
            <a:r>
              <a:rPr sz="24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set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which</a:t>
            </a:r>
            <a:r>
              <a:rPr sz="24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both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reflexive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symmetric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called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compatibility</a:t>
            </a:r>
            <a:endParaRPr sz="2400">
              <a:latin typeface="Calibri"/>
              <a:cs typeface="Calibri"/>
            </a:endParaRPr>
          </a:p>
          <a:p>
            <a:pPr marL="12700" marR="882586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relation</a:t>
            </a:r>
            <a:r>
              <a:rPr sz="24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Ex: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A={1,2,3}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R1={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Calibri"/>
                <a:cs typeface="Calibri"/>
              </a:rPr>
              <a:t>(1,1),(2,2),(3,3),(1,3),(3,1)}</a:t>
            </a:r>
            <a:r>
              <a:rPr sz="2400" b="1" spc="-9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it</a:t>
            </a:r>
            <a:r>
              <a:rPr sz="24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have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Calibri"/>
                <a:cs typeface="Calibri"/>
              </a:rPr>
              <a:t>reflexive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Calibri"/>
                <a:cs typeface="Calibri"/>
              </a:rPr>
              <a:t>symmetric.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5"/>
              </a:spcBef>
            </a:pP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R2={(1,1),(2,2),(1,2),(2,1)}</a:t>
            </a:r>
            <a:r>
              <a:rPr sz="2400" b="1" spc="-7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it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does</a:t>
            </a:r>
            <a:r>
              <a:rPr sz="24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not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have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Calibri"/>
                <a:cs typeface="Calibri"/>
              </a:rPr>
              <a:t>reflexive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i.e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(3,3)</a:t>
            </a:r>
            <a:r>
              <a:rPr sz="2400" b="1" spc="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B24F3"/>
                </a:solidFill>
                <a:latin typeface="Symbol"/>
                <a:cs typeface="Symbol"/>
              </a:rPr>
              <a:t></a:t>
            </a:r>
            <a:r>
              <a:rPr sz="2400" b="1" spc="-25" dirty="0">
                <a:solidFill>
                  <a:srgbClr val="4B24F3"/>
                </a:solidFill>
                <a:latin typeface="Arial"/>
                <a:cs typeface="Arial"/>
              </a:rPr>
              <a:t>R2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R3={</a:t>
            </a:r>
            <a:r>
              <a:rPr sz="2400" b="1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Calibri"/>
                <a:cs typeface="Calibri"/>
              </a:rPr>
              <a:t>(1,1),(2,2),(3,3),(1,2),(2,3)}</a:t>
            </a:r>
            <a:r>
              <a:rPr sz="2400" b="1" spc="-10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it</a:t>
            </a:r>
            <a:r>
              <a:rPr sz="2400" b="1" spc="-4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does</a:t>
            </a:r>
            <a:r>
              <a:rPr sz="2400" b="1" spc="-4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not</a:t>
            </a:r>
            <a:r>
              <a:rPr sz="2400" b="1" spc="-4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have</a:t>
            </a:r>
            <a:r>
              <a:rPr sz="2400" b="1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symmetric i.e</a:t>
            </a:r>
            <a:r>
              <a:rPr sz="2400" b="1" spc="-4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(2,1),(3,2) </a:t>
            </a:r>
            <a:r>
              <a:rPr sz="2400" spc="-25" dirty="0">
                <a:solidFill>
                  <a:srgbClr val="538235"/>
                </a:solidFill>
                <a:latin typeface="Symbol"/>
                <a:cs typeface="Symbol"/>
              </a:rPr>
              <a:t></a:t>
            </a:r>
            <a:r>
              <a:rPr sz="2400" b="1" spc="-25" dirty="0">
                <a:solidFill>
                  <a:srgbClr val="538235"/>
                </a:solidFill>
                <a:latin typeface="Arial"/>
                <a:cs typeface="Arial"/>
              </a:rPr>
              <a:t>R3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R1</a:t>
            </a:r>
            <a:r>
              <a:rPr sz="2400" b="1" spc="-35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compatibility</a:t>
            </a:r>
            <a:r>
              <a:rPr sz="2400" b="1" spc="-110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relation</a:t>
            </a:r>
            <a:r>
              <a:rPr sz="2400" b="1" spc="-45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and</a:t>
            </a:r>
            <a:r>
              <a:rPr sz="2400" b="1" spc="-10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R2</a:t>
            </a:r>
            <a:r>
              <a:rPr sz="2400" b="1" spc="-35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R3</a:t>
            </a:r>
            <a:r>
              <a:rPr sz="2400" b="1" spc="-30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are</a:t>
            </a:r>
            <a:r>
              <a:rPr sz="2400" b="1" spc="-30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not</a:t>
            </a:r>
            <a:r>
              <a:rPr sz="2400" b="1" spc="-60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20000"/>
                </a:solidFill>
                <a:latin typeface="Calibri"/>
                <a:cs typeface="Calibri"/>
              </a:rPr>
              <a:t>compatibility</a:t>
            </a:r>
            <a:r>
              <a:rPr sz="2400" b="1" spc="-90" dirty="0">
                <a:solidFill>
                  <a:srgbClr val="92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920000"/>
                </a:solidFill>
                <a:latin typeface="Calibri"/>
                <a:cs typeface="Calibri"/>
              </a:rPr>
              <a:t>relation</a:t>
            </a:r>
            <a:r>
              <a:rPr sz="2400" b="1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b="1" spc="-10" dirty="0">
                <a:latin typeface="Calibri"/>
                <a:cs typeface="Calibri"/>
              </a:rPr>
              <a:t>NOTE: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matrix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compatibility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relation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must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have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1’s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main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diagonal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symmetric.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980948"/>
            <a:ext cx="8013065" cy="3013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90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0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set</a:t>
            </a:r>
            <a:r>
              <a:rPr sz="2000" b="1" spc="-11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antisymmetric</a:t>
            </a:r>
            <a:r>
              <a:rPr sz="2000" b="1" i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if,</a:t>
            </a:r>
            <a:r>
              <a:rPr sz="20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0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every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 y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000" b="1" spc="-11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A,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whenever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y.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990975" algn="l"/>
              </a:tabLst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0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antisymmetric</a:t>
            </a:r>
            <a:r>
              <a:rPr sz="2000" b="1" spc="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000" b="1" spc="-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⇔</a:t>
            </a:r>
            <a:r>
              <a:rPr sz="200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(x)</a:t>
            </a:r>
            <a:r>
              <a:rPr sz="20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(y)</a:t>
            </a:r>
            <a:r>
              <a:rPr sz="20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(x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000" spc="40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⋀</a:t>
            </a:r>
            <a:r>
              <a:rPr sz="2000" spc="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000" spc="-8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-1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⋀</a:t>
            </a:r>
            <a:r>
              <a:rPr sz="2000" spc="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⋀</a:t>
            </a:r>
            <a:r>
              <a:rPr sz="2000" spc="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→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y)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Ex1:</a:t>
            </a:r>
            <a:r>
              <a:rPr sz="20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A={1,2,3}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R1={(1,1),(2,2)}</a:t>
            </a:r>
            <a:r>
              <a:rPr sz="20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R2={(1,2),(2,1),(2,3)}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dirty="0">
                <a:latin typeface="Times New Roman"/>
                <a:cs typeface="Times New Roman"/>
              </a:rPr>
              <a:t>R1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symmetric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antisymmetric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Times New Roman"/>
                <a:cs typeface="Times New Roman"/>
              </a:rPr>
              <a:t>R2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neither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symmetric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antisymmetric.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NOTE: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Wingdings"/>
              <a:buChar char=""/>
              <a:tabLst>
                <a:tab pos="240665" algn="l"/>
                <a:tab pos="4131945" algn="l"/>
                <a:tab pos="5329555" algn="l"/>
              </a:tabLst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antisymmetric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only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mij</a:t>
            </a:r>
            <a:r>
              <a:rPr sz="2000" dirty="0">
                <a:latin typeface="Times New Roman"/>
                <a:cs typeface="Times New Roman"/>
              </a:rPr>
              <a:t>	=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mji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i≠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j.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01758" y="980948"/>
            <a:ext cx="22974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0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x,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012" y="4067047"/>
            <a:ext cx="9949180" cy="6038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5080" indent="-228600">
              <a:lnSpc>
                <a:spcPts val="2160"/>
              </a:lnSpc>
              <a:spcBef>
                <a:spcPts val="365"/>
              </a:spcBef>
              <a:buFont typeface="Wingdings"/>
              <a:buChar char=""/>
              <a:tabLst>
                <a:tab pos="241300" algn="l"/>
                <a:tab pos="952182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digraph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antysymmetric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 different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vertices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cannot</a:t>
            </a:r>
            <a:r>
              <a:rPr sz="2000" dirty="0">
                <a:latin typeface="Times New Roman"/>
                <a:cs typeface="Times New Roman"/>
              </a:rPr>
              <a:t>	be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bidirectional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45991" y="5532120"/>
            <a:ext cx="3426460" cy="1179830"/>
            <a:chOff x="3745991" y="5532120"/>
            <a:chExt cx="3426460" cy="1179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9143" y="5532120"/>
              <a:ext cx="3352800" cy="11734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52087" y="5571744"/>
              <a:ext cx="1582420" cy="1134110"/>
            </a:xfrm>
            <a:custGeom>
              <a:avLst/>
              <a:gdLst/>
              <a:ahLst/>
              <a:cxnLst/>
              <a:rect l="l" t="t" r="r" b="b"/>
              <a:pathLst>
                <a:path w="1582420" h="1134109">
                  <a:moveTo>
                    <a:pt x="1581912" y="0"/>
                  </a:moveTo>
                  <a:lnTo>
                    <a:pt x="0" y="0"/>
                  </a:lnTo>
                  <a:lnTo>
                    <a:pt x="0" y="1133855"/>
                  </a:lnTo>
                  <a:lnTo>
                    <a:pt x="1581912" y="1133855"/>
                  </a:lnTo>
                  <a:lnTo>
                    <a:pt x="158191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52087" y="5571744"/>
              <a:ext cx="1582420" cy="1134110"/>
            </a:xfrm>
            <a:custGeom>
              <a:avLst/>
              <a:gdLst/>
              <a:ahLst/>
              <a:cxnLst/>
              <a:rect l="l" t="t" r="r" b="b"/>
              <a:pathLst>
                <a:path w="1582420" h="1134109">
                  <a:moveTo>
                    <a:pt x="0" y="1133855"/>
                  </a:moveTo>
                  <a:lnTo>
                    <a:pt x="1581912" y="1133855"/>
                  </a:lnTo>
                  <a:lnTo>
                    <a:pt x="1581912" y="0"/>
                  </a:lnTo>
                  <a:lnTo>
                    <a:pt x="0" y="0"/>
                  </a:lnTo>
                  <a:lnTo>
                    <a:pt x="0" y="113385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42872" y="341375"/>
            <a:ext cx="7330440" cy="4603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6669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209"/>
              </a:spcBef>
            </a:pPr>
            <a:r>
              <a:rPr sz="2400" spc="-10" dirty="0">
                <a:solidFill>
                  <a:srgbClr val="FFFFFF"/>
                </a:solidFill>
              </a:rPr>
              <a:t>Antisymmetric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608" y="858392"/>
            <a:ext cx="10978515" cy="44627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indent="-228600">
              <a:lnSpc>
                <a:spcPts val="2300"/>
              </a:lnSpc>
              <a:spcBef>
                <a:spcPts val="660"/>
              </a:spcBef>
              <a:tabLst>
                <a:tab pos="10516235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set</a:t>
            </a:r>
            <a:r>
              <a:rPr sz="2400" b="1" spc="-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transitive</a:t>
            </a:r>
            <a:r>
              <a:rPr sz="2400" b="1" i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if,</a:t>
            </a:r>
            <a:r>
              <a:rPr sz="2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for</a:t>
            </a:r>
            <a:r>
              <a:rPr sz="2400" b="1" spc="-1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every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x,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y, and</a:t>
            </a:r>
            <a:r>
              <a:rPr sz="2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A,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whenever</a:t>
            </a:r>
            <a:r>
              <a:rPr sz="2400" b="1" spc="-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y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and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	y </a:t>
            </a:r>
            <a:r>
              <a:rPr sz="2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R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z,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then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z.</a:t>
            </a:r>
            <a:endParaRPr sz="2400">
              <a:latin typeface="Times New Roman"/>
              <a:cs typeface="Times New Roman"/>
            </a:endParaRPr>
          </a:p>
          <a:p>
            <a:pPr marL="12700" marR="810895">
              <a:lnSpc>
                <a:spcPct val="115100"/>
              </a:lnSpc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transitive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⇔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(x)</a:t>
            </a:r>
            <a:r>
              <a:rPr sz="2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(y) (z) (x</a:t>
            </a:r>
            <a:r>
              <a:rPr sz="2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y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-11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y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2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y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→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z)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Ex: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Let</a:t>
            </a:r>
            <a:r>
              <a:rPr sz="2400" b="1" spc="-1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400" b="1" spc="-1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{1,</a:t>
            </a:r>
            <a:r>
              <a:rPr sz="24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2,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3,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4}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{&lt;1,</a:t>
            </a:r>
            <a:r>
              <a:rPr sz="24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2&gt;,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&lt;2, 3&gt;,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&lt;1, 3&gt;,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&lt;1,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4&gt;,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&lt;3,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4&gt;,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&lt;2,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4&gt;}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409"/>
              </a:spcBef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(a,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b)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 &amp;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(b,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c)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(a,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c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)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434"/>
              </a:spcBef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2)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&amp;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3)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3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)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434"/>
              </a:spcBef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2)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&amp;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4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4)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4)</a:t>
            </a:r>
            <a:r>
              <a:rPr sz="24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3)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&amp;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4)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4)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430"/>
              </a:spcBef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3)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&amp;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4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4)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4)</a:t>
            </a:r>
            <a:r>
              <a:rPr sz="24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b="1" dirty="0">
                <a:latin typeface="Times New Roman"/>
                <a:cs typeface="Times New Roman"/>
              </a:rPr>
              <a:t>Note: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relations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&lt;,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&gt;,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transitive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real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numbers.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2872" y="341375"/>
            <a:ext cx="7330440" cy="521334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2800" spc="-10" dirty="0">
                <a:solidFill>
                  <a:srgbClr val="FFFFFF"/>
                </a:solidFill>
              </a:rPr>
              <a:t>Transitive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4961" y="1089193"/>
            <a:ext cx="9736455" cy="30530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Examples:</a:t>
            </a:r>
            <a:r>
              <a:rPr sz="20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(i).</a:t>
            </a:r>
            <a:r>
              <a:rPr sz="20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If</a:t>
            </a:r>
            <a:r>
              <a:rPr sz="20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000" b="1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1)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3)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(3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3)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}</a:t>
            </a:r>
            <a:r>
              <a:rPr sz="2000" b="1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relation</a:t>
            </a:r>
            <a:r>
              <a:rPr sz="20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on</a:t>
            </a:r>
            <a:r>
              <a:rPr sz="20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000" b="1" i="1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}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then</a:t>
            </a:r>
            <a:r>
              <a:rPr sz="2000" b="1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0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sz="2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0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reflexive</a:t>
            </a:r>
            <a:r>
              <a:rPr sz="20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relation,</a:t>
            </a:r>
            <a:r>
              <a:rPr sz="2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since</a:t>
            </a:r>
            <a:r>
              <a:rPr sz="20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2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every</a:t>
            </a:r>
            <a:r>
              <a:rPr sz="2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000" b="1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006FC0"/>
                </a:solidFill>
                <a:latin typeface="Malgun Gothic"/>
                <a:cs typeface="Malgun Gothic"/>
              </a:rPr>
              <a:t>∈</a:t>
            </a:r>
            <a:r>
              <a:rPr sz="2000" b="1" spc="-85" dirty="0">
                <a:solidFill>
                  <a:srgbClr val="006FC0"/>
                </a:solidFill>
                <a:latin typeface="Malgun Gothic"/>
                <a:cs typeface="Malgun Gothic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A,</a:t>
            </a:r>
            <a:r>
              <a:rPr sz="2000" b="1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x,</a:t>
            </a:r>
            <a:r>
              <a:rPr sz="2000" b="1" i="1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)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006FC0"/>
                </a:solidFill>
                <a:latin typeface="Malgun Gothic"/>
                <a:cs typeface="Malgun Gothic"/>
              </a:rPr>
              <a:t>∈</a:t>
            </a:r>
            <a:r>
              <a:rPr sz="2000" b="1" spc="-60" dirty="0">
                <a:solidFill>
                  <a:srgbClr val="006FC0"/>
                </a:solidFill>
                <a:latin typeface="Malgun Gothic"/>
                <a:cs typeface="Malgun Gothic"/>
              </a:rPr>
              <a:t> 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1.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000">
              <a:latin typeface="Arial"/>
              <a:cs typeface="Arial"/>
            </a:endParaRPr>
          </a:p>
          <a:p>
            <a:pPr marL="458470" indent="-445770">
              <a:lnSpc>
                <a:spcPct val="100000"/>
              </a:lnSpc>
              <a:buClr>
                <a:srgbClr val="000000"/>
              </a:buClr>
              <a:buAutoNum type="romanLcParenBoth" startAt="2"/>
              <a:tabLst>
                <a:tab pos="458470" algn="l"/>
              </a:tabLst>
            </a:pP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If</a:t>
            </a:r>
            <a:r>
              <a:rPr sz="2000" b="1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r>
              <a:rPr sz="2000" b="1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=</a:t>
            </a:r>
            <a:r>
              <a:rPr sz="2000" b="1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1)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3)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(3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3)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}</a:t>
            </a:r>
            <a:r>
              <a:rPr sz="2000" b="1" i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be</a:t>
            </a:r>
            <a:r>
              <a:rPr sz="2000" b="1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relation</a:t>
            </a:r>
            <a:r>
              <a:rPr sz="20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z="2000" b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2000" b="1" i="1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=</a:t>
            </a:r>
            <a:r>
              <a:rPr sz="2000" b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1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3</a:t>
            </a:r>
            <a:r>
              <a:rPr sz="2000" b="1" i="1" spc="-25" dirty="0">
                <a:solidFill>
                  <a:srgbClr val="00AF50"/>
                </a:solidFill>
                <a:latin typeface="Arial"/>
                <a:cs typeface="Arial"/>
              </a:rPr>
              <a:t>}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434"/>
              </a:spcBef>
            </a:pP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then</a:t>
            </a:r>
            <a:r>
              <a:rPr sz="2000" b="1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r>
              <a:rPr sz="20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2000" b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not</a:t>
            </a:r>
            <a:r>
              <a:rPr sz="20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20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reflexive</a:t>
            </a:r>
            <a:r>
              <a:rPr sz="2000" b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relation,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since</a:t>
            </a:r>
            <a:r>
              <a:rPr sz="2000" b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for</a:t>
            </a:r>
            <a:r>
              <a:rPr sz="2000" b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every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r>
              <a:rPr sz="2000" b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00AF50"/>
                </a:solidFill>
                <a:latin typeface="Malgun Gothic"/>
                <a:cs typeface="Malgun Gothic"/>
              </a:rPr>
              <a:t>∈</a:t>
            </a:r>
            <a:r>
              <a:rPr sz="2000" b="1" spc="-55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A,</a:t>
            </a:r>
            <a:r>
              <a:rPr sz="2000" b="1" i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2)</a:t>
            </a:r>
            <a:r>
              <a:rPr sz="2000" b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AF50"/>
                </a:solidFill>
                <a:latin typeface="Symbol"/>
                <a:cs typeface="Symbol"/>
              </a:rPr>
              <a:t></a:t>
            </a:r>
            <a:r>
              <a:rPr sz="2000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spc="-25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r>
              <a:rPr sz="2000" b="1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000">
              <a:latin typeface="Arial"/>
              <a:cs typeface="Arial"/>
            </a:endParaRPr>
          </a:p>
          <a:p>
            <a:pPr marL="528955" indent="-516255">
              <a:lnSpc>
                <a:spcPct val="100000"/>
              </a:lnSpc>
              <a:buAutoNum type="romanLcParenBoth" startAt="3"/>
              <a:tabLst>
                <a:tab pos="528955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If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1)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3)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1)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(3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1)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}</a:t>
            </a:r>
            <a:r>
              <a:rPr sz="2000" b="1" i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relation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i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2000" b="1" i="1" spc="-25" dirty="0">
                <a:solidFill>
                  <a:srgbClr val="C00000"/>
                </a:solidFill>
                <a:latin typeface="Arial"/>
                <a:cs typeface="Arial"/>
              </a:rPr>
              <a:t>}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then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symmetric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relation.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4961" y="4879924"/>
            <a:ext cx="79470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iv).</a:t>
            </a:r>
            <a:r>
              <a:rPr sz="2000" b="1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If</a:t>
            </a:r>
            <a:r>
              <a:rPr sz="20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4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0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3)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}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on</a:t>
            </a:r>
            <a:r>
              <a:rPr sz="20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000" b="1" i="1" spc="-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0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000" b="1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}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an</a:t>
            </a:r>
            <a:r>
              <a:rPr sz="20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Arial"/>
                <a:cs typeface="Arial"/>
              </a:rPr>
              <a:t>antisymmetric.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5085" y="571042"/>
            <a:ext cx="9991725" cy="5514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Example: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Given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b="1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2000" b="1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...,</a:t>
            </a:r>
            <a:r>
              <a:rPr sz="2000" b="1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r>
              <a:rPr sz="2000" b="1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relation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b="1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, where</a:t>
            </a:r>
            <a:r>
              <a:rPr sz="20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x,</a:t>
            </a:r>
            <a:r>
              <a:rPr sz="2000" b="1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|</a:t>
            </a:r>
            <a:r>
              <a:rPr sz="20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20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r>
              <a:rPr sz="2000" b="1" i="1" spc="-20" dirty="0">
                <a:solidFill>
                  <a:srgbClr val="FF0000"/>
                </a:solidFill>
                <a:latin typeface="Arial"/>
                <a:cs typeface="Arial"/>
              </a:rPr>
              <a:t>}.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properties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0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relation</a:t>
            </a:r>
            <a:r>
              <a:rPr sz="20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spc="-2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Solution:</a:t>
            </a:r>
            <a:r>
              <a:rPr sz="2000" b="1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Given</a:t>
            </a:r>
            <a:r>
              <a:rPr sz="2000" b="1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Arial"/>
                <a:cs typeface="Arial"/>
              </a:rPr>
              <a:t>that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S</a:t>
            </a:r>
            <a:r>
              <a:rPr sz="2000" b="1" i="1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=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1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 ...,</a:t>
            </a:r>
            <a:r>
              <a:rPr sz="2000" b="1" i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10</a:t>
            </a:r>
            <a:r>
              <a:rPr sz="2000" b="1" i="1" spc="-25" dirty="0">
                <a:solidFill>
                  <a:srgbClr val="00AF50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27432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=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x,</a:t>
            </a:r>
            <a:r>
              <a:rPr sz="20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y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|</a:t>
            </a:r>
            <a:r>
              <a:rPr sz="20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x</a:t>
            </a:r>
            <a:r>
              <a:rPr sz="2000" b="1" i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+</a:t>
            </a:r>
            <a:r>
              <a:rPr sz="2000" b="1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y</a:t>
            </a:r>
            <a:r>
              <a:rPr sz="20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=</a:t>
            </a:r>
            <a:r>
              <a:rPr sz="2000" b="1" spc="-25" dirty="0">
                <a:solidFill>
                  <a:srgbClr val="00AF50"/>
                </a:solidFill>
                <a:latin typeface="Arial"/>
                <a:cs typeface="Arial"/>
              </a:rPr>
              <a:t> 10</a:t>
            </a:r>
            <a:r>
              <a:rPr sz="2000" b="1" i="1" spc="-25" dirty="0">
                <a:solidFill>
                  <a:srgbClr val="00AF50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27432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{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9)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(9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1)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8)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(8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2)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(3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7)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(7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3)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(4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6)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(6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4)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(5</a:t>
            </a:r>
            <a:r>
              <a:rPr sz="2000" b="1" i="1" dirty="0">
                <a:solidFill>
                  <a:srgbClr val="00AF50"/>
                </a:solidFill>
                <a:latin typeface="Arial"/>
                <a:cs typeface="Arial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Arial"/>
                <a:cs typeface="Arial"/>
              </a:rPr>
              <a:t>5)</a:t>
            </a:r>
            <a:r>
              <a:rPr sz="2000" b="1" i="1" spc="-20" dirty="0">
                <a:solidFill>
                  <a:srgbClr val="00AF50"/>
                </a:solidFill>
                <a:latin typeface="Arial"/>
                <a:cs typeface="Arial"/>
              </a:rPr>
              <a:t>}</a:t>
            </a:r>
            <a:r>
              <a:rPr sz="2000" b="1" spc="-20" dirty="0">
                <a:solidFill>
                  <a:srgbClr val="00AF5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035"/>
              </a:spcBef>
              <a:buAutoNum type="romanLcParenBoth"/>
              <a:tabLst>
                <a:tab pos="388620" algn="l"/>
              </a:tabLst>
            </a:pP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For</a:t>
            </a:r>
            <a:r>
              <a:rPr sz="2000" b="1" spc="-6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any</a:t>
            </a:r>
            <a:r>
              <a:rPr sz="2000" b="1" spc="-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BE9000"/>
                </a:solidFill>
                <a:latin typeface="Arial"/>
                <a:cs typeface="Arial"/>
              </a:rPr>
              <a:t>x</a:t>
            </a:r>
            <a:r>
              <a:rPr sz="2000" b="1" i="1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BE9000"/>
                </a:solidFill>
                <a:latin typeface="Malgun Gothic"/>
                <a:cs typeface="Malgun Gothic"/>
              </a:rPr>
              <a:t>∈</a:t>
            </a:r>
            <a:r>
              <a:rPr sz="2000" b="1" spc="-60" dirty="0">
                <a:solidFill>
                  <a:srgbClr val="BE9000"/>
                </a:solidFill>
                <a:latin typeface="Malgun Gothic"/>
                <a:cs typeface="Malgun Gothic"/>
              </a:rPr>
              <a:t> </a:t>
            </a:r>
            <a:r>
              <a:rPr sz="2000" b="1" i="1" dirty="0">
                <a:solidFill>
                  <a:srgbClr val="BE9000"/>
                </a:solidFill>
                <a:latin typeface="Arial"/>
                <a:cs typeface="Arial"/>
              </a:rPr>
              <a:t>S</a:t>
            </a:r>
            <a:r>
              <a:rPr sz="2000" b="1" i="1" spc="-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(</a:t>
            </a:r>
            <a:r>
              <a:rPr sz="2000" b="1" i="1" dirty="0">
                <a:solidFill>
                  <a:srgbClr val="BE9000"/>
                </a:solidFill>
                <a:latin typeface="Arial"/>
                <a:cs typeface="Arial"/>
              </a:rPr>
              <a:t>x,</a:t>
            </a:r>
            <a:r>
              <a:rPr sz="2000" b="1" i="1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BE9000"/>
                </a:solidFill>
                <a:latin typeface="Arial"/>
                <a:cs typeface="Arial"/>
              </a:rPr>
              <a:t>x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)</a:t>
            </a:r>
            <a:r>
              <a:rPr sz="20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BE9000"/>
                </a:solidFill>
                <a:latin typeface="Symbol"/>
                <a:cs typeface="Symbol"/>
              </a:rPr>
              <a:t></a:t>
            </a:r>
            <a:r>
              <a:rPr sz="2000" b="1" i="1" dirty="0">
                <a:solidFill>
                  <a:srgbClr val="BE9000"/>
                </a:solidFill>
                <a:latin typeface="Arial"/>
                <a:cs typeface="Arial"/>
              </a:rPr>
              <a:t>R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.</a:t>
            </a:r>
            <a:r>
              <a:rPr sz="2000" b="1" spc="-4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Here,</a:t>
            </a:r>
            <a:r>
              <a:rPr sz="2000" b="1" spc="-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1</a:t>
            </a:r>
            <a:r>
              <a:rPr sz="2000" b="1" spc="-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BE9000"/>
                </a:solidFill>
                <a:latin typeface="Malgun Gothic"/>
                <a:cs typeface="Malgun Gothic"/>
              </a:rPr>
              <a:t>∈</a:t>
            </a:r>
            <a:r>
              <a:rPr sz="2000" b="1" spc="-85" dirty="0">
                <a:solidFill>
                  <a:srgbClr val="BE9000"/>
                </a:solidFill>
                <a:latin typeface="Malgun Gothic"/>
                <a:cs typeface="Malgun Gothic"/>
              </a:rPr>
              <a:t> </a:t>
            </a:r>
            <a:r>
              <a:rPr sz="2000" b="1" i="1" dirty="0">
                <a:solidFill>
                  <a:srgbClr val="BE9000"/>
                </a:solidFill>
                <a:latin typeface="Arial"/>
                <a:cs typeface="Arial"/>
              </a:rPr>
              <a:t>S</a:t>
            </a:r>
            <a:r>
              <a:rPr sz="2000" b="1" i="1" spc="-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but</a:t>
            </a:r>
            <a:r>
              <a:rPr sz="20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E9000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BE9000"/>
                </a:solidFill>
                <a:latin typeface="Arial"/>
                <a:cs typeface="Arial"/>
              </a:rPr>
              <a:t>,</a:t>
            </a:r>
            <a:r>
              <a:rPr sz="2000" b="1" i="1" spc="-4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BE9000"/>
                </a:solidFill>
                <a:latin typeface="Arial"/>
                <a:cs typeface="Arial"/>
              </a:rPr>
              <a:t>1)</a:t>
            </a:r>
            <a:r>
              <a:rPr sz="2000" spc="-10" dirty="0">
                <a:solidFill>
                  <a:srgbClr val="BE9000"/>
                </a:solidFill>
                <a:latin typeface="Symbol"/>
                <a:cs typeface="Symbol"/>
              </a:rPr>
              <a:t></a:t>
            </a:r>
            <a:r>
              <a:rPr sz="2000" b="1" i="1" spc="-10" dirty="0">
                <a:solidFill>
                  <a:srgbClr val="BE9000"/>
                </a:solidFill>
                <a:latin typeface="Arial"/>
                <a:cs typeface="Arial"/>
              </a:rPr>
              <a:t>R</a:t>
            </a:r>
            <a:r>
              <a:rPr sz="2000" b="1" spc="-10" dirty="0">
                <a:solidFill>
                  <a:srgbClr val="BE9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relation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R</a:t>
            </a:r>
            <a:r>
              <a:rPr sz="2000" b="1" i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reflexive</a:t>
            </a:r>
            <a:r>
              <a:rPr sz="2000" b="1" dirty="0">
                <a:latin typeface="Arial"/>
                <a:cs typeface="Arial"/>
              </a:rPr>
              <a:t>.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It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also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irreflexive</a:t>
            </a:r>
            <a:r>
              <a:rPr sz="2000" b="1" dirty="0">
                <a:latin typeface="Arial"/>
                <a:cs typeface="Arial"/>
              </a:rPr>
              <a:t>,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since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(5</a:t>
            </a:r>
            <a:r>
              <a:rPr sz="2000" b="1" i="1" dirty="0">
                <a:latin typeface="Arial"/>
                <a:cs typeface="Arial"/>
              </a:rPr>
              <a:t>,</a:t>
            </a:r>
            <a:r>
              <a:rPr sz="2000" b="1" i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5)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420" dirty="0">
                <a:latin typeface="Malgun Gothic"/>
                <a:cs typeface="Malgun Gothic"/>
              </a:rPr>
              <a:t>∈</a:t>
            </a:r>
            <a:r>
              <a:rPr sz="2000" b="1" spc="-80" dirty="0">
                <a:latin typeface="Malgun Gothic"/>
                <a:cs typeface="Malgun Gothic"/>
              </a:rPr>
              <a:t> </a:t>
            </a:r>
            <a:r>
              <a:rPr sz="2000" b="1" i="1" spc="-25" dirty="0">
                <a:latin typeface="Arial"/>
                <a:cs typeface="Arial"/>
              </a:rPr>
              <a:t>R</a:t>
            </a:r>
            <a:r>
              <a:rPr sz="2000" b="1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59105" indent="-446405">
              <a:lnSpc>
                <a:spcPct val="100000"/>
              </a:lnSpc>
              <a:spcBef>
                <a:spcPts val="1205"/>
              </a:spcBef>
              <a:buAutoNum type="romanLcParenBoth" startAt="2"/>
              <a:tabLst>
                <a:tab pos="459105" algn="l"/>
                <a:tab pos="3384550" algn="l"/>
              </a:tabLst>
            </a:pP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4A2BD4"/>
                </a:solidFill>
                <a:latin typeface="Arial"/>
                <a:cs typeface="Arial"/>
              </a:rPr>
              <a:t>,</a:t>
            </a:r>
            <a:r>
              <a:rPr sz="2000" b="1" i="1" spc="-50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9)</a:t>
            </a:r>
            <a:r>
              <a:rPr sz="2000" b="1" spc="-5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4A2BD4"/>
                </a:solidFill>
                <a:latin typeface="Malgun Gothic"/>
                <a:cs typeface="Malgun Gothic"/>
              </a:rPr>
              <a:t>∈</a:t>
            </a:r>
            <a:r>
              <a:rPr sz="2000" b="1" spc="-80" dirty="0">
                <a:solidFill>
                  <a:srgbClr val="4A2BD4"/>
                </a:solidFill>
                <a:latin typeface="Malgun Gothic"/>
                <a:cs typeface="Malgun Gothic"/>
              </a:rPr>
              <a:t> </a:t>
            </a:r>
            <a:r>
              <a:rPr sz="2000" b="1" i="1" dirty="0">
                <a:solidFill>
                  <a:srgbClr val="4A2BD4"/>
                </a:solidFill>
                <a:latin typeface="Arial"/>
                <a:cs typeface="Arial"/>
              </a:rPr>
              <a:t>R</a:t>
            </a:r>
            <a:r>
              <a:rPr sz="2000" b="1" i="1" spc="10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spc="-145" dirty="0">
                <a:solidFill>
                  <a:srgbClr val="4A2BD4"/>
                </a:solidFill>
                <a:latin typeface="Malgun Gothic"/>
                <a:cs typeface="Malgun Gothic"/>
              </a:rPr>
              <a:t>⇒</a:t>
            </a:r>
            <a:r>
              <a:rPr sz="2000" b="1" spc="-80" dirty="0">
                <a:solidFill>
                  <a:srgbClr val="4A2BD4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(9</a:t>
            </a:r>
            <a:r>
              <a:rPr sz="2000" b="1" i="1" dirty="0">
                <a:solidFill>
                  <a:srgbClr val="4A2BD4"/>
                </a:solidFill>
                <a:latin typeface="Arial"/>
                <a:cs typeface="Arial"/>
              </a:rPr>
              <a:t>,</a:t>
            </a:r>
            <a:r>
              <a:rPr sz="2000" b="1" i="1" spc="-20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1)</a:t>
            </a:r>
            <a:r>
              <a:rPr sz="2000" b="1" spc="-5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4A2BD4"/>
                </a:solidFill>
                <a:latin typeface="Malgun Gothic"/>
                <a:cs typeface="Malgun Gothic"/>
              </a:rPr>
              <a:t>∈</a:t>
            </a:r>
            <a:r>
              <a:rPr sz="2000" b="1" spc="-55" dirty="0">
                <a:solidFill>
                  <a:srgbClr val="4A2BD4"/>
                </a:solidFill>
                <a:latin typeface="Malgun Gothic"/>
                <a:cs typeface="Malgun Gothic"/>
              </a:rPr>
              <a:t> </a:t>
            </a:r>
            <a:r>
              <a:rPr sz="2000" b="1" i="1" spc="-50" dirty="0">
                <a:solidFill>
                  <a:srgbClr val="4A2BD4"/>
                </a:solidFill>
                <a:latin typeface="Arial"/>
                <a:cs typeface="Arial"/>
              </a:rPr>
              <a:t>R</a:t>
            </a:r>
            <a:r>
              <a:rPr sz="2000" b="1" i="1" dirty="0">
                <a:solidFill>
                  <a:srgbClr val="4A2BD4"/>
                </a:solidFill>
                <a:latin typeface="Arial"/>
                <a:cs typeface="Arial"/>
              </a:rPr>
              <a:t>	</a:t>
            </a: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(2</a:t>
            </a:r>
            <a:r>
              <a:rPr sz="2000" b="1" i="1" dirty="0">
                <a:solidFill>
                  <a:srgbClr val="4A2BD4"/>
                </a:solidFill>
                <a:latin typeface="Arial"/>
                <a:cs typeface="Arial"/>
              </a:rPr>
              <a:t>,</a:t>
            </a:r>
            <a:r>
              <a:rPr sz="2000" b="1" i="1" spc="-60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8)</a:t>
            </a:r>
            <a:r>
              <a:rPr sz="2000" b="1" spc="-35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4A2BD4"/>
                </a:solidFill>
                <a:latin typeface="Malgun Gothic"/>
                <a:cs typeface="Malgun Gothic"/>
              </a:rPr>
              <a:t>∈</a:t>
            </a:r>
            <a:r>
              <a:rPr sz="2000" b="1" spc="-55" dirty="0">
                <a:solidFill>
                  <a:srgbClr val="4A2BD4"/>
                </a:solidFill>
                <a:latin typeface="Malgun Gothic"/>
                <a:cs typeface="Malgun Gothic"/>
              </a:rPr>
              <a:t> </a:t>
            </a:r>
            <a:r>
              <a:rPr sz="2000" b="1" i="1" dirty="0">
                <a:solidFill>
                  <a:srgbClr val="4A2BD4"/>
                </a:solidFill>
                <a:latin typeface="Arial"/>
                <a:cs typeface="Arial"/>
              </a:rPr>
              <a:t>R</a:t>
            </a:r>
            <a:r>
              <a:rPr sz="2000" b="1" i="1" spc="-15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4A2BD4"/>
                </a:solidFill>
                <a:latin typeface="Malgun Gothic"/>
                <a:cs typeface="Malgun Gothic"/>
              </a:rPr>
              <a:t>⇒</a:t>
            </a:r>
            <a:r>
              <a:rPr sz="2000" b="1" spc="-55" dirty="0">
                <a:solidFill>
                  <a:srgbClr val="4A2BD4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(8</a:t>
            </a:r>
            <a:r>
              <a:rPr sz="2000" b="1" i="1" dirty="0">
                <a:solidFill>
                  <a:srgbClr val="4A2BD4"/>
                </a:solidFill>
                <a:latin typeface="Arial"/>
                <a:cs typeface="Arial"/>
              </a:rPr>
              <a:t>,</a:t>
            </a:r>
            <a:r>
              <a:rPr sz="2000" b="1" i="1" spc="-15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A2BD4"/>
                </a:solidFill>
                <a:latin typeface="Arial"/>
                <a:cs typeface="Arial"/>
              </a:rPr>
              <a:t>2)</a:t>
            </a:r>
            <a:r>
              <a:rPr sz="2000" b="1" spc="-10" dirty="0">
                <a:solidFill>
                  <a:srgbClr val="4A2BD4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4A2BD4"/>
                </a:solidFill>
                <a:latin typeface="Malgun Gothic"/>
                <a:cs typeface="Malgun Gothic"/>
              </a:rPr>
              <a:t>∈</a:t>
            </a:r>
            <a:r>
              <a:rPr sz="2000" b="1" spc="-55" dirty="0">
                <a:solidFill>
                  <a:srgbClr val="4A2BD4"/>
                </a:solidFill>
                <a:latin typeface="Malgun Gothic"/>
                <a:cs typeface="Malgun Gothic"/>
              </a:rPr>
              <a:t> </a:t>
            </a:r>
            <a:r>
              <a:rPr sz="2000" b="1" i="1" spc="-20" dirty="0">
                <a:solidFill>
                  <a:srgbClr val="4A2BD4"/>
                </a:solidFill>
                <a:latin typeface="Arial"/>
                <a:cs typeface="Arial"/>
              </a:rPr>
              <a:t>R…..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relation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symmetric</a:t>
            </a:r>
            <a:r>
              <a:rPr sz="2000" b="1" dirty="0">
                <a:latin typeface="Arial"/>
                <a:cs typeface="Arial"/>
              </a:rPr>
              <a:t>,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but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antisymmetric</a:t>
            </a:r>
            <a:r>
              <a:rPr sz="2000" b="1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528955" indent="-516255">
              <a:lnSpc>
                <a:spcPct val="100000"/>
              </a:lnSpc>
              <a:spcBef>
                <a:spcPts val="1035"/>
              </a:spcBef>
              <a:buAutoNum type="romanLcParenBoth" startAt="3"/>
              <a:tabLst>
                <a:tab pos="528955" algn="l"/>
                <a:tab pos="3515360" algn="l"/>
              </a:tabLst>
            </a:pPr>
            <a:r>
              <a:rPr sz="2000" b="1" dirty="0">
                <a:solidFill>
                  <a:srgbClr val="538235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538235"/>
                </a:solidFill>
                <a:latin typeface="Arial"/>
                <a:cs typeface="Arial"/>
              </a:rPr>
              <a:t>,</a:t>
            </a:r>
            <a:r>
              <a:rPr sz="2000" b="1" i="1" spc="-5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235"/>
                </a:solidFill>
                <a:latin typeface="Arial"/>
                <a:cs typeface="Arial"/>
              </a:rPr>
              <a:t>9)</a:t>
            </a:r>
            <a:r>
              <a:rPr sz="2000" b="1" spc="-3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538235"/>
                </a:solidFill>
                <a:latin typeface="Malgun Gothic"/>
                <a:cs typeface="Malgun Gothic"/>
              </a:rPr>
              <a:t>∈</a:t>
            </a:r>
            <a:r>
              <a:rPr sz="2000" b="1" spc="-55" dirty="0">
                <a:solidFill>
                  <a:srgbClr val="538235"/>
                </a:solidFill>
                <a:latin typeface="Malgun Gothic"/>
                <a:cs typeface="Malgun Gothic"/>
              </a:rPr>
              <a:t> </a:t>
            </a:r>
            <a:r>
              <a:rPr sz="2000" b="1" i="1" dirty="0">
                <a:solidFill>
                  <a:srgbClr val="538235"/>
                </a:solidFill>
                <a:latin typeface="Arial"/>
                <a:cs typeface="Arial"/>
              </a:rPr>
              <a:t>R</a:t>
            </a:r>
            <a:r>
              <a:rPr sz="2000" b="1" i="1" spc="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235"/>
                </a:solidFill>
                <a:latin typeface="Arial"/>
                <a:cs typeface="Arial"/>
              </a:rPr>
              <a:t>and</a:t>
            </a:r>
            <a:r>
              <a:rPr sz="2000" b="1" spc="-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235"/>
                </a:solidFill>
                <a:latin typeface="Arial"/>
                <a:cs typeface="Arial"/>
              </a:rPr>
              <a:t>(9</a:t>
            </a:r>
            <a:r>
              <a:rPr sz="2000" b="1" i="1" dirty="0">
                <a:solidFill>
                  <a:srgbClr val="538235"/>
                </a:solidFill>
                <a:latin typeface="Arial"/>
                <a:cs typeface="Arial"/>
              </a:rPr>
              <a:t>,</a:t>
            </a:r>
            <a:r>
              <a:rPr sz="2000" b="1" i="1" spc="-2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235"/>
                </a:solidFill>
                <a:latin typeface="Arial"/>
                <a:cs typeface="Arial"/>
              </a:rPr>
              <a:t>1)</a:t>
            </a:r>
            <a:r>
              <a:rPr sz="2000" b="1" spc="-1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538235"/>
                </a:solidFill>
                <a:latin typeface="Malgun Gothic"/>
                <a:cs typeface="Malgun Gothic"/>
              </a:rPr>
              <a:t>∈</a:t>
            </a:r>
            <a:r>
              <a:rPr sz="2000" b="1" spc="-80" dirty="0">
                <a:solidFill>
                  <a:srgbClr val="538235"/>
                </a:solidFill>
                <a:latin typeface="Malgun Gothic"/>
                <a:cs typeface="Malgun Gothic"/>
              </a:rPr>
              <a:t> </a:t>
            </a:r>
            <a:r>
              <a:rPr sz="2000" b="1" i="1" spc="-50" dirty="0">
                <a:solidFill>
                  <a:srgbClr val="538235"/>
                </a:solidFill>
                <a:latin typeface="Arial"/>
                <a:cs typeface="Arial"/>
              </a:rPr>
              <a:t>R</a:t>
            </a:r>
            <a:r>
              <a:rPr sz="2000" b="1" i="1" dirty="0">
                <a:solidFill>
                  <a:srgbClr val="538235"/>
                </a:solidFill>
                <a:latin typeface="Arial"/>
                <a:cs typeface="Arial"/>
              </a:rPr>
              <a:t>	</a:t>
            </a:r>
            <a:r>
              <a:rPr sz="2000" b="1" spc="-140" dirty="0">
                <a:solidFill>
                  <a:srgbClr val="538235"/>
                </a:solidFill>
                <a:latin typeface="Malgun Gothic"/>
                <a:cs typeface="Malgun Gothic"/>
              </a:rPr>
              <a:t>⇒</a:t>
            </a:r>
            <a:r>
              <a:rPr sz="2000" b="1" spc="-55" dirty="0">
                <a:solidFill>
                  <a:srgbClr val="5382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538235"/>
                </a:solidFill>
                <a:latin typeface="Arial"/>
                <a:cs typeface="Arial"/>
              </a:rPr>
              <a:t>(1</a:t>
            </a:r>
            <a:r>
              <a:rPr sz="2000" b="1" i="1" dirty="0">
                <a:solidFill>
                  <a:srgbClr val="538235"/>
                </a:solidFill>
                <a:latin typeface="Arial"/>
                <a:cs typeface="Arial"/>
              </a:rPr>
              <a:t>,</a:t>
            </a:r>
            <a:r>
              <a:rPr sz="2000" b="1" i="1" spc="-3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235"/>
                </a:solidFill>
                <a:latin typeface="Arial"/>
                <a:cs typeface="Arial"/>
              </a:rPr>
              <a:t>1)</a:t>
            </a:r>
            <a:r>
              <a:rPr sz="2000" b="1" spc="-1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38235"/>
                </a:solidFill>
                <a:latin typeface="Symbol"/>
                <a:cs typeface="Symbol"/>
              </a:rPr>
              <a:t></a:t>
            </a:r>
            <a:r>
              <a:rPr sz="2000" b="1" i="1" spc="-25" dirty="0">
                <a:solidFill>
                  <a:srgbClr val="538235"/>
                </a:solidFill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relation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R</a:t>
            </a:r>
            <a:r>
              <a:rPr sz="2000" b="1" i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transitive</a:t>
            </a:r>
            <a:r>
              <a:rPr sz="2000" b="1" dirty="0">
                <a:latin typeface="Arial"/>
                <a:cs typeface="Arial"/>
              </a:rPr>
              <a:t>.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Hence,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R</a:t>
            </a:r>
            <a:r>
              <a:rPr sz="2000" b="1" i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AFEF"/>
                </a:solidFill>
                <a:latin typeface="Arial"/>
                <a:cs typeface="Arial"/>
              </a:rPr>
              <a:t>symmetric</a:t>
            </a:r>
            <a:r>
              <a:rPr sz="2000" b="1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600" y="319580"/>
            <a:ext cx="11108055" cy="38773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Exercises: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17500" algn="l"/>
                <a:tab pos="9750425" algn="l"/>
              </a:tabLst>
            </a:pPr>
            <a:r>
              <a:rPr sz="2400" spc="-10" dirty="0">
                <a:latin typeface="Times New Roman"/>
                <a:cs typeface="Times New Roman"/>
              </a:rPr>
              <a:t>Let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A={1,2,3},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R={(1,1),(1,2),(3,2),(2,3),(3,3)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reflexive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irreflexive.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17500" algn="l"/>
                <a:tab pos="874394" algn="l"/>
              </a:tabLst>
            </a:pPr>
            <a:r>
              <a:rPr sz="2400" spc="-25" dirty="0">
                <a:latin typeface="Times New Roman"/>
                <a:cs typeface="Times New Roman"/>
              </a:rPr>
              <a:t>Let</a:t>
            </a:r>
            <a:r>
              <a:rPr sz="2400" dirty="0">
                <a:latin typeface="Times New Roman"/>
                <a:cs typeface="Times New Roman"/>
              </a:rPr>
              <a:t>	R={(1,1),(2,2),(2,3),(3,2),(4,2)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,(4,4)}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s={(1,3),(1,1),(3,1),(1,2),(3,3),(4,4)}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725"/>
              </a:spcBef>
            </a:pPr>
            <a:r>
              <a:rPr sz="2400" dirty="0">
                <a:latin typeface="Times New Roman"/>
                <a:cs typeface="Times New Roman"/>
              </a:rPr>
              <a:t>relations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A={1,2,3,4}</a:t>
            </a:r>
            <a:endParaRPr sz="2400">
              <a:latin typeface="Times New Roman"/>
              <a:cs typeface="Times New Roman"/>
            </a:endParaRPr>
          </a:p>
          <a:p>
            <a:pPr marL="469265" lvl="1" indent="-456565">
              <a:lnSpc>
                <a:spcPct val="100000"/>
              </a:lnSpc>
              <a:spcBef>
                <a:spcPts val="700"/>
              </a:spcBef>
              <a:buAutoNum type="alphaLcParenR"/>
              <a:tabLst>
                <a:tab pos="469265" algn="l"/>
              </a:tabLst>
            </a:pPr>
            <a:r>
              <a:rPr sz="2400" spc="-30" dirty="0">
                <a:latin typeface="Times New Roman"/>
                <a:cs typeface="Times New Roman"/>
              </a:rPr>
              <a:t>Verify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i)reflexive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ii)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Symmetric iii)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Transitive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iv)</a:t>
            </a:r>
            <a:r>
              <a:rPr sz="2400" spc="-10" dirty="0">
                <a:latin typeface="Times New Roman"/>
                <a:cs typeface="Times New Roman"/>
              </a:rPr>
              <a:t> antisymmetric</a:t>
            </a:r>
            <a:endParaRPr sz="2400">
              <a:latin typeface="Times New Roman"/>
              <a:cs typeface="Times New Roman"/>
            </a:endParaRPr>
          </a:p>
          <a:p>
            <a:pPr marL="469900" marR="236854" lvl="1" indent="-457200">
              <a:lnSpc>
                <a:spcPts val="2590"/>
              </a:lnSpc>
              <a:spcBef>
                <a:spcPts val="1050"/>
              </a:spcBef>
              <a:buAutoNum type="alphaLcParenR"/>
              <a:tabLst>
                <a:tab pos="469900" algn="l"/>
                <a:tab pos="2161540" algn="l"/>
              </a:tabLst>
            </a:pP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reflexive,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irreflexive,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Symmetric,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asymmetric,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antisymmetric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transitive.</a:t>
            </a:r>
            <a:r>
              <a:rPr sz="2400" dirty="0">
                <a:latin typeface="Times New Roman"/>
                <a:cs typeface="Times New Roman"/>
              </a:rPr>
              <a:t>	{Ans: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None}</a:t>
            </a:r>
            <a:endParaRPr sz="2400">
              <a:latin typeface="Times New Roman"/>
              <a:cs typeface="Times New Roman"/>
            </a:endParaRPr>
          </a:p>
          <a:p>
            <a:pPr marL="469900" marR="956310" indent="-457200">
              <a:lnSpc>
                <a:spcPts val="2590"/>
              </a:lnSpc>
              <a:spcBef>
                <a:spcPts val="1015"/>
              </a:spcBef>
              <a:tabLst>
                <a:tab pos="3208020" algn="l"/>
                <a:tab pos="5423535" algn="l"/>
                <a:tab pos="8077200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Verify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</a:t>
            </a:r>
            <a:r>
              <a:rPr sz="2400" dirty="0">
                <a:latin typeface="Times New Roman"/>
                <a:cs typeface="Times New Roman"/>
              </a:rPr>
              <a:t>	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matrix</a:t>
            </a:r>
            <a:r>
              <a:rPr sz="2400" dirty="0">
                <a:latin typeface="Times New Roman"/>
                <a:cs typeface="Times New Roman"/>
              </a:rPr>
              <a:t>	is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irreflexive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Symmetric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8550" y="4298765"/>
          <a:ext cx="2675890" cy="1694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675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471C4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75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75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2675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baseline="-20833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6350">
                      <a:solidFill>
                        <a:srgbClr val="4471C4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4471C4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675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4471C4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75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75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2675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R w="6350">
                      <a:solidFill>
                        <a:srgbClr val="4471C4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085" rIns="0" bIns="0" rtlCol="0">
            <a:spAutoFit/>
          </a:bodyPr>
          <a:lstStyle/>
          <a:p>
            <a:pPr marL="286766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Equivalence</a:t>
            </a:r>
            <a:r>
              <a:rPr sz="2900" spc="-65" dirty="0"/>
              <a:t> </a:t>
            </a:r>
            <a:r>
              <a:rPr sz="2900" spc="-10" dirty="0"/>
              <a:t>Relations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557885" y="1047064"/>
            <a:ext cx="11525885" cy="476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relation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in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set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called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an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equivalence</a:t>
            </a:r>
            <a:r>
              <a:rPr sz="2400" b="1" spc="-7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relation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if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it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reflexive,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symmetric</a:t>
            </a:r>
            <a:r>
              <a:rPr sz="2400" b="1" spc="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40"/>
              </a:lnSpc>
            </a:pP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transitive.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  <a:spcBef>
                <a:spcPts val="69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X =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{1,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4}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==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{(1,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(1,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(2,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1), (2,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(3, 4),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(4,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3),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(3,3),(4,4)}.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Verify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equivalence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b="1" dirty="0">
                <a:latin typeface="Times New Roman"/>
                <a:cs typeface="Times New Roman"/>
              </a:rPr>
              <a:t>Sol: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have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show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reflexive,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symmetric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transitive.</a:t>
            </a:r>
            <a:endParaRPr sz="2400">
              <a:latin typeface="Times New Roman"/>
              <a:cs typeface="Times New Roman"/>
            </a:endParaRPr>
          </a:p>
          <a:p>
            <a:pPr marL="585470" indent="-572770">
              <a:lnSpc>
                <a:spcPts val="2735"/>
              </a:lnSpc>
              <a:spcBef>
                <a:spcPts val="720"/>
              </a:spcBef>
              <a:buAutoNum type="romanLcParenR"/>
              <a:tabLst>
                <a:tab pos="585470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We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note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all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 1),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2),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(3,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3),(4,4)}</a:t>
            </a:r>
            <a:r>
              <a:rPr sz="24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belong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R.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i.e,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(a,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a)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4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all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400" spc="-1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  <a:p>
            <a:pPr marL="585470">
              <a:lnSpc>
                <a:spcPts val="2735"/>
              </a:lnSpc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Therefore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reflexive</a:t>
            </a:r>
            <a:r>
              <a:rPr sz="2400" b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585470" marR="141605" indent="-573405">
              <a:lnSpc>
                <a:spcPts val="2590"/>
              </a:lnSpc>
              <a:spcBef>
                <a:spcPts val="1025"/>
              </a:spcBef>
              <a:buAutoNum type="romanLcParenR" startAt="2"/>
              <a:tabLst>
                <a:tab pos="585470" algn="l"/>
                <a:tab pos="1826260" algn="l"/>
              </a:tabLst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(1,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2),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(2,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1)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spc="2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(3,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4),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(4,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3)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spc="2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That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is,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whenever</a:t>
            </a:r>
            <a:r>
              <a:rPr sz="2400" b="1" spc="-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(a,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b)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(b,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a)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for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a,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spc="-11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A.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	Therefore</a:t>
            </a:r>
            <a:r>
              <a:rPr sz="24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symmetric</a:t>
            </a:r>
            <a:r>
              <a:rPr sz="24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518159" indent="-505459">
              <a:lnSpc>
                <a:spcPts val="2705"/>
              </a:lnSpc>
              <a:spcBef>
                <a:spcPts val="685"/>
              </a:spcBef>
              <a:buClr>
                <a:srgbClr val="00AFEF"/>
              </a:buClr>
              <a:buAutoNum type="romanLcParenR" startAt="2"/>
              <a:tabLst>
                <a:tab pos="518159" algn="l"/>
              </a:tabLst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Lastly,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we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note</a:t>
            </a:r>
            <a:r>
              <a:rPr sz="24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that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1),(1,1)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∈</a:t>
            </a:r>
            <a:r>
              <a:rPr sz="2400" spc="1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R,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1),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(1,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2)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∈</a:t>
            </a:r>
            <a:r>
              <a:rPr sz="2400" spc="1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R,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(4, 3),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3),(4,3)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C55A11"/>
                </a:solidFill>
                <a:latin typeface="Cambria Math"/>
                <a:cs typeface="Cambria Math"/>
              </a:rPr>
              <a:t>∈</a:t>
            </a:r>
            <a:endParaRPr sz="2400">
              <a:latin typeface="Cambria Math"/>
              <a:cs typeface="Cambria Math"/>
            </a:endParaRPr>
          </a:p>
          <a:p>
            <a:pPr marL="585470">
              <a:lnSpc>
                <a:spcPts val="3185"/>
              </a:lnSpc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i.e,</a:t>
            </a:r>
            <a:r>
              <a:rPr sz="28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if</a:t>
            </a:r>
            <a:r>
              <a:rPr sz="28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whenever</a:t>
            </a:r>
            <a:r>
              <a:rPr sz="28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(a,</a:t>
            </a:r>
            <a:r>
              <a:rPr sz="2800" b="1" spc="-8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b)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∈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8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sz="28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(b, c)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∈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8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then</a:t>
            </a:r>
            <a:r>
              <a:rPr sz="28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(a,</a:t>
            </a:r>
            <a:r>
              <a:rPr sz="28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c)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∈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R,</a:t>
            </a:r>
            <a:r>
              <a:rPr sz="28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for</a:t>
            </a:r>
            <a:r>
              <a:rPr sz="2800" b="1" spc="-8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a,</a:t>
            </a:r>
            <a:r>
              <a:rPr sz="28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55A11"/>
                </a:solidFill>
                <a:latin typeface="Times New Roman"/>
                <a:cs typeface="Times New Roman"/>
              </a:rPr>
              <a:t>b,c</a:t>
            </a:r>
            <a:r>
              <a:rPr sz="28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C55A11"/>
                </a:solidFill>
                <a:latin typeface="Cambria Math"/>
                <a:cs typeface="Cambria Math"/>
              </a:rPr>
              <a:t>∈</a:t>
            </a:r>
            <a:r>
              <a:rPr sz="28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A.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Therefore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Times New Roman"/>
                <a:cs typeface="Times New Roman"/>
              </a:rPr>
              <a:t>transitive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relation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955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Transitive</a:t>
            </a:r>
            <a:r>
              <a:rPr spc="-114" dirty="0"/>
              <a:t> </a:t>
            </a:r>
            <a:r>
              <a:rPr spc="-10" dirty="0"/>
              <a:t>Closure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6327" y="990337"/>
            <a:ext cx="11118850" cy="50088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5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Let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any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finite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X.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EF"/>
                </a:solidFill>
                <a:latin typeface="Times New Roman"/>
                <a:cs typeface="Times New Roman"/>
              </a:rPr>
              <a:t>+</a:t>
            </a:r>
            <a:r>
              <a:rPr sz="2400" b="1" spc="292" baseline="243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∪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EF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∪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EF"/>
                </a:solidFill>
                <a:latin typeface="Times New Roman"/>
                <a:cs typeface="Times New Roman"/>
              </a:rPr>
              <a:t>3</a:t>
            </a:r>
            <a:r>
              <a:rPr sz="2400" b="1" spc="179" baseline="243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∪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·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·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·</a:t>
            </a:r>
            <a:r>
              <a:rPr sz="2400" spc="-20" dirty="0">
                <a:solidFill>
                  <a:srgbClr val="00AFEF"/>
                </a:solidFill>
                <a:latin typeface="Cambria Math"/>
                <a:cs typeface="Cambria Math"/>
              </a:rPr>
              <a:t>∪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30" baseline="24305" dirty="0">
                <a:solidFill>
                  <a:srgbClr val="00AFEF"/>
                </a:solidFill>
                <a:latin typeface="Times New Roman"/>
                <a:cs typeface="Times New Roman"/>
              </a:rPr>
              <a:t>n</a:t>
            </a:r>
            <a:endParaRPr sz="2400" baseline="24305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45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called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transitive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closure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X.</a:t>
            </a:r>
            <a:endParaRPr sz="2400">
              <a:latin typeface="Times New Roman"/>
              <a:cs typeface="Times New Roman"/>
            </a:endParaRPr>
          </a:p>
          <a:p>
            <a:pPr marL="25400" marR="572770">
              <a:lnSpc>
                <a:spcPts val="3020"/>
              </a:lnSpc>
              <a:spcBef>
                <a:spcPts val="10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Let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relation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{(1,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2),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(2,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3),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(3,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3)}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{1,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2,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3}.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transitive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closure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R?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5"/>
              </a:spcBef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Solution:</a:t>
            </a:r>
            <a:r>
              <a:rPr sz="2400" b="1" spc="-5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Given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2),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(3,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3)}.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transitive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closure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 R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400" b="1" spc="26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</a:t>
            </a:r>
            <a:r>
              <a:rPr sz="2400" spc="3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spc="29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</a:t>
            </a:r>
            <a:r>
              <a:rPr sz="240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3</a:t>
            </a:r>
            <a:r>
              <a:rPr sz="2400" b="1" spc="300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</a:t>
            </a:r>
            <a:r>
              <a:rPr sz="2400" spc="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·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·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· =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R= {(1,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2),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(3,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3)}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5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spc="284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1, 2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),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(2,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),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BE9000"/>
                </a:solidFill>
                <a:latin typeface="Times New Roman"/>
                <a:cs typeface="Times New Roman"/>
              </a:rPr>
              <a:t>3, 3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)}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◦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2),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2,</a:t>
            </a:r>
            <a:r>
              <a:rPr sz="2400" b="1" spc="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3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),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3,</a:t>
            </a:r>
            <a:r>
              <a:rPr sz="2400" b="1" u="sng" spc="-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)}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1, 3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),(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2, 3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),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(3,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3)}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4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3</a:t>
            </a:r>
            <a:r>
              <a:rPr sz="2400" b="1" spc="29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spc="254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◦ R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 3),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 (3,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3)}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4</a:t>
            </a:r>
            <a:r>
              <a:rPr sz="2400" b="1" spc="29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3</a:t>
            </a:r>
            <a:r>
              <a:rPr sz="2400" b="1" spc="254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◦ R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 3),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 (3,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3)}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4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400" b="1" spc="26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spc="29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</a:t>
            </a:r>
            <a:r>
              <a:rPr sz="2400" spc="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3</a:t>
            </a:r>
            <a:r>
              <a:rPr sz="2400" b="1" spc="247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</a:t>
            </a:r>
            <a:r>
              <a:rPr sz="2400" spc="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4</a:t>
            </a:r>
            <a:r>
              <a:rPr sz="2400" b="1" spc="29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14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{(1, 2),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3), (3,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3)}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</a:t>
            </a:r>
            <a:r>
              <a:rPr sz="2400" spc="3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 3),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 (3,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3)}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</a:t>
            </a:r>
            <a:r>
              <a:rPr sz="240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(3, 3)}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∪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12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{(1,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2),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(1,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(2,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3),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(3,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3)}.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Therefore</a:t>
            </a:r>
            <a:r>
              <a:rPr sz="2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R+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{(1,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2),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(1,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3),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(2,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3),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(3,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3)}.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144" rIns="0" bIns="0" rtlCol="0">
            <a:spAutoFit/>
          </a:bodyPr>
          <a:lstStyle/>
          <a:p>
            <a:pPr marL="317119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Partial</a:t>
            </a:r>
            <a:r>
              <a:rPr sz="2800" spc="-40" dirty="0"/>
              <a:t> </a:t>
            </a:r>
            <a:r>
              <a:rPr sz="2800" spc="-10" dirty="0"/>
              <a:t>Ordering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17244" y="1089532"/>
            <a:ext cx="10714990" cy="504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10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binary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set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partial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order</a:t>
            </a:r>
            <a:r>
              <a:rPr sz="24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partial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ordering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iff</a:t>
            </a:r>
            <a:r>
              <a:rPr sz="2400" b="1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reflexive,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antisymmetric,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transitive.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i.e.,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aRa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for</a:t>
            </a:r>
            <a:r>
              <a:rPr sz="2400" b="1" spc="-6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all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A2BD4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4A2BD4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P</a:t>
            </a:r>
            <a:r>
              <a:rPr sz="2400" b="1" spc="-1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(reflexive)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aRb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bRa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⇒</a:t>
            </a:r>
            <a:r>
              <a:rPr sz="2400" spc="1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(antisymmetric)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aRb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bRc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⇒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aRc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(transitive)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set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P</a:t>
            </a:r>
            <a:r>
              <a:rPr sz="2400" b="1" spc="-1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together</a:t>
            </a:r>
            <a:r>
              <a:rPr sz="2400" b="1" spc="-6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with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partial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ordering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called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partial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ordered</a:t>
            </a:r>
            <a:r>
              <a:rPr sz="24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set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or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poset.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210820" algn="just">
              <a:lnSpc>
                <a:spcPct val="124600"/>
              </a:lnSpc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relation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often</a:t>
            </a:r>
            <a:r>
              <a:rPr sz="24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denoted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by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symbol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≤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which</a:t>
            </a:r>
            <a:r>
              <a:rPr sz="2400" b="1" spc="-5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diﬀerent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from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usual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less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than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equal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to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symbol.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Thus,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if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≤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partial</a:t>
            </a:r>
            <a:r>
              <a:rPr sz="24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order</a:t>
            </a:r>
            <a:r>
              <a:rPr sz="24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in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P</a:t>
            </a:r>
            <a:r>
              <a:rPr sz="2400" b="1" spc="-1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,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then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ordered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pair </a:t>
            </a:r>
            <a:r>
              <a:rPr sz="24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(P,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≤)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called</a:t>
            </a:r>
            <a:r>
              <a:rPr sz="24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poset.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(P,R)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9241" y="371789"/>
            <a:ext cx="10779760" cy="112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2400" dirty="0">
                <a:latin typeface="Calibri"/>
                <a:cs typeface="Calibri"/>
              </a:rPr>
              <a:t>Example: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A={1,2,3,4}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xRy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(exactly)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prove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(A,R)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poset.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241" y="1446288"/>
            <a:ext cx="10699750" cy="4989195"/>
          </a:xfrm>
          <a:prstGeom prst="rect">
            <a:avLst/>
          </a:prstGeom>
        </p:spPr>
        <p:txBody>
          <a:bodyPr vert="horz" wrap="square" lIns="0" tIns="206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R={(x,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y)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|x,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y</a:t>
            </a:r>
            <a:r>
              <a:rPr sz="2500" spc="-3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500" spc="-9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i="1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divides</a:t>
            </a:r>
            <a:r>
              <a:rPr sz="24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420"/>
              </a:spcBef>
            </a:pP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i="1" spc="-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{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(1,1),(1,2),(1,3),(1,4),(2,2),(2,4),(3,3),(4,4)}</a:t>
            </a:r>
            <a:endParaRPr sz="240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445"/>
              </a:spcBef>
              <a:buFont typeface="Times New Roman"/>
              <a:buAutoNum type="arabicParenR"/>
              <a:tabLst>
                <a:tab pos="418465" algn="l"/>
              </a:tabLst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(a,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a)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4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every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,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therefore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reflexive.</a:t>
            </a:r>
            <a:endParaRPr sz="2400">
              <a:latin typeface="Times New Roman"/>
              <a:cs typeface="Times New Roman"/>
            </a:endParaRPr>
          </a:p>
          <a:p>
            <a:pPr marL="317500" marR="290830" indent="-305435">
              <a:lnSpc>
                <a:spcPct val="150000"/>
              </a:lnSpc>
              <a:buAutoNum type="arabicParenR"/>
              <a:tabLst>
                <a:tab pos="317500" algn="l"/>
                <a:tab pos="32766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Elements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such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(a,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b)</a:t>
            </a:r>
            <a:r>
              <a:rPr sz="2400" b="1" spc="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R</a:t>
            </a:r>
            <a:r>
              <a:rPr sz="2400" b="1" spc="-9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and</a:t>
            </a:r>
            <a:r>
              <a:rPr sz="2400" b="1" spc="-5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(b,</a:t>
            </a:r>
            <a:r>
              <a:rPr sz="24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a)</a:t>
            </a:r>
            <a:r>
              <a:rPr sz="2400" b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∈</a:t>
            </a:r>
            <a:r>
              <a:rPr sz="2400" spc="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R,</a:t>
            </a:r>
            <a:r>
              <a:rPr sz="2400" b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then</a:t>
            </a:r>
            <a:r>
              <a:rPr sz="24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a=b.</a:t>
            </a:r>
            <a:r>
              <a:rPr sz="2400" b="1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therefore,</a:t>
            </a:r>
            <a:r>
              <a:rPr sz="24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R</a:t>
            </a:r>
            <a:r>
              <a:rPr sz="2400" b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is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antisymmetric</a:t>
            </a:r>
            <a:r>
              <a:rPr sz="2400" b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on</a:t>
            </a:r>
            <a:r>
              <a:rPr sz="2400" b="1" spc="-1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40360" marR="178435" indent="-328295">
              <a:lnSpc>
                <a:spcPct val="150100"/>
              </a:lnSpc>
              <a:buClr>
                <a:srgbClr val="00AF50"/>
              </a:buClr>
              <a:buAutoNum type="arabicParenR"/>
              <a:tabLst>
                <a:tab pos="375285" algn="l"/>
              </a:tabLst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Elements</a:t>
            </a:r>
            <a:r>
              <a:rPr sz="2400" b="1" spc="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are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such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that</a:t>
            </a:r>
            <a:r>
              <a:rPr sz="2400" b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(a,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b)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400" b="1" spc="-5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(b,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c)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400" b="1" spc="-7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then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(a,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c)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∈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R.</a:t>
            </a:r>
            <a:r>
              <a:rPr sz="2400" b="1" spc="-7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therefore, 	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transitive</a:t>
            </a:r>
            <a:r>
              <a:rPr sz="2400" b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on</a:t>
            </a:r>
            <a:r>
              <a:rPr sz="2400" b="1" spc="-15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  <a:p>
            <a:pPr marL="317500" marR="5080">
              <a:lnSpc>
                <a:spcPct val="150100"/>
              </a:lnSpc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So,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reflexive,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antisymmetric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transitive.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Hence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partial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order</a:t>
            </a:r>
            <a:r>
              <a:rPr sz="2400" b="1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A;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(A,R)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poset.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4346" y="661542"/>
            <a:ext cx="10763250" cy="51574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665" marR="5080" indent="-22860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Show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relation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“greater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than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equal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to”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partial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ordering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on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integers</a:t>
            </a:r>
            <a:r>
              <a:rPr sz="2400" b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Solution: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Let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Z</a:t>
            </a:r>
            <a:r>
              <a:rPr sz="24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set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all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integers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′≥′</a:t>
            </a:r>
            <a:endParaRPr sz="2400">
              <a:latin typeface="Times New Roman"/>
              <a:cs typeface="Times New Roman"/>
            </a:endParaRPr>
          </a:p>
          <a:p>
            <a:pPr marL="604520" indent="-591820">
              <a:lnSpc>
                <a:spcPct val="100000"/>
              </a:lnSpc>
              <a:spcBef>
                <a:spcPts val="720"/>
              </a:spcBef>
              <a:buAutoNum type="romanLcParenBoth"/>
              <a:tabLst>
                <a:tab pos="604520" algn="l"/>
              </a:tabLst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Since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≥</a:t>
            </a:r>
            <a:r>
              <a:rPr sz="2400" b="1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sz="2400" b="1" spc="-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every</a:t>
            </a:r>
            <a:r>
              <a:rPr sz="24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integer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′</a:t>
            </a:r>
            <a:r>
              <a:rPr sz="2400" b="1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≥′</a:t>
            </a:r>
            <a:r>
              <a:rPr sz="2400" b="1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reflexive</a:t>
            </a:r>
            <a:r>
              <a:rPr sz="2400" b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12775" indent="-600075">
              <a:lnSpc>
                <a:spcPct val="100000"/>
              </a:lnSpc>
              <a:spcBef>
                <a:spcPts val="720"/>
              </a:spcBef>
              <a:buAutoNum type="romanLcParenBoth"/>
              <a:tabLst>
                <a:tab pos="612775" algn="l"/>
              </a:tabLst>
            </a:pP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and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b</a:t>
            </a:r>
            <a:r>
              <a:rPr sz="2400" b="1" i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be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any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two</a:t>
            </a:r>
            <a:r>
              <a:rPr sz="2400" b="1" spc="-10" dirty="0">
                <a:solidFill>
                  <a:srgbClr val="920000"/>
                </a:solidFill>
                <a:latin typeface="Times New Roman"/>
                <a:cs typeface="Times New Roman"/>
              </a:rPr>
              <a:t> integers.</a:t>
            </a:r>
            <a:endParaRPr sz="24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aRb</a:t>
            </a:r>
            <a:r>
              <a:rPr sz="2400" b="1" i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bRa</a:t>
            </a:r>
            <a:r>
              <a:rPr sz="2400" b="1" i="1" spc="-2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920000"/>
                </a:solidFill>
                <a:latin typeface="Cambria Math"/>
                <a:cs typeface="Cambria Math"/>
              </a:rPr>
              <a:t>⇒</a:t>
            </a:r>
            <a:r>
              <a:rPr sz="2500" spc="-5" dirty="0">
                <a:solidFill>
                  <a:srgbClr val="920000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≥</a:t>
            </a:r>
            <a:r>
              <a:rPr sz="2400" b="1" i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b</a:t>
            </a:r>
            <a:r>
              <a:rPr sz="2400" b="1" i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b</a:t>
            </a:r>
            <a:r>
              <a:rPr sz="2400" b="1" i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≥</a:t>
            </a:r>
            <a:r>
              <a:rPr sz="2400" b="1" i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920000"/>
                </a:solidFill>
                <a:latin typeface="Cambria Math"/>
                <a:cs typeface="Cambria Math"/>
              </a:rPr>
              <a:t>⇒</a:t>
            </a:r>
            <a:r>
              <a:rPr sz="2500" spc="-5" dirty="0">
                <a:solidFill>
                  <a:srgbClr val="920000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=</a:t>
            </a:r>
            <a:r>
              <a:rPr sz="2400" b="1" spc="-4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9200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700"/>
              </a:spcBef>
              <a:tabLst>
                <a:tab pos="3024505" algn="l"/>
              </a:tabLst>
            </a:pPr>
            <a:r>
              <a:rPr sz="2400" dirty="0">
                <a:solidFill>
                  <a:srgbClr val="920000"/>
                </a:solidFill>
                <a:latin typeface="Cambria Math"/>
                <a:cs typeface="Cambria Math"/>
              </a:rPr>
              <a:t>∴</a:t>
            </a:r>
            <a:r>
              <a:rPr sz="2400" spc="-30" dirty="0">
                <a:solidFill>
                  <a:srgbClr val="92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relation 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′</a:t>
            </a:r>
            <a:r>
              <a:rPr sz="2400" b="1" i="1" spc="-25" dirty="0">
                <a:solidFill>
                  <a:srgbClr val="920000"/>
                </a:solidFill>
                <a:latin typeface="Times New Roman"/>
                <a:cs typeface="Times New Roman"/>
              </a:rPr>
              <a:t> ≥′</a:t>
            </a:r>
            <a:r>
              <a:rPr sz="2400" b="1" i="1" dirty="0">
                <a:solidFill>
                  <a:srgbClr val="920000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is</a:t>
            </a:r>
            <a:r>
              <a:rPr sz="2400" b="1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920000"/>
                </a:solidFill>
                <a:latin typeface="Times New Roman"/>
                <a:cs typeface="Times New Roman"/>
              </a:rPr>
              <a:t>antisymmetric.</a:t>
            </a:r>
            <a:endParaRPr sz="2400">
              <a:latin typeface="Times New Roman"/>
              <a:cs typeface="Times New Roman"/>
            </a:endParaRPr>
          </a:p>
          <a:p>
            <a:pPr marL="694690" indent="-681990">
              <a:lnSpc>
                <a:spcPct val="100000"/>
              </a:lnSpc>
              <a:spcBef>
                <a:spcPts val="720"/>
              </a:spcBef>
              <a:buAutoNum type="romanLcParenBoth" startAt="3"/>
              <a:tabLst>
                <a:tab pos="694690" algn="l"/>
              </a:tabLst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Let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a,</a:t>
            </a:r>
            <a:r>
              <a:rPr sz="2400" b="1" i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b</a:t>
            </a:r>
            <a:r>
              <a:rPr sz="2400" b="1" i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c</a:t>
            </a:r>
            <a:r>
              <a:rPr sz="24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be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any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three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integers.</a:t>
            </a:r>
            <a:endParaRPr sz="24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Let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aRb</a:t>
            </a:r>
            <a:r>
              <a:rPr sz="2400" b="1" i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bRc</a:t>
            </a:r>
            <a:r>
              <a:rPr sz="2400" b="1" i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B24F3"/>
                </a:solidFill>
                <a:latin typeface="Cambria Math"/>
                <a:cs typeface="Cambria Math"/>
              </a:rPr>
              <a:t>⇒</a:t>
            </a:r>
            <a:r>
              <a:rPr sz="2500" spc="-10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400" b="1" i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≥</a:t>
            </a:r>
            <a:r>
              <a:rPr sz="2400" b="1" i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b</a:t>
            </a:r>
            <a:r>
              <a:rPr sz="24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b</a:t>
            </a:r>
            <a:r>
              <a:rPr sz="2400" b="1" i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≥</a:t>
            </a:r>
            <a:r>
              <a:rPr sz="2400" b="1" i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c</a:t>
            </a:r>
            <a:r>
              <a:rPr sz="24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B24F3"/>
                </a:solidFill>
                <a:latin typeface="Cambria Math"/>
                <a:cs typeface="Cambria Math"/>
              </a:rPr>
              <a:t>⇒</a:t>
            </a:r>
            <a:r>
              <a:rPr sz="2500" spc="-10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400" b="1" i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≥</a:t>
            </a:r>
            <a:r>
              <a:rPr sz="2400" b="1" i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4B24F3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700"/>
              </a:spcBef>
              <a:tabLst>
                <a:tab pos="3024505" algn="l"/>
              </a:tabLst>
            </a:pP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∴</a:t>
            </a:r>
            <a:r>
              <a:rPr sz="2400" spc="-30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relation 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′</a:t>
            </a:r>
            <a:r>
              <a:rPr sz="2400" b="1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≥′</a:t>
            </a:r>
            <a:r>
              <a:rPr sz="2400" b="1" i="1" dirty="0">
                <a:solidFill>
                  <a:srgbClr val="4B24F3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is 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transitive.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  <a:spcBef>
                <a:spcPts val="725"/>
              </a:spcBef>
              <a:tabLst>
                <a:tab pos="2917825" algn="l"/>
              </a:tabLst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Since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relation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′</a:t>
            </a:r>
            <a:r>
              <a:rPr sz="2400" b="1" i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C55A11"/>
                </a:solidFill>
                <a:latin typeface="Times New Roman"/>
                <a:cs typeface="Times New Roman"/>
              </a:rPr>
              <a:t>≥′</a:t>
            </a:r>
            <a:r>
              <a:rPr sz="2400" b="1" i="1" dirty="0">
                <a:solidFill>
                  <a:srgbClr val="C55A11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reflexive,</a:t>
            </a:r>
            <a:r>
              <a:rPr sz="24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antisymmetric</a:t>
            </a:r>
            <a:r>
              <a:rPr sz="2400" b="1" spc="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transitive,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′</a:t>
            </a:r>
            <a:r>
              <a:rPr sz="2400" b="1" i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≥′</a:t>
            </a:r>
            <a:r>
              <a:rPr sz="2400" b="1" i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partial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ts val="2735"/>
              </a:lnSpc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ordering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on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set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integers.</a:t>
            </a:r>
            <a:r>
              <a:rPr sz="24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Therefore,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400" b="1" i="1" dirty="0">
                <a:solidFill>
                  <a:srgbClr val="C55A11"/>
                </a:solidFill>
                <a:latin typeface="Times New Roman"/>
                <a:cs typeface="Times New Roman"/>
              </a:rPr>
              <a:t>Z,</a:t>
            </a:r>
            <a:r>
              <a:rPr sz="2400" b="1" i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≥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)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poset.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9296" y="1388298"/>
            <a:ext cx="5974080" cy="139192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795"/>
              </a:spcBef>
              <a:tabLst>
                <a:tab pos="993775" algn="l"/>
                <a:tab pos="1685925" algn="l"/>
                <a:tab pos="3207385" algn="l"/>
                <a:tab pos="3530600" algn="l"/>
                <a:tab pos="4246880" algn="l"/>
              </a:tabLst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&lt;x,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x&gt;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400" spc="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R,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A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⇔</a:t>
            </a:r>
            <a:r>
              <a:rPr sz="2400" spc="-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(x)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(x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spc="-5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x)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700"/>
              </a:spcBef>
              <a:tabLst>
                <a:tab pos="2164715" algn="l"/>
              </a:tabLst>
            </a:pP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&lt;x,</a:t>
            </a:r>
            <a:r>
              <a:rPr sz="2400" b="1" spc="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x&gt;</a:t>
            </a:r>
            <a:r>
              <a:rPr sz="2400" b="1"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,</a:t>
            </a:r>
            <a:r>
              <a:rPr sz="24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4B24F3"/>
                </a:solidFill>
                <a:latin typeface="Cambria Math"/>
                <a:cs typeface="Cambria Math"/>
              </a:rPr>
              <a:t>⇔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(x)</a:t>
            </a:r>
            <a:r>
              <a:rPr sz="24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(x</a:t>
            </a:r>
            <a:r>
              <a:rPr sz="2400" b="1" spc="-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B24F3"/>
                </a:solidFill>
                <a:latin typeface="Cambria Math"/>
                <a:cs typeface="Cambria Math"/>
              </a:rPr>
              <a:t>∈</a:t>
            </a:r>
            <a:r>
              <a:rPr sz="2400" spc="-3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400" b="1"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→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x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Calibri"/>
                <a:cs typeface="Calibri"/>
              </a:rPr>
              <a:t>x),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2268220" algn="l"/>
                <a:tab pos="3930015" algn="l"/>
                <a:tab pos="4752975" algn="l"/>
                <a:tab pos="5179695" algn="l"/>
              </a:tabLst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⇔</a:t>
            </a:r>
            <a:r>
              <a:rPr sz="2400" spc="-1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(x)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(y)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x</a:t>
            </a:r>
            <a:r>
              <a:rPr sz="2400" b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∈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6F2F9F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⋀</a:t>
            </a:r>
            <a:r>
              <a:rPr sz="2400" spc="2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∈</a:t>
            </a:r>
            <a:r>
              <a:rPr sz="2400" spc="-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0AFEF"/>
                </a:solidFill>
                <a:latin typeface="Cambria Math"/>
                <a:cs typeface="Cambria Math"/>
              </a:rPr>
              <a:t>⋀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sz="2400" b="1" spc="-50" dirty="0">
                <a:solidFill>
                  <a:srgbClr val="00AFEF"/>
                </a:solidFill>
                <a:latin typeface="Calibri"/>
                <a:cs typeface="Calibri"/>
              </a:rPr>
              <a:t>→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x)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1388298"/>
            <a:ext cx="10547985" cy="41363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7E5F00"/>
                </a:solidFill>
                <a:latin typeface="Times New Roman"/>
                <a:cs typeface="Times New Roman"/>
              </a:rPr>
              <a:t>Reflexive: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Irreflexive: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Symmetric: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27685" algn="l"/>
                <a:tab pos="2594610" algn="l"/>
              </a:tabLst>
            </a:pP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Compatibility: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eflexive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4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symmetric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BE9000"/>
                </a:solidFill>
                <a:latin typeface="Times New Roman"/>
                <a:cs typeface="Times New Roman"/>
              </a:rPr>
              <a:t>Antisymmetric</a:t>
            </a:r>
            <a:r>
              <a:rPr sz="2400" b="1" spc="-70" dirty="0">
                <a:solidFill>
                  <a:srgbClr val="BE9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⇔</a:t>
            </a:r>
            <a:r>
              <a:rPr sz="2400" spc="-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(x)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(y) (x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400" spc="-9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⋀</a:t>
            </a:r>
            <a:r>
              <a:rPr sz="2400" spc="5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400" spc="-114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⋀</a:t>
            </a:r>
            <a:r>
              <a:rPr sz="2400" spc="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⋀</a:t>
            </a:r>
            <a:r>
              <a:rPr sz="2400" spc="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→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y)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  <a:tab pos="2588260" algn="l"/>
              </a:tabLst>
            </a:pP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Transitive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⇔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(x)</a:t>
            </a:r>
            <a:r>
              <a:rPr sz="2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(y)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(z)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(x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-11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y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-11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-11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 y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⋀</a:t>
            </a:r>
            <a:r>
              <a:rPr sz="2400" spc="2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y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→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z)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AutoNum type="arabicPeriod"/>
            </a:pPr>
            <a:endParaRPr sz="2400">
              <a:latin typeface="Times New Roman"/>
              <a:cs typeface="Times New Roman"/>
            </a:endParaRPr>
          </a:p>
          <a:p>
            <a:pPr marL="527685" lvl="1" indent="-514984">
              <a:lnSpc>
                <a:spcPct val="100000"/>
              </a:lnSpc>
              <a:buFont typeface="Wingdings"/>
              <a:buChar char=""/>
              <a:tabLst>
                <a:tab pos="527685" algn="l"/>
              </a:tabLst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Equivalence</a:t>
            </a:r>
            <a:r>
              <a:rPr sz="2400" b="1" spc="-9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relation: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Reflexive,</a:t>
            </a:r>
            <a:r>
              <a:rPr sz="2400" b="1" spc="-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symmetric</a:t>
            </a:r>
            <a:r>
              <a:rPr sz="24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transitive.</a:t>
            </a:r>
            <a:endParaRPr sz="2400">
              <a:latin typeface="Times New Roman"/>
              <a:cs typeface="Times New Roman"/>
            </a:endParaRPr>
          </a:p>
          <a:p>
            <a:pPr marL="527685" lvl="1" indent="-514984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527685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Partial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order: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(Reflexive,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antisymmetric,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transitive)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2825" y="793242"/>
            <a:ext cx="529145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Properties</a:t>
            </a:r>
            <a:r>
              <a:rPr spc="-5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Binary</a:t>
            </a:r>
            <a:r>
              <a:rPr spc="-80" dirty="0"/>
              <a:t> </a:t>
            </a:r>
            <a:r>
              <a:rPr spc="-10" dirty="0"/>
              <a:t>Relations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067935"/>
            <a:ext cx="10165715" cy="356425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20"/>
              </a:spcBef>
              <a:tabLst>
                <a:tab pos="3246755" algn="l"/>
              </a:tabLst>
            </a:pP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Let</a:t>
            </a:r>
            <a:r>
              <a:rPr sz="22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R</a:t>
            </a:r>
            <a:r>
              <a:rPr sz="22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be a partial</a:t>
            </a:r>
            <a:r>
              <a:rPr sz="22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order</a:t>
            </a:r>
            <a:r>
              <a:rPr sz="2200" b="1" spc="-6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on</a:t>
            </a:r>
            <a:r>
              <a:rPr sz="22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 set</a:t>
            </a:r>
            <a:r>
              <a:rPr sz="2200" b="1" spc="-1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A.</a:t>
            </a:r>
            <a:r>
              <a:rPr sz="22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Then R</a:t>
            </a:r>
            <a:r>
              <a:rPr sz="22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2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called</a:t>
            </a:r>
            <a:r>
              <a:rPr sz="22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2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total</a:t>
            </a:r>
            <a:r>
              <a:rPr sz="22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order(linear</a:t>
            </a:r>
            <a:r>
              <a:rPr sz="2200" b="1" spc="-114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order)</a:t>
            </a:r>
            <a:r>
              <a:rPr sz="22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on</a:t>
            </a:r>
            <a:r>
              <a:rPr sz="2200" b="1" spc="-1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200" b="1" spc="-1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if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for</a:t>
            </a:r>
            <a:r>
              <a:rPr sz="2200" b="1" spc="-10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all</a:t>
            </a:r>
            <a:r>
              <a:rPr sz="22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x,</a:t>
            </a:r>
            <a:r>
              <a:rPr sz="2200" b="1" spc="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y </a:t>
            </a:r>
            <a:r>
              <a:rPr sz="2300" dirty="0">
                <a:solidFill>
                  <a:srgbClr val="4A2BD4"/>
                </a:solidFill>
                <a:latin typeface="Cambria Math"/>
                <a:cs typeface="Cambria Math"/>
              </a:rPr>
              <a:t>∈</a:t>
            </a:r>
            <a:r>
              <a:rPr sz="2300" spc="-5" dirty="0">
                <a:solidFill>
                  <a:srgbClr val="4A2BD4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A,</a:t>
            </a:r>
            <a:r>
              <a:rPr sz="22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either</a:t>
            </a:r>
            <a:r>
              <a:rPr sz="2200" b="1" spc="-9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xRy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	or</a:t>
            </a:r>
            <a:r>
              <a:rPr sz="2200" b="1" spc="-7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yRx.</a:t>
            </a:r>
            <a:r>
              <a:rPr sz="2200" b="1" spc="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In</a:t>
            </a:r>
            <a:r>
              <a:rPr sz="22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this</a:t>
            </a:r>
            <a:r>
              <a:rPr sz="22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case,</a:t>
            </a:r>
            <a:r>
              <a:rPr sz="22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the</a:t>
            </a:r>
            <a:r>
              <a:rPr sz="2200" b="1" spc="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poset</a:t>
            </a:r>
            <a:r>
              <a:rPr sz="22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(A,R)</a:t>
            </a:r>
            <a:r>
              <a:rPr sz="22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2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called</a:t>
            </a:r>
            <a:r>
              <a:rPr sz="2200" b="1" spc="-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2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totally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ordered</a:t>
            </a:r>
            <a:r>
              <a:rPr sz="22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set</a:t>
            </a:r>
            <a:r>
              <a:rPr sz="2200" b="1" spc="-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or</a:t>
            </a:r>
            <a:r>
              <a:rPr sz="2200" b="1" spc="-6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2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chain.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Example1:</a:t>
            </a:r>
            <a:r>
              <a:rPr sz="22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consider</a:t>
            </a:r>
            <a:r>
              <a:rPr sz="22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2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divisibility</a:t>
            </a:r>
            <a:r>
              <a:rPr sz="22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relation</a:t>
            </a:r>
            <a:r>
              <a:rPr sz="22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on the</a:t>
            </a:r>
            <a:r>
              <a:rPr sz="22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set</a:t>
            </a:r>
            <a:r>
              <a:rPr sz="2200" b="1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A={1,2,4,8}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R1={</a:t>
            </a:r>
            <a:r>
              <a:rPr sz="22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(1,1),(1,2),(1,4),(1,8),(2,2),(2,4),(2,8),(4,4),(4,8),(8,8)}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This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2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total</a:t>
            </a:r>
            <a:r>
              <a:rPr sz="22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ordered</a:t>
            </a:r>
            <a:r>
              <a:rPr sz="22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200" b="1" spc="-1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22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2: consider</a:t>
            </a:r>
            <a:r>
              <a:rPr sz="22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divisibility</a:t>
            </a:r>
            <a:r>
              <a:rPr sz="22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relation</a:t>
            </a:r>
            <a:r>
              <a:rPr sz="22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on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2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set</a:t>
            </a:r>
            <a:r>
              <a:rPr sz="2200" b="1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A={1,2,4,6,8}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R2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={</a:t>
            </a:r>
            <a:r>
              <a:rPr sz="22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(1,1),(1,2),(1,4),(1,6),(1,8),(2,2),(2,4),(2,6),(2,8),(4,4),(4,8),(6,6),(8,8)}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This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relation</a:t>
            </a:r>
            <a:r>
              <a:rPr sz="22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total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ordered</a:t>
            </a:r>
            <a:r>
              <a:rPr sz="22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200" b="1" spc="-1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4611894"/>
            <a:ext cx="1339215" cy="8134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2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xRy</a:t>
            </a:r>
            <a:r>
              <a:rPr sz="2300" spc="-2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2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R2</a:t>
            </a:r>
            <a:r>
              <a:rPr sz="2200" b="1" i="1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4R6</a:t>
            </a:r>
            <a:r>
              <a:rPr sz="23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R2</a:t>
            </a:r>
            <a:r>
              <a:rPr sz="2200" b="1" i="1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9838" y="4611894"/>
            <a:ext cx="1159510" cy="8134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Rx</a:t>
            </a:r>
            <a:r>
              <a:rPr sz="23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300" spc="-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R2</a:t>
            </a:r>
            <a:endParaRPr sz="22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340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6R4</a:t>
            </a:r>
            <a:r>
              <a:rPr sz="23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300" spc="-8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R2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5455716"/>
            <a:ext cx="1005459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Note: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Every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total</a:t>
            </a:r>
            <a:r>
              <a:rPr sz="22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order</a:t>
            </a:r>
            <a:r>
              <a:rPr sz="2200" b="1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partial</a:t>
            </a:r>
            <a:r>
              <a:rPr sz="22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order,</a:t>
            </a:r>
            <a:r>
              <a:rPr sz="22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but not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every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partial</a:t>
            </a:r>
            <a:r>
              <a:rPr sz="22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order</a:t>
            </a:r>
            <a:r>
              <a:rPr sz="2200" b="1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2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total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order.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91505" y="572516"/>
            <a:ext cx="18421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30" dirty="0"/>
              <a:t>Total</a:t>
            </a:r>
            <a:r>
              <a:rPr sz="2800" spc="-135" dirty="0"/>
              <a:t> </a:t>
            </a:r>
            <a:r>
              <a:rPr sz="2800" spc="-10" dirty="0"/>
              <a:t>Order</a:t>
            </a:r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3198876" y="5109971"/>
            <a:ext cx="59690" cy="304800"/>
          </a:xfrm>
          <a:custGeom>
            <a:avLst/>
            <a:gdLst/>
            <a:ahLst/>
            <a:cxnLst/>
            <a:rect l="l" t="t" r="r" b="b"/>
            <a:pathLst>
              <a:path w="59689" h="304800">
                <a:moveTo>
                  <a:pt x="59309" y="0"/>
                </a:moveTo>
                <a:lnTo>
                  <a:pt x="0" y="304799"/>
                </a:lnTo>
              </a:path>
            </a:pathLst>
          </a:custGeom>
          <a:ln w="2133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20011" y="5125211"/>
            <a:ext cx="59690" cy="304800"/>
          </a:xfrm>
          <a:custGeom>
            <a:avLst/>
            <a:gdLst/>
            <a:ahLst/>
            <a:cxnLst/>
            <a:rect l="l" t="t" r="r" b="b"/>
            <a:pathLst>
              <a:path w="59689" h="304800">
                <a:moveTo>
                  <a:pt x="59308" y="0"/>
                </a:moveTo>
                <a:lnTo>
                  <a:pt x="0" y="304800"/>
                </a:lnTo>
              </a:path>
            </a:pathLst>
          </a:custGeom>
          <a:ln w="2133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3871" y="763600"/>
            <a:ext cx="28321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Hasse</a:t>
            </a:r>
            <a:r>
              <a:rPr spc="-7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337640"/>
            <a:ext cx="955294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299"/>
              </a:lnSpc>
              <a:spcBef>
                <a:spcPts val="100"/>
              </a:spcBef>
            </a:pP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200" b="1" spc="-1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partial</a:t>
            </a:r>
            <a:r>
              <a:rPr sz="22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order</a:t>
            </a:r>
            <a:r>
              <a:rPr sz="22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≤</a:t>
            </a:r>
            <a:r>
              <a:rPr sz="22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on a</a:t>
            </a:r>
            <a:r>
              <a:rPr sz="22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2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Times New Roman"/>
                <a:cs typeface="Times New Roman"/>
              </a:rPr>
              <a:t>P</a:t>
            </a:r>
            <a:r>
              <a:rPr sz="2200" b="1" i="1" spc="-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can be</a:t>
            </a:r>
            <a:r>
              <a:rPr sz="22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represented</a:t>
            </a:r>
            <a:r>
              <a:rPr sz="22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by means</a:t>
            </a:r>
            <a:r>
              <a:rPr sz="22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200" b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 diagram</a:t>
            </a:r>
            <a:r>
              <a:rPr sz="22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known</a:t>
            </a:r>
            <a:r>
              <a:rPr sz="22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as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Hasse</a:t>
            </a:r>
            <a:r>
              <a:rPr sz="22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diagram</a:t>
            </a:r>
            <a:r>
              <a:rPr sz="22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2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95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200" b="1" i="1" spc="-95" dirty="0">
                <a:solidFill>
                  <a:srgbClr val="00AFEF"/>
                </a:solidFill>
                <a:latin typeface="Times New Roman"/>
                <a:cs typeface="Times New Roman"/>
              </a:rPr>
              <a:t>P,</a:t>
            </a:r>
            <a:r>
              <a:rPr sz="22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≤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).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In such</a:t>
            </a:r>
            <a:r>
              <a:rPr sz="2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2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diagram,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3571443"/>
            <a:ext cx="35560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iii)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2210071"/>
            <a:ext cx="10705465" cy="17240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533400" indent="-520700">
              <a:lnSpc>
                <a:spcPct val="100000"/>
              </a:lnSpc>
              <a:spcBef>
                <a:spcPts val="695"/>
              </a:spcBef>
              <a:buAutoNum type="romanLcParenR"/>
              <a:tabLst>
                <a:tab pos="533400" algn="l"/>
              </a:tabLst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Each</a:t>
            </a:r>
            <a:r>
              <a:rPr sz="22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r>
              <a:rPr sz="22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2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represented</a:t>
            </a:r>
            <a:r>
              <a:rPr sz="2200" b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 small</a:t>
            </a:r>
            <a:r>
              <a:rPr sz="22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circle</a:t>
            </a:r>
            <a:r>
              <a:rPr sz="2200" b="1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sz="22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dot.</a:t>
            </a:r>
            <a:endParaRPr sz="2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645"/>
              </a:spcBef>
              <a:buAutoNum type="romanLcParenR"/>
              <a:tabLst>
                <a:tab pos="527685" algn="l"/>
              </a:tabLst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circle</a:t>
            </a:r>
            <a:r>
              <a:rPr sz="2200" b="1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2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2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30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P</a:t>
            </a:r>
            <a:r>
              <a:rPr sz="2200" b="1" i="1" spc="-1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drawn</a:t>
            </a:r>
            <a:r>
              <a:rPr sz="22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below</a:t>
            </a:r>
            <a:r>
              <a:rPr sz="22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circle</a:t>
            </a:r>
            <a:r>
              <a:rPr sz="22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2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30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P</a:t>
            </a:r>
            <a:r>
              <a:rPr sz="2200" b="1" i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2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2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&lt;</a:t>
            </a:r>
            <a:r>
              <a:rPr sz="22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line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drawn</a:t>
            </a:r>
            <a:endParaRPr sz="2200">
              <a:latin typeface="Times New Roman"/>
              <a:cs typeface="Times New Roman"/>
            </a:endParaRPr>
          </a:p>
          <a:p>
            <a:pPr marL="570230">
              <a:lnSpc>
                <a:spcPct val="100000"/>
              </a:lnSpc>
              <a:spcBef>
                <a:spcPts val="700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between</a:t>
            </a:r>
            <a:r>
              <a:rPr sz="22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2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covers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547370">
              <a:lnSpc>
                <a:spcPct val="100000"/>
              </a:lnSpc>
              <a:spcBef>
                <a:spcPts val="750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2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&lt;</a:t>
            </a:r>
            <a:r>
              <a:rPr sz="22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but</a:t>
            </a:r>
            <a:r>
              <a:rPr sz="22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does</a:t>
            </a:r>
            <a:r>
              <a:rPr sz="22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2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cover</a:t>
            </a:r>
            <a:r>
              <a:rPr sz="2200" b="1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2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2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2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2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are</a:t>
            </a:r>
            <a:r>
              <a:rPr sz="22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connected</a:t>
            </a:r>
            <a:r>
              <a:rPr sz="22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directly</a:t>
            </a:r>
            <a:r>
              <a:rPr sz="22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single</a:t>
            </a:r>
            <a:r>
              <a:rPr sz="22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line.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3911951"/>
            <a:ext cx="10304145" cy="21659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2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Note: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390"/>
              </a:lnSpc>
              <a:spcBef>
                <a:spcPts val="204"/>
              </a:spcBef>
            </a:pP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For</a:t>
            </a:r>
            <a:r>
              <a:rPr sz="2200" b="1" spc="-8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totally</a:t>
            </a:r>
            <a:r>
              <a:rPr sz="22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ordered</a:t>
            </a:r>
            <a:r>
              <a:rPr sz="22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set</a:t>
            </a:r>
            <a:r>
              <a:rPr sz="22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spc="-70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200" b="1" i="1" spc="-70" dirty="0">
                <a:solidFill>
                  <a:srgbClr val="C55A11"/>
                </a:solidFill>
                <a:latin typeface="Times New Roman"/>
                <a:cs typeface="Times New Roman"/>
              </a:rPr>
              <a:t>P,</a:t>
            </a:r>
            <a:r>
              <a:rPr sz="22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≤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),</a:t>
            </a:r>
            <a:r>
              <a:rPr sz="22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2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Hasse</a:t>
            </a:r>
            <a:r>
              <a:rPr sz="2200" b="1" spc="-7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diagram</a:t>
            </a:r>
            <a:r>
              <a:rPr sz="22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consists</a:t>
            </a:r>
            <a:r>
              <a:rPr sz="2200" b="1" spc="-7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of</a:t>
            </a:r>
            <a:r>
              <a:rPr sz="22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circles</a:t>
            </a:r>
            <a:r>
              <a:rPr sz="2200" b="1" spc="-8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one</a:t>
            </a:r>
            <a:r>
              <a:rPr sz="22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below</a:t>
            </a:r>
            <a:r>
              <a:rPr sz="22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2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other.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2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poset</a:t>
            </a:r>
            <a:r>
              <a:rPr sz="22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2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called</a:t>
            </a:r>
            <a:r>
              <a:rPr sz="22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a </a:t>
            </a:r>
            <a:r>
              <a:rPr sz="22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chain.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2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Hasse</a:t>
            </a:r>
            <a:r>
              <a:rPr sz="22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diagram</a:t>
            </a:r>
            <a:r>
              <a:rPr sz="22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2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also</a:t>
            </a:r>
            <a:r>
              <a:rPr sz="22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called</a:t>
            </a:r>
            <a:r>
              <a:rPr sz="22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as</a:t>
            </a:r>
            <a:r>
              <a:rPr sz="22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poset</a:t>
            </a:r>
            <a:r>
              <a:rPr sz="22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diagram.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No</a:t>
            </a:r>
            <a:r>
              <a:rPr sz="22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loops</a:t>
            </a:r>
            <a:r>
              <a:rPr sz="22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allowed</a:t>
            </a:r>
            <a:r>
              <a:rPr sz="2200" b="1" spc="-8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are</a:t>
            </a:r>
            <a:r>
              <a:rPr sz="22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in</a:t>
            </a:r>
            <a:r>
              <a:rPr sz="22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55A11"/>
                </a:solidFill>
                <a:latin typeface="Times New Roman"/>
                <a:cs typeface="Times New Roman"/>
              </a:rPr>
              <a:t>hasse</a:t>
            </a:r>
            <a:r>
              <a:rPr sz="22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diagram.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0617" y="654569"/>
            <a:ext cx="10523855" cy="3376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95"/>
              </a:spcBef>
              <a:tabLst>
                <a:tab pos="1416685" algn="l"/>
                <a:tab pos="695325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Let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4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{1,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4,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5} and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≤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relation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“less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than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4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equal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to”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then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Hasse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diagram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is: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R={(1,1),(1,2),(1,3),(1,4),(1,5),(2,2)(2,3),(2,4),(2,5),(3,3),(3,4),(3,5),(4,4),(4,5),(5,5)}</a:t>
            </a:r>
            <a:endParaRPr sz="2400">
              <a:latin typeface="Times New Roman"/>
              <a:cs typeface="Times New Roman"/>
            </a:endParaRPr>
          </a:p>
          <a:p>
            <a:pPr marL="26670" marR="4849495" indent="43180">
              <a:lnSpc>
                <a:spcPct val="200999"/>
              </a:lnSpc>
              <a:spcBef>
                <a:spcPts val="45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reflexive,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antisymmetric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transitive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It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totally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ordered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18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4152" y="4166615"/>
            <a:ext cx="1905000" cy="19872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0617" y="1196416"/>
            <a:ext cx="10028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Example:</a:t>
            </a:r>
            <a:r>
              <a:rPr sz="2400" spc="-10" dirty="0"/>
              <a:t> </a:t>
            </a:r>
            <a:r>
              <a:rPr sz="2400" dirty="0"/>
              <a:t>Let</a:t>
            </a:r>
            <a:r>
              <a:rPr sz="2400" spc="-20" dirty="0"/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/>
              <a:t>=</a:t>
            </a:r>
            <a:r>
              <a:rPr sz="2400" spc="-10" dirty="0"/>
              <a:t> </a:t>
            </a:r>
            <a:r>
              <a:rPr sz="2400" i="1" dirty="0">
                <a:latin typeface="Times New Roman"/>
                <a:cs typeface="Times New Roman"/>
              </a:rPr>
              <a:t>{</a:t>
            </a:r>
            <a:r>
              <a:rPr sz="2400" dirty="0"/>
              <a:t>2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/>
              <a:t>3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/>
              <a:t>6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/>
              <a:t>12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/>
              <a:t>24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/>
              <a:t>36</a:t>
            </a:r>
            <a:r>
              <a:rPr sz="2400" i="1" dirty="0">
                <a:latin typeface="Times New Roman"/>
                <a:cs typeface="Times New Roman"/>
              </a:rPr>
              <a:t>}</a:t>
            </a:r>
            <a:r>
              <a:rPr sz="2400" dirty="0"/>
              <a:t>,</a:t>
            </a:r>
            <a:r>
              <a:rPr sz="2400" spc="-30" dirty="0"/>
              <a:t> </a:t>
            </a:r>
            <a:r>
              <a:rPr sz="2400" dirty="0"/>
              <a:t>and</a:t>
            </a:r>
            <a:r>
              <a:rPr sz="2400" spc="-5" dirty="0"/>
              <a:t> </a:t>
            </a:r>
            <a:r>
              <a:rPr sz="2400" dirty="0"/>
              <a:t>the</a:t>
            </a:r>
            <a:r>
              <a:rPr sz="2400" spc="-10" dirty="0"/>
              <a:t> </a:t>
            </a:r>
            <a:r>
              <a:rPr sz="2400" dirty="0"/>
              <a:t>relation</a:t>
            </a:r>
            <a:r>
              <a:rPr sz="2400" spc="-30" dirty="0"/>
              <a:t> </a:t>
            </a:r>
            <a:r>
              <a:rPr sz="2400" i="1" dirty="0">
                <a:latin typeface="Times New Roman"/>
                <a:cs typeface="Times New Roman"/>
              </a:rPr>
              <a:t>≤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/>
              <a:t>be</a:t>
            </a:r>
            <a:r>
              <a:rPr sz="2400" spc="-20" dirty="0"/>
              <a:t> </a:t>
            </a:r>
            <a:r>
              <a:rPr sz="2400" dirty="0"/>
              <a:t>such</a:t>
            </a:r>
            <a:r>
              <a:rPr sz="2400" spc="-10" dirty="0"/>
              <a:t> </a:t>
            </a:r>
            <a:r>
              <a:rPr sz="2400" dirty="0"/>
              <a:t>that</a:t>
            </a:r>
            <a:r>
              <a:rPr sz="2400" spc="-35" dirty="0"/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≤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/>
              <a:t>if</a:t>
            </a:r>
            <a:r>
              <a:rPr sz="2400" spc="-15" dirty="0"/>
              <a:t> </a:t>
            </a:r>
            <a:r>
              <a:rPr sz="2400" i="1" spc="-5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617" y="1562272"/>
            <a:ext cx="10123170" cy="225298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divides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Draw the Hasse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diagram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X,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≤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Solution: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R={(2,2),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(2,6),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(2,12),(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2,24),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(2,36),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(3,3),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(3,6),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(3,12),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(3,24),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(3,36),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(6,6),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(6,12),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(6,24),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(6,36),</a:t>
            </a:r>
            <a:endParaRPr sz="20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imes New Roman"/>
                <a:cs typeface="Times New Roman"/>
              </a:rPr>
              <a:t>(12,12),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(12,24),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(12,36),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(24,24),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(36,36)}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8752" y="4309871"/>
            <a:ext cx="2395728" cy="20177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9573" y="4249673"/>
            <a:ext cx="3213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It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not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total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order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9441" y="4301489"/>
            <a:ext cx="123380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(24,36)</a:t>
            </a:r>
            <a:r>
              <a:rPr sz="20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000" spc="4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70576" y="4367784"/>
            <a:ext cx="43815" cy="261620"/>
          </a:xfrm>
          <a:custGeom>
            <a:avLst/>
            <a:gdLst/>
            <a:ahLst/>
            <a:cxnLst/>
            <a:rect l="l" t="t" r="r" b="b"/>
            <a:pathLst>
              <a:path w="43814" h="261620">
                <a:moveTo>
                  <a:pt x="43561" y="0"/>
                </a:moveTo>
                <a:lnTo>
                  <a:pt x="0" y="261239"/>
                </a:lnTo>
              </a:path>
            </a:pathLst>
          </a:custGeom>
          <a:ln w="609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1053160"/>
            <a:ext cx="1030541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95"/>
              </a:spcBef>
            </a:pPr>
            <a:r>
              <a:rPr sz="2000" dirty="0"/>
              <a:t>Example:</a:t>
            </a:r>
            <a:r>
              <a:rPr sz="2000" spc="50" dirty="0"/>
              <a:t> </a:t>
            </a:r>
            <a:r>
              <a:rPr sz="2000" dirty="0">
                <a:solidFill>
                  <a:srgbClr val="4B24F3"/>
                </a:solidFill>
              </a:rPr>
              <a:t>Draw</a:t>
            </a:r>
            <a:r>
              <a:rPr sz="2000" spc="-35" dirty="0">
                <a:solidFill>
                  <a:srgbClr val="4B24F3"/>
                </a:solidFill>
              </a:rPr>
              <a:t> </a:t>
            </a:r>
            <a:r>
              <a:rPr sz="2000" dirty="0">
                <a:solidFill>
                  <a:srgbClr val="4B24F3"/>
                </a:solidFill>
              </a:rPr>
              <a:t>the</a:t>
            </a:r>
            <a:r>
              <a:rPr sz="2000" spc="-25" dirty="0">
                <a:solidFill>
                  <a:srgbClr val="4B24F3"/>
                </a:solidFill>
              </a:rPr>
              <a:t> </a:t>
            </a:r>
            <a:r>
              <a:rPr sz="2000" dirty="0">
                <a:solidFill>
                  <a:srgbClr val="4B24F3"/>
                </a:solidFill>
              </a:rPr>
              <a:t>Hasse</a:t>
            </a:r>
            <a:r>
              <a:rPr sz="2000" spc="-20" dirty="0">
                <a:solidFill>
                  <a:srgbClr val="4B24F3"/>
                </a:solidFill>
              </a:rPr>
              <a:t> </a:t>
            </a:r>
            <a:r>
              <a:rPr sz="2000" dirty="0">
                <a:solidFill>
                  <a:srgbClr val="4B24F3"/>
                </a:solidFill>
              </a:rPr>
              <a:t>diagram</a:t>
            </a:r>
            <a:r>
              <a:rPr sz="2000" spc="-60" dirty="0">
                <a:solidFill>
                  <a:srgbClr val="4B24F3"/>
                </a:solidFill>
              </a:rPr>
              <a:t> </a:t>
            </a:r>
            <a:r>
              <a:rPr sz="2000" dirty="0">
                <a:solidFill>
                  <a:srgbClr val="4B24F3"/>
                </a:solidFill>
              </a:rPr>
              <a:t>for</a:t>
            </a:r>
            <a:r>
              <a:rPr sz="2000" spc="-75" dirty="0">
                <a:solidFill>
                  <a:srgbClr val="4B24F3"/>
                </a:solidFill>
              </a:rPr>
              <a:t> </a:t>
            </a:r>
            <a:r>
              <a:rPr sz="2000" dirty="0">
                <a:solidFill>
                  <a:srgbClr val="4B24F3"/>
                </a:solidFill>
              </a:rPr>
              <a:t>the</a:t>
            </a:r>
            <a:r>
              <a:rPr sz="2000" spc="-55" dirty="0">
                <a:solidFill>
                  <a:srgbClr val="4B24F3"/>
                </a:solidFill>
              </a:rPr>
              <a:t> </a:t>
            </a:r>
            <a:r>
              <a:rPr sz="2000" dirty="0">
                <a:solidFill>
                  <a:srgbClr val="4B24F3"/>
                </a:solidFill>
              </a:rPr>
              <a:t>relation 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R</a:t>
            </a:r>
            <a:r>
              <a:rPr sz="2000" i="1" spc="-4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B24F3"/>
                </a:solidFill>
              </a:rPr>
              <a:t>on</a:t>
            </a:r>
            <a:r>
              <a:rPr sz="2000" spc="-35" dirty="0">
                <a:solidFill>
                  <a:srgbClr val="4B24F3"/>
                </a:solidFill>
              </a:rPr>
              <a:t> 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000" i="1" spc="-1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B24F3"/>
                </a:solidFill>
              </a:rPr>
              <a:t>=</a:t>
            </a:r>
            <a:r>
              <a:rPr sz="2000" spc="-35" dirty="0">
                <a:solidFill>
                  <a:srgbClr val="4B24F3"/>
                </a:solidFill>
              </a:rPr>
              <a:t> 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{</a:t>
            </a:r>
            <a:r>
              <a:rPr sz="2000" dirty="0">
                <a:solidFill>
                  <a:srgbClr val="4B24F3"/>
                </a:solidFill>
              </a:rPr>
              <a:t>1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i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B24F3"/>
                </a:solidFill>
              </a:rPr>
              <a:t>2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i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B24F3"/>
                </a:solidFill>
              </a:rPr>
              <a:t>3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B24F3"/>
                </a:solidFill>
              </a:rPr>
              <a:t>4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,</a:t>
            </a:r>
            <a:r>
              <a:rPr sz="2000" i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B24F3"/>
                </a:solidFill>
              </a:rPr>
              <a:t>5</a:t>
            </a:r>
            <a:r>
              <a:rPr sz="2000" i="1" dirty="0">
                <a:solidFill>
                  <a:srgbClr val="4B24F3"/>
                </a:solidFill>
                <a:latin typeface="Times New Roman"/>
                <a:cs typeface="Times New Roman"/>
              </a:rPr>
              <a:t>}</a:t>
            </a:r>
            <a:r>
              <a:rPr sz="2000" i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B24F3"/>
                </a:solidFill>
              </a:rPr>
              <a:t>whose</a:t>
            </a:r>
            <a:r>
              <a:rPr sz="2000" spc="-50" dirty="0">
                <a:solidFill>
                  <a:srgbClr val="4B24F3"/>
                </a:solidFill>
              </a:rPr>
              <a:t> </a:t>
            </a:r>
            <a:r>
              <a:rPr sz="2000" dirty="0">
                <a:solidFill>
                  <a:srgbClr val="4B24F3"/>
                </a:solidFill>
              </a:rPr>
              <a:t>relation</a:t>
            </a:r>
            <a:r>
              <a:rPr sz="2000" spc="-35" dirty="0">
                <a:solidFill>
                  <a:srgbClr val="4B24F3"/>
                </a:solidFill>
              </a:rPr>
              <a:t> </a:t>
            </a:r>
            <a:r>
              <a:rPr sz="2000" spc="-10" dirty="0">
                <a:solidFill>
                  <a:srgbClr val="4B24F3"/>
                </a:solidFill>
              </a:rPr>
              <a:t>matrix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solidFill>
                  <a:srgbClr val="4B24F3"/>
                </a:solidFill>
              </a:rPr>
              <a:t>given</a:t>
            </a:r>
            <a:r>
              <a:rPr sz="2000" spc="-55" dirty="0">
                <a:solidFill>
                  <a:srgbClr val="4B24F3"/>
                </a:solidFill>
              </a:rPr>
              <a:t> </a:t>
            </a:r>
            <a:r>
              <a:rPr sz="2000" spc="-10" dirty="0">
                <a:solidFill>
                  <a:srgbClr val="4B24F3"/>
                </a:solidFill>
              </a:rPr>
              <a:t>below:</a:t>
            </a:r>
            <a:endParaRPr sz="2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8194" y="1744027"/>
          <a:ext cx="4939030" cy="1912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2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76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2385"/>
                        </a:lnSpc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ts val="2385"/>
                        </a:lnSpc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i="1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MR</a:t>
                      </a:r>
                      <a:r>
                        <a:rPr sz="2000" b="1" i="1" spc="465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233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ts val="2330"/>
                        </a:lnSpc>
                        <a:spcBef>
                          <a:spcPts val="254"/>
                        </a:spcBef>
                      </a:pPr>
                      <a:r>
                        <a:rPr sz="20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740407" y="1740407"/>
            <a:ext cx="177165" cy="1816735"/>
          </a:xfrm>
          <a:custGeom>
            <a:avLst/>
            <a:gdLst/>
            <a:ahLst/>
            <a:cxnLst/>
            <a:rect l="l" t="t" r="r" b="b"/>
            <a:pathLst>
              <a:path w="177164" h="1816735">
                <a:moveTo>
                  <a:pt x="176784" y="1816607"/>
                </a:moveTo>
                <a:lnTo>
                  <a:pt x="107959" y="1815449"/>
                </a:lnTo>
                <a:lnTo>
                  <a:pt x="51768" y="1812289"/>
                </a:lnTo>
                <a:lnTo>
                  <a:pt x="13888" y="1807606"/>
                </a:lnTo>
                <a:lnTo>
                  <a:pt x="0" y="1801876"/>
                </a:lnTo>
                <a:lnTo>
                  <a:pt x="0" y="14731"/>
                </a:lnTo>
                <a:lnTo>
                  <a:pt x="13888" y="9001"/>
                </a:lnTo>
                <a:lnTo>
                  <a:pt x="51768" y="4317"/>
                </a:lnTo>
                <a:lnTo>
                  <a:pt x="107959" y="1158"/>
                </a:lnTo>
                <a:lnTo>
                  <a:pt x="176784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32703" y="1712976"/>
            <a:ext cx="128270" cy="1856739"/>
          </a:xfrm>
          <a:custGeom>
            <a:avLst/>
            <a:gdLst/>
            <a:ahLst/>
            <a:cxnLst/>
            <a:rect l="l" t="t" r="r" b="b"/>
            <a:pathLst>
              <a:path w="128270" h="1856739">
                <a:moveTo>
                  <a:pt x="0" y="0"/>
                </a:moveTo>
                <a:lnTo>
                  <a:pt x="49845" y="845"/>
                </a:lnTo>
                <a:lnTo>
                  <a:pt x="90535" y="3143"/>
                </a:lnTo>
                <a:lnTo>
                  <a:pt x="117961" y="6536"/>
                </a:lnTo>
                <a:lnTo>
                  <a:pt x="128016" y="10668"/>
                </a:lnTo>
                <a:lnTo>
                  <a:pt x="128016" y="1845564"/>
                </a:lnTo>
                <a:lnTo>
                  <a:pt x="117961" y="1849695"/>
                </a:lnTo>
                <a:lnTo>
                  <a:pt x="90535" y="1853088"/>
                </a:lnTo>
                <a:lnTo>
                  <a:pt x="49845" y="1855386"/>
                </a:lnTo>
                <a:lnTo>
                  <a:pt x="0" y="1856232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9247" y="4587240"/>
            <a:ext cx="2406332" cy="18196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893058" y="4901006"/>
            <a:ext cx="1663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4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9033" y="4965319"/>
            <a:ext cx="1663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latin typeface="Arial MT"/>
                <a:cs typeface="Arial MT"/>
              </a:rPr>
              <a:t>5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4339" y="5323433"/>
            <a:ext cx="1663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8896" y="6081471"/>
            <a:ext cx="1663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9551" y="6136944"/>
            <a:ext cx="1663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7244" y="3665873"/>
            <a:ext cx="9634855" cy="120523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000" b="1" spc="-10" dirty="0">
                <a:latin typeface="Times New Roman"/>
                <a:cs typeface="Times New Roman"/>
              </a:rPr>
              <a:t>Solution:</a:t>
            </a:r>
            <a:endParaRPr sz="2000">
              <a:latin typeface="Times New Roman"/>
              <a:cs typeface="Times New Roman"/>
            </a:endParaRPr>
          </a:p>
          <a:p>
            <a:pPr marL="1293495">
              <a:lnSpc>
                <a:spcPct val="100000"/>
              </a:lnSpc>
              <a:spcBef>
                <a:spcPts val="500"/>
              </a:spcBef>
            </a:pP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R=</a:t>
            </a:r>
            <a:r>
              <a:rPr sz="18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1)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3)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3)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3)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(4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18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(5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1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5)</a:t>
            </a:r>
            <a:r>
              <a:rPr sz="18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}.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Hasse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diagram</a:t>
            </a:r>
            <a:r>
              <a:rPr sz="20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0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MR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3238" y="731646"/>
            <a:ext cx="104711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partial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order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i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sz="2400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i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{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400" i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400" i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400" i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}</a:t>
            </a:r>
            <a:r>
              <a:rPr sz="2400" i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represented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following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digraph.</a:t>
            </a:r>
            <a:r>
              <a:rPr sz="2400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Draw</a:t>
            </a:r>
            <a:r>
              <a:rPr sz="24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Hasse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diagram</a:t>
            </a:r>
            <a:r>
              <a:rPr sz="24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400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0920" y="1776983"/>
            <a:ext cx="3471672" cy="11582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61895" rIns="0" bIns="0" rtlCol="0">
            <a:spAutoFit/>
          </a:bodyPr>
          <a:lstStyle/>
          <a:p>
            <a:pPr marL="54483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B24F3"/>
                </a:solidFill>
                <a:latin typeface="Arial"/>
                <a:cs typeface="Arial"/>
              </a:rPr>
              <a:t>Solution:</a:t>
            </a:r>
            <a:r>
              <a:rPr spc="-40" dirty="0">
                <a:solidFill>
                  <a:srgbClr val="4B24F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examining</a:t>
            </a:r>
            <a:r>
              <a:rPr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given</a:t>
            </a:r>
            <a:r>
              <a:rPr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digraph</a:t>
            </a:r>
            <a:r>
              <a:rPr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we</a:t>
            </a:r>
            <a:r>
              <a:rPr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find</a:t>
            </a:r>
            <a:r>
              <a:rPr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</a:p>
          <a:p>
            <a:pPr marL="54483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R=</a:t>
            </a:r>
            <a:r>
              <a:rPr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{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(1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1)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(1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2)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(1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3)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(1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(2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2)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(2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(3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3)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00000"/>
                </a:solidFill>
                <a:latin typeface="Arial"/>
                <a:cs typeface="Arial"/>
              </a:rPr>
              <a:t>(4</a:t>
            </a:r>
            <a:r>
              <a:rPr i="1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i="1" spc="-20" dirty="0">
                <a:solidFill>
                  <a:srgbClr val="C00000"/>
                </a:solidFill>
                <a:latin typeface="Arial"/>
                <a:cs typeface="Arial"/>
              </a:rPr>
              <a:t>}</a:t>
            </a:r>
            <a:r>
              <a:rPr spc="-20" dirty="0">
                <a:solidFill>
                  <a:srgbClr val="C00000"/>
                </a:solidFill>
                <a:latin typeface="Arial"/>
                <a:cs typeface="Arial"/>
              </a:rPr>
              <a:t>.</a:t>
            </a:r>
          </a:p>
          <a:p>
            <a:pPr marL="544830">
              <a:lnSpc>
                <a:spcPct val="100000"/>
              </a:lnSpc>
            </a:pP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We</a:t>
            </a:r>
            <a:r>
              <a:rPr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check</a:t>
            </a:r>
            <a:r>
              <a:rPr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that</a:t>
            </a:r>
            <a:r>
              <a:rPr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i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reflexive,</a:t>
            </a:r>
            <a:r>
              <a:rPr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transitive</a:t>
            </a:r>
            <a:r>
              <a:rPr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antisymmetric.</a:t>
            </a:r>
            <a:r>
              <a:rPr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Therefore,</a:t>
            </a:r>
            <a:r>
              <a:rPr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i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</a:p>
          <a:p>
            <a:pPr marL="544830">
              <a:lnSpc>
                <a:spcPts val="2845"/>
              </a:lnSpc>
            </a:pP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partial</a:t>
            </a:r>
            <a:r>
              <a:rPr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order</a:t>
            </a:r>
            <a:r>
              <a:rPr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relation</a:t>
            </a:r>
            <a:r>
              <a:rPr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pc="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i="1" spc="-25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pc="-25" dirty="0">
                <a:solidFill>
                  <a:srgbClr val="00AF50"/>
                </a:solidFill>
                <a:latin typeface="Arial"/>
                <a:cs typeface="Arial"/>
              </a:rPr>
              <a:t>.</a:t>
            </a:r>
          </a:p>
          <a:p>
            <a:pPr marL="544830">
              <a:lnSpc>
                <a:spcPts val="2845"/>
              </a:lnSpc>
            </a:pP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The</a:t>
            </a:r>
            <a:r>
              <a:rPr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hasse</a:t>
            </a:r>
            <a:r>
              <a:rPr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diagram</a:t>
            </a:r>
            <a:r>
              <a:rPr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of</a:t>
            </a:r>
            <a:r>
              <a:rPr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4B24F3"/>
                </a:solidFill>
                <a:latin typeface="Calibri"/>
                <a:cs typeface="Calibri"/>
              </a:rPr>
              <a:t>R</a:t>
            </a:r>
            <a:r>
              <a:rPr i="1" spc="-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shown</a:t>
            </a:r>
            <a:r>
              <a:rPr spc="-6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4B24F3"/>
                </a:solidFill>
                <a:latin typeface="Calibri"/>
                <a:cs typeface="Calibri"/>
              </a:rPr>
              <a:t>below: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8984" y="4767071"/>
            <a:ext cx="2798064" cy="185013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4943" y="732918"/>
            <a:ext cx="9969500" cy="15836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Example: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Draw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Hasse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diagram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partial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ordering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420" dirty="0">
                <a:solidFill>
                  <a:srgbClr val="C00000"/>
                </a:solidFill>
                <a:latin typeface="Malgun Gothic"/>
                <a:cs typeface="Malgun Gothic"/>
              </a:rPr>
              <a:t>⊆</a:t>
            </a:r>
            <a:r>
              <a:rPr sz="2000" b="1" spc="-55" dirty="0">
                <a:solidFill>
                  <a:srgbClr val="C0000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power</a:t>
            </a:r>
            <a:r>
              <a:rPr sz="2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set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i="1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2000" b="1" i="1" spc="-25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where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{a,</a:t>
            </a:r>
            <a:r>
              <a:rPr sz="2000" b="1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Arial"/>
                <a:cs typeface="Arial"/>
              </a:rPr>
              <a:t>b,</a:t>
            </a:r>
            <a:r>
              <a:rPr sz="2000" b="1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-25" dirty="0">
                <a:solidFill>
                  <a:srgbClr val="C00000"/>
                </a:solidFill>
                <a:latin typeface="Arial"/>
                <a:cs typeface="Arial"/>
              </a:rPr>
              <a:t>c}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65"/>
              </a:lnSpc>
            </a:pP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Solution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000" b="1" i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{a,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Arial"/>
                <a:cs typeface="Arial"/>
              </a:rPr>
              <a:t>b,</a:t>
            </a:r>
            <a:r>
              <a:rPr sz="20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i="1" spc="-25" dirty="0">
                <a:solidFill>
                  <a:srgbClr val="006FC0"/>
                </a:solidFill>
                <a:latin typeface="Arial"/>
                <a:cs typeface="Arial"/>
              </a:rPr>
              <a:t>c}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65"/>
              </a:lnSpc>
            </a:pP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000" b="1" i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(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S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)</a:t>
            </a:r>
            <a:r>
              <a:rPr sz="20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0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{ϕ,</a:t>
            </a:r>
            <a:r>
              <a:rPr sz="20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{a},</a:t>
            </a:r>
            <a:r>
              <a:rPr sz="20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{b},</a:t>
            </a:r>
            <a:r>
              <a:rPr sz="20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{c},</a:t>
            </a:r>
            <a:r>
              <a:rPr sz="20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{a,</a:t>
            </a:r>
            <a:r>
              <a:rPr sz="20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b},</a:t>
            </a:r>
            <a:r>
              <a:rPr sz="20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{a,</a:t>
            </a:r>
            <a:r>
              <a:rPr sz="20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c},</a:t>
            </a:r>
            <a:r>
              <a:rPr sz="2000" b="1" i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{b,</a:t>
            </a:r>
            <a:r>
              <a:rPr sz="20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c},</a:t>
            </a:r>
            <a:r>
              <a:rPr sz="20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{a,</a:t>
            </a:r>
            <a:r>
              <a:rPr sz="20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6F2F9F"/>
                </a:solidFill>
                <a:latin typeface="Calibri"/>
                <a:cs typeface="Calibri"/>
              </a:rPr>
              <a:t>b,</a:t>
            </a:r>
            <a:r>
              <a:rPr sz="2000" b="1" i="1" spc="-20" dirty="0">
                <a:solidFill>
                  <a:srgbClr val="6F2F9F"/>
                </a:solidFill>
                <a:latin typeface="Calibri"/>
                <a:cs typeface="Calibri"/>
              </a:rPr>
              <a:t> c}}</a:t>
            </a:r>
            <a:r>
              <a:rPr sz="2000" b="1" spc="-2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Hasse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diagram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0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0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partial</a:t>
            </a:r>
            <a:r>
              <a:rPr sz="20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ordered</a:t>
            </a:r>
            <a:r>
              <a:rPr sz="20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0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shown</a:t>
            </a:r>
            <a:r>
              <a:rPr sz="20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0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fig: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6200" y="1249680"/>
            <a:ext cx="3276600" cy="21275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0641" y="3414521"/>
            <a:ext cx="10749280" cy="9086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10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Example: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Draw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Hasse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diagram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representing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positive</a:t>
            </a:r>
            <a:r>
              <a:rPr sz="2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divisions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of 36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(i.e.,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36).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Solution:</a:t>
            </a:r>
            <a:r>
              <a:rPr sz="2000" b="1" spc="-6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We</a:t>
            </a:r>
            <a:r>
              <a:rPr sz="20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have</a:t>
            </a:r>
            <a:r>
              <a:rPr sz="20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D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36</a:t>
            </a:r>
            <a:r>
              <a:rPr sz="20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1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2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3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4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6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9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12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18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36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}</a:t>
            </a:r>
            <a:r>
              <a:rPr sz="2000" b="1" i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if</a:t>
            </a:r>
            <a:r>
              <a:rPr sz="20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and</a:t>
            </a:r>
            <a:r>
              <a:rPr sz="20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only</a:t>
            </a:r>
            <a:r>
              <a:rPr sz="20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000" b="1" i="1" spc="-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divides</a:t>
            </a:r>
            <a:r>
              <a:rPr sz="20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.</a:t>
            </a:r>
            <a:r>
              <a:rPr sz="2000" b="1" spc="-6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The</a:t>
            </a:r>
            <a:r>
              <a:rPr sz="20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Hasse</a:t>
            </a:r>
            <a:r>
              <a:rPr sz="20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diagram</a:t>
            </a:r>
            <a:r>
              <a:rPr sz="20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for</a:t>
            </a:r>
            <a:r>
              <a:rPr sz="2000" b="1" spc="-6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i="1" spc="-50" dirty="0">
                <a:solidFill>
                  <a:srgbClr val="4A2BD4"/>
                </a:solidFill>
                <a:latin typeface="Times New Roman"/>
                <a:cs typeface="Times New Roman"/>
              </a:rPr>
              <a:t>R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0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shown</a:t>
            </a:r>
            <a:r>
              <a:rPr sz="20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A2BD4"/>
                </a:solidFill>
                <a:latin typeface="Times New Roman"/>
                <a:cs typeface="Times New Roman"/>
              </a:rPr>
              <a:t>in</a:t>
            </a:r>
            <a:r>
              <a:rPr sz="20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Fig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4255" y="4215384"/>
            <a:ext cx="328879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45036" y="6486550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2970" y="2149856"/>
            <a:ext cx="10760075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C55A11"/>
                </a:solidFill>
              </a:rPr>
              <a:t>Functions:</a:t>
            </a:r>
            <a:r>
              <a:rPr spc="-90" dirty="0">
                <a:solidFill>
                  <a:srgbClr val="C55A11"/>
                </a:solidFill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Inverse</a:t>
            </a:r>
            <a:r>
              <a:rPr b="0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Function,</a:t>
            </a:r>
            <a:r>
              <a:rPr b="0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Composition</a:t>
            </a:r>
            <a:r>
              <a:rPr b="0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b="0" spc="-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functions,</a:t>
            </a:r>
            <a:r>
              <a:rPr b="0" spc="-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AF50"/>
                </a:solidFill>
                <a:latin typeface="Times New Roman"/>
                <a:cs typeface="Times New Roman"/>
              </a:rPr>
              <a:t>recursive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Functions,</a:t>
            </a:r>
            <a:r>
              <a:rPr b="0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Lattices</a:t>
            </a:r>
            <a:r>
              <a:rPr b="0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b="0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its</a:t>
            </a:r>
            <a:r>
              <a:rPr b="0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AF50"/>
                </a:solidFill>
                <a:latin typeface="Times New Roman"/>
                <a:cs typeface="Times New Roman"/>
              </a:rPr>
              <a:t>Properties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600" y="929639"/>
            <a:ext cx="11123930" cy="31667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00"/>
              </a:spcBef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function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is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special</a:t>
            </a:r>
            <a:r>
              <a:rPr sz="2400" b="1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case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relation.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590"/>
              </a:lnSpc>
              <a:spcBef>
                <a:spcPts val="1025"/>
              </a:spcBef>
            </a:pP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Definition:</a:t>
            </a:r>
            <a:r>
              <a:rPr sz="2400" b="1" spc="-4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i="1" spc="-1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any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two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sets.</a:t>
            </a:r>
            <a:r>
              <a:rPr sz="2400" b="1" spc="-1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relation</a:t>
            </a:r>
            <a:r>
              <a:rPr sz="2400" b="1" spc="5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i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from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i="1" spc="-1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called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if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sz="2400" b="1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every </a:t>
            </a:r>
            <a:r>
              <a:rPr sz="2400" b="1" i="1" spc="-30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500" spc="-3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-10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there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unique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element</a:t>
            </a:r>
            <a:r>
              <a:rPr sz="24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i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-1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i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such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that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(a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400" b="1" i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)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-1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6350" algn="just">
              <a:lnSpc>
                <a:spcPct val="90000"/>
              </a:lnSpc>
              <a:spcBef>
                <a:spcPts val="97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write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b=f(a).</a:t>
            </a:r>
            <a:r>
              <a:rPr sz="2400" b="1" spc="5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Here, b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image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preimage</a:t>
            </a:r>
            <a:r>
              <a:rPr sz="24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b,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under</a:t>
            </a:r>
            <a:r>
              <a:rPr sz="2400" b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f.</a:t>
            </a:r>
            <a:r>
              <a:rPr sz="2400" b="1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also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argument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f,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b=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f(a)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then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value</a:t>
            </a:r>
            <a:r>
              <a:rPr sz="24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400" b="1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argument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  <a:p>
            <a:pPr marL="12700" marR="337185" algn="just">
              <a:lnSpc>
                <a:spcPts val="2590"/>
              </a:lnSpc>
              <a:spcBef>
                <a:spcPts val="1050"/>
              </a:spcBef>
            </a:pP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function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f 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from</a:t>
            </a:r>
            <a:r>
              <a:rPr sz="2400" b="1" spc="-1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to</a:t>
            </a:r>
            <a:r>
              <a:rPr sz="2400" b="1" spc="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denoted</a:t>
            </a:r>
            <a:r>
              <a:rPr sz="24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by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f:</a:t>
            </a:r>
            <a:r>
              <a:rPr sz="2400" b="1" spc="-1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→ B .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pictorial</a:t>
            </a:r>
            <a:r>
              <a:rPr sz="24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representation</a:t>
            </a:r>
            <a:r>
              <a:rPr sz="2400" b="1" spc="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of f</a:t>
            </a:r>
            <a:r>
              <a:rPr sz="2400" b="1" spc="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is 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as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shown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below.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82336" y="434162"/>
            <a:ext cx="17399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Functions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938527" y="4227576"/>
            <a:ext cx="3764279" cy="1816735"/>
            <a:chOff x="1938527" y="4227576"/>
            <a:chExt cx="3764279" cy="1816735"/>
          </a:xfrm>
        </p:grpSpPr>
        <p:sp>
          <p:nvSpPr>
            <p:cNvPr id="5" name="object 5"/>
            <p:cNvSpPr/>
            <p:nvPr/>
          </p:nvSpPr>
          <p:spPr>
            <a:xfrm>
              <a:off x="1944623" y="4233672"/>
              <a:ext cx="3752215" cy="1804670"/>
            </a:xfrm>
            <a:custGeom>
              <a:avLst/>
              <a:gdLst/>
              <a:ahLst/>
              <a:cxnLst/>
              <a:rect l="l" t="t" r="r" b="b"/>
              <a:pathLst>
                <a:path w="3752215" h="1804670">
                  <a:moveTo>
                    <a:pt x="0" y="903732"/>
                  </a:moveTo>
                  <a:lnTo>
                    <a:pt x="1189" y="844509"/>
                  </a:lnTo>
                  <a:lnTo>
                    <a:pt x="4710" y="786309"/>
                  </a:lnTo>
                  <a:lnTo>
                    <a:pt x="10487" y="729251"/>
                  </a:lnTo>
                  <a:lnTo>
                    <a:pt x="18447" y="673454"/>
                  </a:lnTo>
                  <a:lnTo>
                    <a:pt x="28517" y="619036"/>
                  </a:lnTo>
                  <a:lnTo>
                    <a:pt x="40622" y="566116"/>
                  </a:lnTo>
                  <a:lnTo>
                    <a:pt x="54689" y="514813"/>
                  </a:lnTo>
                  <a:lnTo>
                    <a:pt x="70644" y="465245"/>
                  </a:lnTo>
                  <a:lnTo>
                    <a:pt x="88413" y="417530"/>
                  </a:lnTo>
                  <a:lnTo>
                    <a:pt x="107923" y="371788"/>
                  </a:lnTo>
                  <a:lnTo>
                    <a:pt x="129100" y="328138"/>
                  </a:lnTo>
                  <a:lnTo>
                    <a:pt x="151870" y="286697"/>
                  </a:lnTo>
                  <a:lnTo>
                    <a:pt x="176160" y="247585"/>
                  </a:lnTo>
                  <a:lnTo>
                    <a:pt x="201895" y="210919"/>
                  </a:lnTo>
                  <a:lnTo>
                    <a:pt x="229002" y="176820"/>
                  </a:lnTo>
                  <a:lnTo>
                    <a:pt x="257407" y="145405"/>
                  </a:lnTo>
                  <a:lnTo>
                    <a:pt x="287037" y="116793"/>
                  </a:lnTo>
                  <a:lnTo>
                    <a:pt x="317817" y="91103"/>
                  </a:lnTo>
                  <a:lnTo>
                    <a:pt x="349675" y="68453"/>
                  </a:lnTo>
                  <a:lnTo>
                    <a:pt x="382536" y="48963"/>
                  </a:lnTo>
                  <a:lnTo>
                    <a:pt x="450972" y="19933"/>
                  </a:lnTo>
                  <a:lnTo>
                    <a:pt x="522537" y="4963"/>
                  </a:lnTo>
                  <a:lnTo>
                    <a:pt x="559307" y="3047"/>
                  </a:lnTo>
                  <a:lnTo>
                    <a:pt x="596078" y="4963"/>
                  </a:lnTo>
                  <a:lnTo>
                    <a:pt x="667643" y="19933"/>
                  </a:lnTo>
                  <a:lnTo>
                    <a:pt x="736079" y="48963"/>
                  </a:lnTo>
                  <a:lnTo>
                    <a:pt x="768940" y="68453"/>
                  </a:lnTo>
                  <a:lnTo>
                    <a:pt x="800798" y="91103"/>
                  </a:lnTo>
                  <a:lnTo>
                    <a:pt x="831578" y="116793"/>
                  </a:lnTo>
                  <a:lnTo>
                    <a:pt x="861208" y="145405"/>
                  </a:lnTo>
                  <a:lnTo>
                    <a:pt x="889613" y="176820"/>
                  </a:lnTo>
                  <a:lnTo>
                    <a:pt x="916720" y="210919"/>
                  </a:lnTo>
                  <a:lnTo>
                    <a:pt x="942455" y="247585"/>
                  </a:lnTo>
                  <a:lnTo>
                    <a:pt x="966745" y="286697"/>
                  </a:lnTo>
                  <a:lnTo>
                    <a:pt x="989515" y="328138"/>
                  </a:lnTo>
                  <a:lnTo>
                    <a:pt x="1010692" y="371788"/>
                  </a:lnTo>
                  <a:lnTo>
                    <a:pt x="1030202" y="417530"/>
                  </a:lnTo>
                  <a:lnTo>
                    <a:pt x="1047971" y="465245"/>
                  </a:lnTo>
                  <a:lnTo>
                    <a:pt x="1063926" y="514813"/>
                  </a:lnTo>
                  <a:lnTo>
                    <a:pt x="1077993" y="566116"/>
                  </a:lnTo>
                  <a:lnTo>
                    <a:pt x="1090098" y="619036"/>
                  </a:lnTo>
                  <a:lnTo>
                    <a:pt x="1100168" y="673454"/>
                  </a:lnTo>
                  <a:lnTo>
                    <a:pt x="1108128" y="729251"/>
                  </a:lnTo>
                  <a:lnTo>
                    <a:pt x="1113905" y="786309"/>
                  </a:lnTo>
                  <a:lnTo>
                    <a:pt x="1117426" y="844509"/>
                  </a:lnTo>
                  <a:lnTo>
                    <a:pt x="1118615" y="903732"/>
                  </a:lnTo>
                  <a:lnTo>
                    <a:pt x="1117426" y="962952"/>
                  </a:lnTo>
                  <a:lnTo>
                    <a:pt x="1113905" y="1021149"/>
                  </a:lnTo>
                  <a:lnTo>
                    <a:pt x="1108128" y="1078205"/>
                  </a:lnTo>
                  <a:lnTo>
                    <a:pt x="1100168" y="1134000"/>
                  </a:lnTo>
                  <a:lnTo>
                    <a:pt x="1090098" y="1188417"/>
                  </a:lnTo>
                  <a:lnTo>
                    <a:pt x="1077993" y="1241336"/>
                  </a:lnTo>
                  <a:lnTo>
                    <a:pt x="1063926" y="1292639"/>
                  </a:lnTo>
                  <a:lnTo>
                    <a:pt x="1047971" y="1342207"/>
                  </a:lnTo>
                  <a:lnTo>
                    <a:pt x="1030202" y="1389922"/>
                  </a:lnTo>
                  <a:lnTo>
                    <a:pt x="1010692" y="1435664"/>
                  </a:lnTo>
                  <a:lnTo>
                    <a:pt x="989515" y="1479315"/>
                  </a:lnTo>
                  <a:lnTo>
                    <a:pt x="966745" y="1520756"/>
                  </a:lnTo>
                  <a:lnTo>
                    <a:pt x="942455" y="1559869"/>
                  </a:lnTo>
                  <a:lnTo>
                    <a:pt x="916720" y="1596535"/>
                  </a:lnTo>
                  <a:lnTo>
                    <a:pt x="889613" y="1630636"/>
                  </a:lnTo>
                  <a:lnTo>
                    <a:pt x="861208" y="1662052"/>
                  </a:lnTo>
                  <a:lnTo>
                    <a:pt x="831578" y="1690664"/>
                  </a:lnTo>
                  <a:lnTo>
                    <a:pt x="800798" y="1716356"/>
                  </a:lnTo>
                  <a:lnTo>
                    <a:pt x="768940" y="1739006"/>
                  </a:lnTo>
                  <a:lnTo>
                    <a:pt x="736079" y="1758498"/>
                  </a:lnTo>
                  <a:lnTo>
                    <a:pt x="667643" y="1787529"/>
                  </a:lnTo>
                  <a:lnTo>
                    <a:pt x="596078" y="1802500"/>
                  </a:lnTo>
                  <a:lnTo>
                    <a:pt x="559307" y="1804415"/>
                  </a:lnTo>
                  <a:lnTo>
                    <a:pt x="522537" y="1802500"/>
                  </a:lnTo>
                  <a:lnTo>
                    <a:pt x="450972" y="1787529"/>
                  </a:lnTo>
                  <a:lnTo>
                    <a:pt x="382536" y="1758498"/>
                  </a:lnTo>
                  <a:lnTo>
                    <a:pt x="349675" y="1739006"/>
                  </a:lnTo>
                  <a:lnTo>
                    <a:pt x="317817" y="1716356"/>
                  </a:lnTo>
                  <a:lnTo>
                    <a:pt x="287037" y="1690664"/>
                  </a:lnTo>
                  <a:lnTo>
                    <a:pt x="257407" y="1662052"/>
                  </a:lnTo>
                  <a:lnTo>
                    <a:pt x="229002" y="1630636"/>
                  </a:lnTo>
                  <a:lnTo>
                    <a:pt x="201895" y="1596535"/>
                  </a:lnTo>
                  <a:lnTo>
                    <a:pt x="176160" y="1559869"/>
                  </a:lnTo>
                  <a:lnTo>
                    <a:pt x="151870" y="1520756"/>
                  </a:lnTo>
                  <a:lnTo>
                    <a:pt x="129100" y="1479315"/>
                  </a:lnTo>
                  <a:lnTo>
                    <a:pt x="107923" y="1435664"/>
                  </a:lnTo>
                  <a:lnTo>
                    <a:pt x="88413" y="1389922"/>
                  </a:lnTo>
                  <a:lnTo>
                    <a:pt x="70644" y="1342207"/>
                  </a:lnTo>
                  <a:lnTo>
                    <a:pt x="54689" y="1292639"/>
                  </a:lnTo>
                  <a:lnTo>
                    <a:pt x="40622" y="1241336"/>
                  </a:lnTo>
                  <a:lnTo>
                    <a:pt x="28517" y="1188417"/>
                  </a:lnTo>
                  <a:lnTo>
                    <a:pt x="18447" y="1134000"/>
                  </a:lnTo>
                  <a:lnTo>
                    <a:pt x="10487" y="1078205"/>
                  </a:lnTo>
                  <a:lnTo>
                    <a:pt x="4710" y="1021149"/>
                  </a:lnTo>
                  <a:lnTo>
                    <a:pt x="1189" y="962952"/>
                  </a:lnTo>
                  <a:lnTo>
                    <a:pt x="0" y="903732"/>
                  </a:lnTo>
                  <a:close/>
                </a:path>
                <a:path w="3752215" h="1804670">
                  <a:moveTo>
                    <a:pt x="2633472" y="876300"/>
                  </a:moveTo>
                  <a:lnTo>
                    <a:pt x="2634661" y="818679"/>
                  </a:lnTo>
                  <a:lnTo>
                    <a:pt x="2638182" y="762055"/>
                  </a:lnTo>
                  <a:lnTo>
                    <a:pt x="2643959" y="706541"/>
                  </a:lnTo>
                  <a:lnTo>
                    <a:pt x="2651919" y="652254"/>
                  </a:lnTo>
                  <a:lnTo>
                    <a:pt x="2661989" y="599309"/>
                  </a:lnTo>
                  <a:lnTo>
                    <a:pt x="2674094" y="547822"/>
                  </a:lnTo>
                  <a:lnTo>
                    <a:pt x="2688161" y="497907"/>
                  </a:lnTo>
                  <a:lnTo>
                    <a:pt x="2704116" y="449681"/>
                  </a:lnTo>
                  <a:lnTo>
                    <a:pt x="2721885" y="403259"/>
                  </a:lnTo>
                  <a:lnTo>
                    <a:pt x="2741395" y="358755"/>
                  </a:lnTo>
                  <a:lnTo>
                    <a:pt x="2762572" y="316286"/>
                  </a:lnTo>
                  <a:lnTo>
                    <a:pt x="2785342" y="275968"/>
                  </a:lnTo>
                  <a:lnTo>
                    <a:pt x="2809632" y="237914"/>
                  </a:lnTo>
                  <a:lnTo>
                    <a:pt x="2835367" y="202242"/>
                  </a:lnTo>
                  <a:lnTo>
                    <a:pt x="2862474" y="169066"/>
                  </a:lnTo>
                  <a:lnTo>
                    <a:pt x="2890879" y="138502"/>
                  </a:lnTo>
                  <a:lnTo>
                    <a:pt x="2920509" y="110665"/>
                  </a:lnTo>
                  <a:lnTo>
                    <a:pt x="2951289" y="85670"/>
                  </a:lnTo>
                  <a:lnTo>
                    <a:pt x="2983147" y="63634"/>
                  </a:lnTo>
                  <a:lnTo>
                    <a:pt x="3049798" y="28897"/>
                  </a:lnTo>
                  <a:lnTo>
                    <a:pt x="3119872" y="7378"/>
                  </a:lnTo>
                  <a:lnTo>
                    <a:pt x="3192779" y="0"/>
                  </a:lnTo>
                  <a:lnTo>
                    <a:pt x="3229550" y="1863"/>
                  </a:lnTo>
                  <a:lnTo>
                    <a:pt x="3301115" y="16428"/>
                  </a:lnTo>
                  <a:lnTo>
                    <a:pt x="3369551" y="44671"/>
                  </a:lnTo>
                  <a:lnTo>
                    <a:pt x="3434270" y="85670"/>
                  </a:lnTo>
                  <a:lnTo>
                    <a:pt x="3465050" y="110665"/>
                  </a:lnTo>
                  <a:lnTo>
                    <a:pt x="3494680" y="138502"/>
                  </a:lnTo>
                  <a:lnTo>
                    <a:pt x="3523085" y="169066"/>
                  </a:lnTo>
                  <a:lnTo>
                    <a:pt x="3550192" y="202242"/>
                  </a:lnTo>
                  <a:lnTo>
                    <a:pt x="3575927" y="237914"/>
                  </a:lnTo>
                  <a:lnTo>
                    <a:pt x="3600217" y="275968"/>
                  </a:lnTo>
                  <a:lnTo>
                    <a:pt x="3622987" y="316286"/>
                  </a:lnTo>
                  <a:lnTo>
                    <a:pt x="3644164" y="358755"/>
                  </a:lnTo>
                  <a:lnTo>
                    <a:pt x="3663674" y="403259"/>
                  </a:lnTo>
                  <a:lnTo>
                    <a:pt x="3681443" y="449681"/>
                  </a:lnTo>
                  <a:lnTo>
                    <a:pt x="3697398" y="497907"/>
                  </a:lnTo>
                  <a:lnTo>
                    <a:pt x="3711465" y="547822"/>
                  </a:lnTo>
                  <a:lnTo>
                    <a:pt x="3723570" y="599309"/>
                  </a:lnTo>
                  <a:lnTo>
                    <a:pt x="3733640" y="652254"/>
                  </a:lnTo>
                  <a:lnTo>
                    <a:pt x="3741600" y="706541"/>
                  </a:lnTo>
                  <a:lnTo>
                    <a:pt x="3747377" y="762055"/>
                  </a:lnTo>
                  <a:lnTo>
                    <a:pt x="3750898" y="818679"/>
                  </a:lnTo>
                  <a:lnTo>
                    <a:pt x="3752088" y="876300"/>
                  </a:lnTo>
                  <a:lnTo>
                    <a:pt x="3750898" y="933917"/>
                  </a:lnTo>
                  <a:lnTo>
                    <a:pt x="3747377" y="990539"/>
                  </a:lnTo>
                  <a:lnTo>
                    <a:pt x="3741600" y="1046051"/>
                  </a:lnTo>
                  <a:lnTo>
                    <a:pt x="3733640" y="1100336"/>
                  </a:lnTo>
                  <a:lnTo>
                    <a:pt x="3723570" y="1153280"/>
                  </a:lnTo>
                  <a:lnTo>
                    <a:pt x="3711465" y="1204766"/>
                  </a:lnTo>
                  <a:lnTo>
                    <a:pt x="3697398" y="1254681"/>
                  </a:lnTo>
                  <a:lnTo>
                    <a:pt x="3681443" y="1302907"/>
                  </a:lnTo>
                  <a:lnTo>
                    <a:pt x="3663674" y="1349329"/>
                  </a:lnTo>
                  <a:lnTo>
                    <a:pt x="3644164" y="1393833"/>
                  </a:lnTo>
                  <a:lnTo>
                    <a:pt x="3622987" y="1436302"/>
                  </a:lnTo>
                  <a:lnTo>
                    <a:pt x="3600217" y="1476621"/>
                  </a:lnTo>
                  <a:lnTo>
                    <a:pt x="3575927" y="1514675"/>
                  </a:lnTo>
                  <a:lnTo>
                    <a:pt x="3550192" y="1550349"/>
                  </a:lnTo>
                  <a:lnTo>
                    <a:pt x="3523085" y="1583526"/>
                  </a:lnTo>
                  <a:lnTo>
                    <a:pt x="3494680" y="1614091"/>
                  </a:lnTo>
                  <a:lnTo>
                    <a:pt x="3465050" y="1641929"/>
                  </a:lnTo>
                  <a:lnTo>
                    <a:pt x="3434270" y="1666925"/>
                  </a:lnTo>
                  <a:lnTo>
                    <a:pt x="3402412" y="1688962"/>
                  </a:lnTo>
                  <a:lnTo>
                    <a:pt x="3335761" y="1723700"/>
                  </a:lnTo>
                  <a:lnTo>
                    <a:pt x="3265687" y="1745221"/>
                  </a:lnTo>
                  <a:lnTo>
                    <a:pt x="3192779" y="1752600"/>
                  </a:lnTo>
                  <a:lnTo>
                    <a:pt x="3156009" y="1750736"/>
                  </a:lnTo>
                  <a:lnTo>
                    <a:pt x="3084444" y="1736170"/>
                  </a:lnTo>
                  <a:lnTo>
                    <a:pt x="3016008" y="1707926"/>
                  </a:lnTo>
                  <a:lnTo>
                    <a:pt x="2951289" y="1666925"/>
                  </a:lnTo>
                  <a:lnTo>
                    <a:pt x="2920509" y="1641929"/>
                  </a:lnTo>
                  <a:lnTo>
                    <a:pt x="2890879" y="1614091"/>
                  </a:lnTo>
                  <a:lnTo>
                    <a:pt x="2862474" y="1583526"/>
                  </a:lnTo>
                  <a:lnTo>
                    <a:pt x="2835367" y="1550349"/>
                  </a:lnTo>
                  <a:lnTo>
                    <a:pt x="2809632" y="1514675"/>
                  </a:lnTo>
                  <a:lnTo>
                    <a:pt x="2785342" y="1476621"/>
                  </a:lnTo>
                  <a:lnTo>
                    <a:pt x="2762572" y="1436302"/>
                  </a:lnTo>
                  <a:lnTo>
                    <a:pt x="2741395" y="1393833"/>
                  </a:lnTo>
                  <a:lnTo>
                    <a:pt x="2721885" y="1349329"/>
                  </a:lnTo>
                  <a:lnTo>
                    <a:pt x="2704116" y="1302907"/>
                  </a:lnTo>
                  <a:lnTo>
                    <a:pt x="2688161" y="1254681"/>
                  </a:lnTo>
                  <a:lnTo>
                    <a:pt x="2674094" y="1204766"/>
                  </a:lnTo>
                  <a:lnTo>
                    <a:pt x="2661989" y="1153280"/>
                  </a:lnTo>
                  <a:lnTo>
                    <a:pt x="2651919" y="1100336"/>
                  </a:lnTo>
                  <a:lnTo>
                    <a:pt x="2643959" y="1046051"/>
                  </a:lnTo>
                  <a:lnTo>
                    <a:pt x="2638182" y="990539"/>
                  </a:lnTo>
                  <a:lnTo>
                    <a:pt x="2634661" y="933917"/>
                  </a:lnTo>
                  <a:lnTo>
                    <a:pt x="2633472" y="876300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60904" y="5108448"/>
              <a:ext cx="2259330" cy="29845"/>
            </a:xfrm>
            <a:custGeom>
              <a:avLst/>
              <a:gdLst/>
              <a:ahLst/>
              <a:cxnLst/>
              <a:rect l="l" t="t" r="r" b="b"/>
              <a:pathLst>
                <a:path w="2259329" h="29845">
                  <a:moveTo>
                    <a:pt x="0" y="0"/>
                  </a:moveTo>
                  <a:lnTo>
                    <a:pt x="2259203" y="29463"/>
                  </a:lnTo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14448" y="4944236"/>
            <a:ext cx="13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9209" y="4936997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3190" y="4359021"/>
            <a:ext cx="208915" cy="9340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b="1" spc="-50" dirty="0">
                <a:latin typeface="Calibri"/>
                <a:cs typeface="Calibri"/>
              </a:rPr>
              <a:t>f</a:t>
            </a:r>
            <a:endParaRPr sz="240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695"/>
              </a:spcBef>
            </a:pPr>
            <a:r>
              <a:rPr sz="2400" b="1" spc="-50" dirty="0">
                <a:latin typeface="Calibri"/>
                <a:cs typeface="Calibri"/>
              </a:rPr>
              <a:t>&gt;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6964" y="6167729"/>
            <a:ext cx="21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1053" y="6098844"/>
            <a:ext cx="196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885" y="956894"/>
            <a:ext cx="11002645" cy="77787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marR="5080" indent="-228600">
              <a:lnSpc>
                <a:spcPts val="2810"/>
              </a:lnSpc>
              <a:spcBef>
                <a:spcPts val="445"/>
              </a:spcBef>
            </a:pPr>
            <a:r>
              <a:rPr sz="2600" dirty="0"/>
              <a:t>Example:</a:t>
            </a:r>
            <a:r>
              <a:rPr sz="2600" spc="-15" dirty="0"/>
              <a:t> </a:t>
            </a:r>
            <a:r>
              <a:rPr sz="2600" dirty="0"/>
              <a:t>Let</a:t>
            </a:r>
            <a:r>
              <a:rPr sz="2600" spc="-15" dirty="0"/>
              <a:t> </a:t>
            </a:r>
            <a:r>
              <a:rPr sz="2600" dirty="0"/>
              <a:t>X</a:t>
            </a:r>
            <a:r>
              <a:rPr sz="2600" spc="-35" dirty="0"/>
              <a:t> </a:t>
            </a:r>
            <a:r>
              <a:rPr sz="2600" dirty="0"/>
              <a:t>=</a:t>
            </a:r>
            <a:r>
              <a:rPr sz="2600" spc="-25" dirty="0"/>
              <a:t> </a:t>
            </a:r>
            <a:r>
              <a:rPr sz="2600" dirty="0"/>
              <a:t>{1,</a:t>
            </a:r>
            <a:r>
              <a:rPr sz="2600" spc="-30" dirty="0"/>
              <a:t> </a:t>
            </a:r>
            <a:r>
              <a:rPr sz="2600" dirty="0"/>
              <a:t>2,</a:t>
            </a:r>
            <a:r>
              <a:rPr sz="2600" spc="-35" dirty="0"/>
              <a:t> </a:t>
            </a:r>
            <a:r>
              <a:rPr sz="2600" dirty="0"/>
              <a:t>3},</a:t>
            </a:r>
            <a:r>
              <a:rPr sz="2600" spc="-114" dirty="0"/>
              <a:t> </a:t>
            </a:r>
            <a:r>
              <a:rPr sz="2600" dirty="0"/>
              <a:t>Y</a:t>
            </a:r>
            <a:r>
              <a:rPr sz="2600" spc="-105" dirty="0"/>
              <a:t> </a:t>
            </a:r>
            <a:r>
              <a:rPr sz="2600" dirty="0"/>
              <a:t>=</a:t>
            </a:r>
            <a:r>
              <a:rPr sz="2600" spc="-25" dirty="0"/>
              <a:t> </a:t>
            </a:r>
            <a:r>
              <a:rPr sz="2600" dirty="0"/>
              <a:t>{p,</a:t>
            </a:r>
            <a:r>
              <a:rPr sz="2600" spc="-30" dirty="0"/>
              <a:t> </a:t>
            </a:r>
            <a:r>
              <a:rPr sz="2600" dirty="0"/>
              <a:t>q,</a:t>
            </a:r>
            <a:r>
              <a:rPr sz="2600" spc="-20" dirty="0"/>
              <a:t> </a:t>
            </a:r>
            <a:r>
              <a:rPr sz="2600" dirty="0"/>
              <a:t>r}</a:t>
            </a:r>
            <a:r>
              <a:rPr sz="2600" spc="-45" dirty="0"/>
              <a:t> </a:t>
            </a:r>
            <a:r>
              <a:rPr sz="2600" dirty="0"/>
              <a:t>and</a:t>
            </a:r>
            <a:r>
              <a:rPr sz="2600" spc="-20" dirty="0"/>
              <a:t> </a:t>
            </a:r>
            <a:r>
              <a:rPr sz="2600" dirty="0"/>
              <a:t>f</a:t>
            </a:r>
            <a:r>
              <a:rPr sz="2600" spc="-30" dirty="0"/>
              <a:t> </a:t>
            </a:r>
            <a:r>
              <a:rPr sz="2600" dirty="0"/>
              <a:t>=</a:t>
            </a:r>
            <a:r>
              <a:rPr sz="2600" spc="-30" dirty="0"/>
              <a:t> </a:t>
            </a:r>
            <a:r>
              <a:rPr sz="2600" dirty="0"/>
              <a:t>{(1,</a:t>
            </a:r>
            <a:r>
              <a:rPr sz="2600" spc="-30" dirty="0"/>
              <a:t> </a:t>
            </a:r>
            <a:r>
              <a:rPr sz="2600" dirty="0"/>
              <a:t>q),</a:t>
            </a:r>
            <a:r>
              <a:rPr sz="2600" spc="-20" dirty="0"/>
              <a:t> </a:t>
            </a:r>
            <a:r>
              <a:rPr sz="2600" dirty="0"/>
              <a:t>(2,</a:t>
            </a:r>
            <a:r>
              <a:rPr sz="2600" spc="-30" dirty="0"/>
              <a:t> </a:t>
            </a:r>
            <a:r>
              <a:rPr sz="2600" dirty="0"/>
              <a:t>p),</a:t>
            </a:r>
            <a:r>
              <a:rPr sz="2600" spc="-20" dirty="0"/>
              <a:t> </a:t>
            </a:r>
            <a:r>
              <a:rPr sz="2600" dirty="0"/>
              <a:t>(3,</a:t>
            </a:r>
            <a:r>
              <a:rPr sz="2600" spc="-30" dirty="0"/>
              <a:t> </a:t>
            </a:r>
            <a:r>
              <a:rPr sz="2600" dirty="0"/>
              <a:t>r)}</a:t>
            </a:r>
            <a:r>
              <a:rPr sz="2600" spc="-30" dirty="0"/>
              <a:t> </a:t>
            </a:r>
            <a:r>
              <a:rPr sz="2600" dirty="0"/>
              <a:t>then</a:t>
            </a:r>
            <a:r>
              <a:rPr sz="2600" spc="-35" dirty="0"/>
              <a:t> </a:t>
            </a:r>
            <a:r>
              <a:rPr sz="2600" dirty="0"/>
              <a:t>f(1)</a:t>
            </a:r>
            <a:r>
              <a:rPr sz="2600" spc="-30" dirty="0"/>
              <a:t> </a:t>
            </a:r>
            <a:r>
              <a:rPr sz="2600" spc="-50" dirty="0"/>
              <a:t>= </a:t>
            </a:r>
            <a:r>
              <a:rPr sz="2600" dirty="0"/>
              <a:t>q,</a:t>
            </a:r>
            <a:r>
              <a:rPr sz="2600" spc="-10" dirty="0"/>
              <a:t> </a:t>
            </a:r>
            <a:r>
              <a:rPr sz="2600" dirty="0"/>
              <a:t>f(2)</a:t>
            </a:r>
            <a:r>
              <a:rPr sz="2600" spc="-25" dirty="0"/>
              <a:t> </a:t>
            </a:r>
            <a:r>
              <a:rPr sz="2600" dirty="0"/>
              <a:t>=</a:t>
            </a:r>
            <a:r>
              <a:rPr sz="2600" spc="-30" dirty="0"/>
              <a:t> </a:t>
            </a:r>
            <a:r>
              <a:rPr sz="2600" dirty="0"/>
              <a:t>p,</a:t>
            </a:r>
            <a:r>
              <a:rPr sz="2600" spc="-25" dirty="0"/>
              <a:t> </a:t>
            </a:r>
            <a:r>
              <a:rPr sz="2600" dirty="0"/>
              <a:t>f(3)=</a:t>
            </a:r>
            <a:r>
              <a:rPr sz="2600" spc="-20" dirty="0"/>
              <a:t> </a:t>
            </a:r>
            <a:r>
              <a:rPr sz="2600" spc="-25" dirty="0"/>
              <a:t>r.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640181" y="1796033"/>
            <a:ext cx="497967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dirty="0">
                <a:latin typeface="Times New Roman"/>
                <a:cs typeface="Times New Roman"/>
              </a:rPr>
              <a:t>Clearly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is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function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from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X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</a:t>
            </a:r>
            <a:r>
              <a:rPr sz="2600" b="1" spc="-1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Y</a:t>
            </a:r>
            <a:r>
              <a:rPr sz="2600" b="1" spc="-130" dirty="0">
                <a:latin typeface="Times New Roman"/>
                <a:cs typeface="Times New Roman"/>
              </a:rPr>
              <a:t> </a:t>
            </a:r>
            <a:r>
              <a:rPr sz="2600" b="1" spc="-5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0896" y="2407920"/>
            <a:ext cx="2295144" cy="14325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6556" y="4074998"/>
            <a:ext cx="11089005" cy="184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840855" algn="l"/>
              </a:tabLst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Domain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Range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Function:</a:t>
            </a:r>
            <a:r>
              <a:rPr sz="24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: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→</a:t>
            </a:r>
            <a:r>
              <a:rPr sz="2400" b="1" spc="-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spc="-1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function,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called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the </a:t>
            </a:r>
            <a:r>
              <a:rPr sz="24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Domain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 of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400" b="1" spc="-1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spc="-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called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co-</a:t>
            </a:r>
            <a:r>
              <a:rPr sz="24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domain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	f.</a:t>
            </a:r>
            <a:r>
              <a:rPr sz="2400" b="1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range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defined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as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all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images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under</a:t>
            </a:r>
            <a:r>
              <a:rPr sz="2400" b="1" spc="-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f.</a:t>
            </a:r>
            <a:endParaRPr sz="2400">
              <a:latin typeface="Times New Roman"/>
              <a:cs typeface="Times New Roman"/>
            </a:endParaRPr>
          </a:p>
          <a:p>
            <a:pPr marL="12700" marR="134620">
              <a:lnSpc>
                <a:spcPts val="2810"/>
              </a:lnSpc>
              <a:spcBef>
                <a:spcPts val="16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It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denoted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f(X)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{y|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4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some</a:t>
            </a:r>
            <a:r>
              <a:rPr sz="24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X,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f(x)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y}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image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1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spc="-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.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Range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also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denoted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by Rf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2455" y="797229"/>
            <a:ext cx="11378565" cy="486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880">
              <a:lnSpc>
                <a:spcPct val="122400"/>
              </a:lnSpc>
              <a:spcBef>
                <a:spcPts val="100"/>
              </a:spcBef>
            </a:pP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r>
              <a:rPr sz="26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26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6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defined</a:t>
            </a:r>
            <a:r>
              <a:rPr sz="26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f(x)=x</a:t>
            </a:r>
            <a:r>
              <a:rPr sz="2550" baseline="261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550" spc="217" baseline="2614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26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6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6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6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{−2,</a:t>
            </a:r>
            <a:r>
              <a:rPr sz="26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−1,</a:t>
            </a:r>
            <a:r>
              <a:rPr sz="26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0,</a:t>
            </a:r>
            <a:r>
              <a:rPr sz="26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1,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2},</a:t>
            </a:r>
            <a:r>
              <a:rPr sz="26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find</a:t>
            </a:r>
            <a:r>
              <a:rPr sz="26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range</a:t>
            </a:r>
            <a:r>
              <a:rPr sz="26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6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f.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600">
              <a:latin typeface="Calibri"/>
              <a:cs typeface="Calibri"/>
            </a:endParaRPr>
          </a:p>
          <a:p>
            <a:pPr marR="7478395" algn="r">
              <a:lnSpc>
                <a:spcPct val="100000"/>
              </a:lnSpc>
            </a:pPr>
            <a:r>
              <a:rPr sz="2600" dirty="0">
                <a:latin typeface="Calibri"/>
                <a:cs typeface="Calibri"/>
              </a:rPr>
              <a:t>Solution: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f(−2)</a:t>
            </a:r>
            <a:r>
              <a:rPr sz="2600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(−2)</a:t>
            </a:r>
            <a:r>
              <a:rPr sz="2550" baseline="26143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r>
              <a:rPr sz="2550" spc="232" baseline="26143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+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2600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00AFEF"/>
                </a:solidFill>
                <a:latin typeface="Calibri"/>
                <a:cs typeface="Calibri"/>
              </a:rPr>
              <a:t>5</a:t>
            </a:r>
            <a:endParaRPr sz="2600">
              <a:latin typeface="Calibri"/>
              <a:cs typeface="Calibri"/>
            </a:endParaRPr>
          </a:p>
          <a:p>
            <a:pPr marR="7418070" algn="r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f(−1)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600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00AFEF"/>
                </a:solidFill>
                <a:latin typeface="Calibri"/>
                <a:cs typeface="Calibri"/>
              </a:rPr>
              <a:t>(−1)</a:t>
            </a:r>
            <a:r>
              <a:rPr sz="2600" spc="-20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550" baseline="26143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r>
              <a:rPr sz="2550" spc="300" baseline="26143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+</a:t>
            </a:r>
            <a:r>
              <a:rPr sz="2600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2600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600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endParaRPr sz="2600">
              <a:latin typeface="Calibri"/>
              <a:cs typeface="Calibri"/>
            </a:endParaRPr>
          </a:p>
          <a:p>
            <a:pPr marL="1350010">
              <a:lnSpc>
                <a:spcPct val="100000"/>
              </a:lnSpc>
              <a:spcBef>
                <a:spcPts val="695"/>
              </a:spcBef>
            </a:pP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f(0)</a:t>
            </a:r>
            <a:r>
              <a:rPr sz="2600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 0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+</a:t>
            </a:r>
            <a:r>
              <a:rPr sz="2600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2600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  <a:p>
            <a:pPr marL="1350010">
              <a:lnSpc>
                <a:spcPct val="100000"/>
              </a:lnSpc>
              <a:spcBef>
                <a:spcPts val="675"/>
              </a:spcBef>
            </a:pP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f(1)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 1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+</a:t>
            </a:r>
            <a:r>
              <a:rPr sz="2600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2600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endParaRPr sz="2600">
              <a:latin typeface="Calibri"/>
              <a:cs typeface="Calibri"/>
            </a:endParaRPr>
          </a:p>
          <a:p>
            <a:pPr marL="1350010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f(2)</a:t>
            </a:r>
            <a:r>
              <a:rPr sz="2600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 4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+</a:t>
            </a:r>
            <a:r>
              <a:rPr sz="2600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2600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6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00AFEF"/>
                </a:solidFill>
                <a:latin typeface="Calibri"/>
                <a:cs typeface="Calibri"/>
              </a:rPr>
              <a:t>5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6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sz="2600" spc="-10" dirty="0">
                <a:solidFill>
                  <a:srgbClr val="00AF50"/>
                </a:solidFill>
                <a:latin typeface="Calibri"/>
                <a:cs typeface="Calibri"/>
              </a:rPr>
              <a:t>Therefore,</a:t>
            </a:r>
            <a:r>
              <a:rPr sz="2600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6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50"/>
                </a:solidFill>
                <a:latin typeface="Calibri"/>
                <a:cs typeface="Calibri"/>
              </a:rPr>
              <a:t>range</a:t>
            </a:r>
            <a:r>
              <a:rPr sz="26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6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50"/>
                </a:solidFill>
                <a:latin typeface="Calibri"/>
                <a:cs typeface="Calibri"/>
              </a:rPr>
              <a:t>f</a:t>
            </a:r>
            <a:r>
              <a:rPr sz="26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50"/>
                </a:solidFill>
                <a:latin typeface="Calibri"/>
                <a:cs typeface="Calibri"/>
              </a:rPr>
              <a:t>=</a:t>
            </a:r>
            <a:r>
              <a:rPr sz="26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50"/>
                </a:solidFill>
                <a:latin typeface="Calibri"/>
                <a:cs typeface="Calibri"/>
              </a:rPr>
              <a:t>{1,</a:t>
            </a:r>
            <a:r>
              <a:rPr sz="26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50"/>
                </a:solidFill>
                <a:latin typeface="Calibri"/>
                <a:cs typeface="Calibri"/>
              </a:rPr>
              <a:t>2,</a:t>
            </a:r>
            <a:r>
              <a:rPr sz="26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Calibri"/>
                <a:cs typeface="Calibri"/>
              </a:rPr>
              <a:t>5}.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658" y="2237371"/>
            <a:ext cx="4496435" cy="230314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52768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Identity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527685" algn="l"/>
              </a:tabLst>
            </a:pPr>
            <a:r>
              <a:rPr sz="2400" b="1" dirty="0">
                <a:solidFill>
                  <a:srgbClr val="2D75B6"/>
                </a:solidFill>
                <a:latin typeface="Times New Roman"/>
                <a:cs typeface="Times New Roman"/>
              </a:rPr>
              <a:t>Constant</a:t>
            </a:r>
            <a:r>
              <a:rPr sz="2400" b="1" spc="-9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D75B6"/>
                </a:solidFill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527685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Onto(Surjective)</a:t>
            </a:r>
            <a:r>
              <a:rPr sz="2400" b="1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One-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to-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one(Injective)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27685" algn="l"/>
              </a:tabLst>
            </a:pP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One-to-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one</a:t>
            </a:r>
            <a:r>
              <a:rPr sz="2400" b="1" spc="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Correspondence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5623" y="1048511"/>
            <a:ext cx="7306309" cy="58547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pc="-30" dirty="0">
                <a:solidFill>
                  <a:srgbClr val="FFFFFF"/>
                </a:solidFill>
              </a:rPr>
              <a:t>Types</a:t>
            </a:r>
            <a:r>
              <a:rPr spc="-8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Functions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244" y="1348866"/>
            <a:ext cx="10608310" cy="19621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 marR="3048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f:</a:t>
            </a:r>
            <a:r>
              <a:rPr sz="24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→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such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f(a)=a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every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∈</a:t>
            </a:r>
            <a:r>
              <a:rPr sz="2400" spc="-1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called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identity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function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4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identity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mapping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4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  <a:p>
            <a:pPr marL="38100" marR="52705">
              <a:lnSpc>
                <a:spcPts val="2590"/>
              </a:lnSpc>
              <a:spcBef>
                <a:spcPts val="99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other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words,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set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identity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image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every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(under</a:t>
            </a:r>
            <a:r>
              <a:rPr sz="2400" b="1" spc="-8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f)</a:t>
            </a:r>
            <a:r>
              <a:rPr sz="24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itself.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this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case,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f(A)=A.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identity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defined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set</a:t>
            </a:r>
            <a:r>
              <a:rPr sz="2400" b="1" spc="-11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usually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denoted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sz="2400" b="1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1</a:t>
            </a:r>
            <a:r>
              <a:rPr sz="2400" b="1" spc="-37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2616" y="3733800"/>
            <a:ext cx="1115695" cy="1752600"/>
          </a:xfrm>
          <a:custGeom>
            <a:avLst/>
            <a:gdLst/>
            <a:ahLst/>
            <a:cxnLst/>
            <a:rect l="l" t="t" r="r" b="b"/>
            <a:pathLst>
              <a:path w="1115695" h="1752600">
                <a:moveTo>
                  <a:pt x="0" y="876300"/>
                </a:moveTo>
                <a:lnTo>
                  <a:pt x="1186" y="818679"/>
                </a:lnTo>
                <a:lnTo>
                  <a:pt x="4695" y="762055"/>
                </a:lnTo>
                <a:lnTo>
                  <a:pt x="10455" y="706541"/>
                </a:lnTo>
                <a:lnTo>
                  <a:pt x="18392" y="652254"/>
                </a:lnTo>
                <a:lnTo>
                  <a:pt x="28431" y="599309"/>
                </a:lnTo>
                <a:lnTo>
                  <a:pt x="40501" y="547822"/>
                </a:lnTo>
                <a:lnTo>
                  <a:pt x="54526" y="497907"/>
                </a:lnTo>
                <a:lnTo>
                  <a:pt x="70435" y="449681"/>
                </a:lnTo>
                <a:lnTo>
                  <a:pt x="88152" y="403259"/>
                </a:lnTo>
                <a:lnTo>
                  <a:pt x="107606" y="358755"/>
                </a:lnTo>
                <a:lnTo>
                  <a:pt x="128722" y="316286"/>
                </a:lnTo>
                <a:lnTo>
                  <a:pt x="151428" y="275968"/>
                </a:lnTo>
                <a:lnTo>
                  <a:pt x="175649" y="237914"/>
                </a:lnTo>
                <a:lnTo>
                  <a:pt x="201312" y="202242"/>
                </a:lnTo>
                <a:lnTo>
                  <a:pt x="228343" y="169066"/>
                </a:lnTo>
                <a:lnTo>
                  <a:pt x="256671" y="138502"/>
                </a:lnTo>
                <a:lnTo>
                  <a:pt x="286219" y="110665"/>
                </a:lnTo>
                <a:lnTo>
                  <a:pt x="316917" y="85670"/>
                </a:lnTo>
                <a:lnTo>
                  <a:pt x="348689" y="63634"/>
                </a:lnTo>
                <a:lnTo>
                  <a:pt x="415165" y="28897"/>
                </a:lnTo>
                <a:lnTo>
                  <a:pt x="485059" y="7378"/>
                </a:lnTo>
                <a:lnTo>
                  <a:pt x="557783" y="0"/>
                </a:lnTo>
                <a:lnTo>
                  <a:pt x="594463" y="1863"/>
                </a:lnTo>
                <a:lnTo>
                  <a:pt x="665846" y="16428"/>
                </a:lnTo>
                <a:lnTo>
                  <a:pt x="734104" y="44671"/>
                </a:lnTo>
                <a:lnTo>
                  <a:pt x="798650" y="85670"/>
                </a:lnTo>
                <a:lnTo>
                  <a:pt x="829348" y="110665"/>
                </a:lnTo>
                <a:lnTo>
                  <a:pt x="858896" y="138502"/>
                </a:lnTo>
                <a:lnTo>
                  <a:pt x="887224" y="169066"/>
                </a:lnTo>
                <a:lnTo>
                  <a:pt x="914255" y="202242"/>
                </a:lnTo>
                <a:lnTo>
                  <a:pt x="939918" y="237914"/>
                </a:lnTo>
                <a:lnTo>
                  <a:pt x="964139" y="275968"/>
                </a:lnTo>
                <a:lnTo>
                  <a:pt x="986845" y="316286"/>
                </a:lnTo>
                <a:lnTo>
                  <a:pt x="1007961" y="358755"/>
                </a:lnTo>
                <a:lnTo>
                  <a:pt x="1027415" y="403259"/>
                </a:lnTo>
                <a:lnTo>
                  <a:pt x="1045132" y="449681"/>
                </a:lnTo>
                <a:lnTo>
                  <a:pt x="1061041" y="497907"/>
                </a:lnTo>
                <a:lnTo>
                  <a:pt x="1075066" y="547822"/>
                </a:lnTo>
                <a:lnTo>
                  <a:pt x="1087136" y="599309"/>
                </a:lnTo>
                <a:lnTo>
                  <a:pt x="1097175" y="652254"/>
                </a:lnTo>
                <a:lnTo>
                  <a:pt x="1105112" y="706541"/>
                </a:lnTo>
                <a:lnTo>
                  <a:pt x="1110872" y="762055"/>
                </a:lnTo>
                <a:lnTo>
                  <a:pt x="1114381" y="818679"/>
                </a:lnTo>
                <a:lnTo>
                  <a:pt x="1115568" y="876300"/>
                </a:lnTo>
                <a:lnTo>
                  <a:pt x="1114381" y="933920"/>
                </a:lnTo>
                <a:lnTo>
                  <a:pt x="1110872" y="990544"/>
                </a:lnTo>
                <a:lnTo>
                  <a:pt x="1105112" y="1046058"/>
                </a:lnTo>
                <a:lnTo>
                  <a:pt x="1097175" y="1100345"/>
                </a:lnTo>
                <a:lnTo>
                  <a:pt x="1087136" y="1153290"/>
                </a:lnTo>
                <a:lnTo>
                  <a:pt x="1075066" y="1204777"/>
                </a:lnTo>
                <a:lnTo>
                  <a:pt x="1061041" y="1254692"/>
                </a:lnTo>
                <a:lnTo>
                  <a:pt x="1045132" y="1302918"/>
                </a:lnTo>
                <a:lnTo>
                  <a:pt x="1027415" y="1349340"/>
                </a:lnTo>
                <a:lnTo>
                  <a:pt x="1007961" y="1393844"/>
                </a:lnTo>
                <a:lnTo>
                  <a:pt x="986845" y="1436313"/>
                </a:lnTo>
                <a:lnTo>
                  <a:pt x="964139" y="1476631"/>
                </a:lnTo>
                <a:lnTo>
                  <a:pt x="939918" y="1514685"/>
                </a:lnTo>
                <a:lnTo>
                  <a:pt x="914255" y="1550357"/>
                </a:lnTo>
                <a:lnTo>
                  <a:pt x="887224" y="1583533"/>
                </a:lnTo>
                <a:lnTo>
                  <a:pt x="858896" y="1614097"/>
                </a:lnTo>
                <a:lnTo>
                  <a:pt x="829348" y="1641934"/>
                </a:lnTo>
                <a:lnTo>
                  <a:pt x="798650" y="1666929"/>
                </a:lnTo>
                <a:lnTo>
                  <a:pt x="766878" y="1688965"/>
                </a:lnTo>
                <a:lnTo>
                  <a:pt x="700402" y="1723702"/>
                </a:lnTo>
                <a:lnTo>
                  <a:pt x="630508" y="1745221"/>
                </a:lnTo>
                <a:lnTo>
                  <a:pt x="557783" y="1752600"/>
                </a:lnTo>
                <a:lnTo>
                  <a:pt x="521104" y="1750736"/>
                </a:lnTo>
                <a:lnTo>
                  <a:pt x="449721" y="1736171"/>
                </a:lnTo>
                <a:lnTo>
                  <a:pt x="381463" y="1707928"/>
                </a:lnTo>
                <a:lnTo>
                  <a:pt x="316917" y="1666929"/>
                </a:lnTo>
                <a:lnTo>
                  <a:pt x="286219" y="1641934"/>
                </a:lnTo>
                <a:lnTo>
                  <a:pt x="256671" y="1614097"/>
                </a:lnTo>
                <a:lnTo>
                  <a:pt x="228343" y="1583533"/>
                </a:lnTo>
                <a:lnTo>
                  <a:pt x="201312" y="1550357"/>
                </a:lnTo>
                <a:lnTo>
                  <a:pt x="175649" y="1514685"/>
                </a:lnTo>
                <a:lnTo>
                  <a:pt x="151428" y="1476631"/>
                </a:lnTo>
                <a:lnTo>
                  <a:pt x="128722" y="1436313"/>
                </a:lnTo>
                <a:lnTo>
                  <a:pt x="107606" y="1393844"/>
                </a:lnTo>
                <a:lnTo>
                  <a:pt x="88152" y="1349340"/>
                </a:lnTo>
                <a:lnTo>
                  <a:pt x="70435" y="1302918"/>
                </a:lnTo>
                <a:lnTo>
                  <a:pt x="54526" y="1254692"/>
                </a:lnTo>
                <a:lnTo>
                  <a:pt x="40501" y="1204777"/>
                </a:lnTo>
                <a:lnTo>
                  <a:pt x="28431" y="1153290"/>
                </a:lnTo>
                <a:lnTo>
                  <a:pt x="18392" y="1100345"/>
                </a:lnTo>
                <a:lnTo>
                  <a:pt x="10455" y="1046058"/>
                </a:lnTo>
                <a:lnTo>
                  <a:pt x="4695" y="990544"/>
                </a:lnTo>
                <a:lnTo>
                  <a:pt x="1186" y="933920"/>
                </a:lnTo>
                <a:lnTo>
                  <a:pt x="0" y="876300"/>
                </a:lnTo>
                <a:close/>
              </a:path>
            </a:pathLst>
          </a:custGeom>
          <a:ln w="12192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69463" y="4406900"/>
            <a:ext cx="13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3023" y="5750763"/>
            <a:ext cx="210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1200" y="3733800"/>
            <a:ext cx="1118870" cy="1752600"/>
          </a:xfrm>
          <a:custGeom>
            <a:avLst/>
            <a:gdLst/>
            <a:ahLst/>
            <a:cxnLst/>
            <a:rect l="l" t="t" r="r" b="b"/>
            <a:pathLst>
              <a:path w="1118870" h="1752600">
                <a:moveTo>
                  <a:pt x="0" y="876300"/>
                </a:moveTo>
                <a:lnTo>
                  <a:pt x="1189" y="818679"/>
                </a:lnTo>
                <a:lnTo>
                  <a:pt x="4710" y="762055"/>
                </a:lnTo>
                <a:lnTo>
                  <a:pt x="10487" y="706541"/>
                </a:lnTo>
                <a:lnTo>
                  <a:pt x="18447" y="652254"/>
                </a:lnTo>
                <a:lnTo>
                  <a:pt x="28517" y="599309"/>
                </a:lnTo>
                <a:lnTo>
                  <a:pt x="40622" y="547822"/>
                </a:lnTo>
                <a:lnTo>
                  <a:pt x="54689" y="497907"/>
                </a:lnTo>
                <a:lnTo>
                  <a:pt x="70644" y="449681"/>
                </a:lnTo>
                <a:lnTo>
                  <a:pt x="88413" y="403259"/>
                </a:lnTo>
                <a:lnTo>
                  <a:pt x="107923" y="358755"/>
                </a:lnTo>
                <a:lnTo>
                  <a:pt x="129100" y="316286"/>
                </a:lnTo>
                <a:lnTo>
                  <a:pt x="151870" y="275968"/>
                </a:lnTo>
                <a:lnTo>
                  <a:pt x="176160" y="237914"/>
                </a:lnTo>
                <a:lnTo>
                  <a:pt x="201895" y="202242"/>
                </a:lnTo>
                <a:lnTo>
                  <a:pt x="229002" y="169066"/>
                </a:lnTo>
                <a:lnTo>
                  <a:pt x="257407" y="138502"/>
                </a:lnTo>
                <a:lnTo>
                  <a:pt x="287037" y="110665"/>
                </a:lnTo>
                <a:lnTo>
                  <a:pt x="317817" y="85670"/>
                </a:lnTo>
                <a:lnTo>
                  <a:pt x="349675" y="63634"/>
                </a:lnTo>
                <a:lnTo>
                  <a:pt x="416326" y="28897"/>
                </a:lnTo>
                <a:lnTo>
                  <a:pt x="486400" y="7378"/>
                </a:lnTo>
                <a:lnTo>
                  <a:pt x="559308" y="0"/>
                </a:lnTo>
                <a:lnTo>
                  <a:pt x="596078" y="1863"/>
                </a:lnTo>
                <a:lnTo>
                  <a:pt x="667643" y="16428"/>
                </a:lnTo>
                <a:lnTo>
                  <a:pt x="736079" y="44671"/>
                </a:lnTo>
                <a:lnTo>
                  <a:pt x="800798" y="85670"/>
                </a:lnTo>
                <a:lnTo>
                  <a:pt x="831578" y="110665"/>
                </a:lnTo>
                <a:lnTo>
                  <a:pt x="861208" y="138502"/>
                </a:lnTo>
                <a:lnTo>
                  <a:pt x="889613" y="169066"/>
                </a:lnTo>
                <a:lnTo>
                  <a:pt x="916720" y="202242"/>
                </a:lnTo>
                <a:lnTo>
                  <a:pt x="942455" y="237914"/>
                </a:lnTo>
                <a:lnTo>
                  <a:pt x="966745" y="275968"/>
                </a:lnTo>
                <a:lnTo>
                  <a:pt x="989515" y="316286"/>
                </a:lnTo>
                <a:lnTo>
                  <a:pt x="1010692" y="358755"/>
                </a:lnTo>
                <a:lnTo>
                  <a:pt x="1030202" y="403259"/>
                </a:lnTo>
                <a:lnTo>
                  <a:pt x="1047971" y="449681"/>
                </a:lnTo>
                <a:lnTo>
                  <a:pt x="1063926" y="497907"/>
                </a:lnTo>
                <a:lnTo>
                  <a:pt x="1077993" y="547822"/>
                </a:lnTo>
                <a:lnTo>
                  <a:pt x="1090098" y="599309"/>
                </a:lnTo>
                <a:lnTo>
                  <a:pt x="1100168" y="652254"/>
                </a:lnTo>
                <a:lnTo>
                  <a:pt x="1108128" y="706541"/>
                </a:lnTo>
                <a:lnTo>
                  <a:pt x="1113905" y="762055"/>
                </a:lnTo>
                <a:lnTo>
                  <a:pt x="1117426" y="818679"/>
                </a:lnTo>
                <a:lnTo>
                  <a:pt x="1118616" y="876300"/>
                </a:lnTo>
                <a:lnTo>
                  <a:pt x="1117426" y="933920"/>
                </a:lnTo>
                <a:lnTo>
                  <a:pt x="1113905" y="990544"/>
                </a:lnTo>
                <a:lnTo>
                  <a:pt x="1108128" y="1046058"/>
                </a:lnTo>
                <a:lnTo>
                  <a:pt x="1100168" y="1100345"/>
                </a:lnTo>
                <a:lnTo>
                  <a:pt x="1090098" y="1153290"/>
                </a:lnTo>
                <a:lnTo>
                  <a:pt x="1077993" y="1204777"/>
                </a:lnTo>
                <a:lnTo>
                  <a:pt x="1063926" y="1254692"/>
                </a:lnTo>
                <a:lnTo>
                  <a:pt x="1047971" y="1302918"/>
                </a:lnTo>
                <a:lnTo>
                  <a:pt x="1030202" y="1349340"/>
                </a:lnTo>
                <a:lnTo>
                  <a:pt x="1010692" y="1393844"/>
                </a:lnTo>
                <a:lnTo>
                  <a:pt x="989515" y="1436313"/>
                </a:lnTo>
                <a:lnTo>
                  <a:pt x="966745" y="1476631"/>
                </a:lnTo>
                <a:lnTo>
                  <a:pt x="942455" y="1514685"/>
                </a:lnTo>
                <a:lnTo>
                  <a:pt x="916720" y="1550357"/>
                </a:lnTo>
                <a:lnTo>
                  <a:pt x="889613" y="1583533"/>
                </a:lnTo>
                <a:lnTo>
                  <a:pt x="861208" y="1614097"/>
                </a:lnTo>
                <a:lnTo>
                  <a:pt x="831578" y="1641934"/>
                </a:lnTo>
                <a:lnTo>
                  <a:pt x="800798" y="1666929"/>
                </a:lnTo>
                <a:lnTo>
                  <a:pt x="768940" y="1688965"/>
                </a:lnTo>
                <a:lnTo>
                  <a:pt x="702289" y="1723702"/>
                </a:lnTo>
                <a:lnTo>
                  <a:pt x="632215" y="1745221"/>
                </a:lnTo>
                <a:lnTo>
                  <a:pt x="559308" y="1752600"/>
                </a:lnTo>
                <a:lnTo>
                  <a:pt x="522537" y="1750736"/>
                </a:lnTo>
                <a:lnTo>
                  <a:pt x="450972" y="1736171"/>
                </a:lnTo>
                <a:lnTo>
                  <a:pt x="382536" y="1707928"/>
                </a:lnTo>
                <a:lnTo>
                  <a:pt x="317817" y="1666929"/>
                </a:lnTo>
                <a:lnTo>
                  <a:pt x="287037" y="1641934"/>
                </a:lnTo>
                <a:lnTo>
                  <a:pt x="257407" y="1614097"/>
                </a:lnTo>
                <a:lnTo>
                  <a:pt x="229002" y="1583533"/>
                </a:lnTo>
                <a:lnTo>
                  <a:pt x="201895" y="1550357"/>
                </a:lnTo>
                <a:lnTo>
                  <a:pt x="176160" y="1514685"/>
                </a:lnTo>
                <a:lnTo>
                  <a:pt x="151870" y="1476631"/>
                </a:lnTo>
                <a:lnTo>
                  <a:pt x="129100" y="1436313"/>
                </a:lnTo>
                <a:lnTo>
                  <a:pt x="107923" y="1393844"/>
                </a:lnTo>
                <a:lnTo>
                  <a:pt x="88413" y="1349340"/>
                </a:lnTo>
                <a:lnTo>
                  <a:pt x="70644" y="1302918"/>
                </a:lnTo>
                <a:lnTo>
                  <a:pt x="54689" y="1254692"/>
                </a:lnTo>
                <a:lnTo>
                  <a:pt x="40622" y="1204777"/>
                </a:lnTo>
                <a:lnTo>
                  <a:pt x="28517" y="1153290"/>
                </a:lnTo>
                <a:lnTo>
                  <a:pt x="18447" y="1100345"/>
                </a:lnTo>
                <a:lnTo>
                  <a:pt x="10487" y="1046058"/>
                </a:lnTo>
                <a:lnTo>
                  <a:pt x="4710" y="990544"/>
                </a:lnTo>
                <a:lnTo>
                  <a:pt x="1189" y="933920"/>
                </a:lnTo>
                <a:lnTo>
                  <a:pt x="0" y="876300"/>
                </a:lnTo>
                <a:close/>
              </a:path>
            </a:pathLst>
          </a:custGeom>
          <a:ln w="12192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52108" y="4388307"/>
            <a:ext cx="138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7736" y="5732170"/>
            <a:ext cx="21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47672" y="554736"/>
            <a:ext cx="7306309" cy="58547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>
                <a:solidFill>
                  <a:srgbClr val="FFFFFF"/>
                </a:solidFill>
              </a:rPr>
              <a:t>Identity</a:t>
            </a:r>
            <a:r>
              <a:rPr spc="-11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3483864" y="4587240"/>
            <a:ext cx="2816225" cy="1905"/>
          </a:xfrm>
          <a:custGeom>
            <a:avLst/>
            <a:gdLst/>
            <a:ahLst/>
            <a:cxnLst/>
            <a:rect l="l" t="t" r="r" b="b"/>
            <a:pathLst>
              <a:path w="2816225" h="1904">
                <a:moveTo>
                  <a:pt x="0" y="0"/>
                </a:moveTo>
                <a:lnTo>
                  <a:pt x="2815716" y="1651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54430"/>
            <a:ext cx="10804525" cy="150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f:</a:t>
            </a:r>
            <a:r>
              <a:rPr sz="2400" b="1" spc="-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→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such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f(a)=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 for</a:t>
            </a:r>
            <a:r>
              <a:rPr sz="2400" b="1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every a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400" spc="-9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where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fixed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constant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40"/>
              </a:lnSpc>
              <a:spcBef>
                <a:spcPts val="695"/>
              </a:spcBef>
              <a:buFont typeface="Arial MT"/>
              <a:buChar char="•"/>
              <a:tabLst>
                <a:tab pos="240029" algn="l"/>
                <a:tab pos="3959860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other</a:t>
            </a:r>
            <a:r>
              <a:rPr sz="2400" b="1" spc="-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words,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from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constant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all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elements of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40"/>
              </a:lnSpc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have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same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image(say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c)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B.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this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case,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f(A)={c}.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4139" y="3735323"/>
            <a:ext cx="5791200" cy="1752600"/>
          </a:xfrm>
          <a:custGeom>
            <a:avLst/>
            <a:gdLst/>
            <a:ahLst/>
            <a:cxnLst/>
            <a:rect l="l" t="t" r="r" b="b"/>
            <a:pathLst>
              <a:path w="5791200" h="1752600">
                <a:moveTo>
                  <a:pt x="0" y="876300"/>
                </a:moveTo>
                <a:lnTo>
                  <a:pt x="1186" y="818679"/>
                </a:lnTo>
                <a:lnTo>
                  <a:pt x="4695" y="762055"/>
                </a:lnTo>
                <a:lnTo>
                  <a:pt x="10455" y="706541"/>
                </a:lnTo>
                <a:lnTo>
                  <a:pt x="18392" y="652254"/>
                </a:lnTo>
                <a:lnTo>
                  <a:pt x="28431" y="599309"/>
                </a:lnTo>
                <a:lnTo>
                  <a:pt x="40501" y="547822"/>
                </a:lnTo>
                <a:lnTo>
                  <a:pt x="54526" y="497907"/>
                </a:lnTo>
                <a:lnTo>
                  <a:pt x="70435" y="449681"/>
                </a:lnTo>
                <a:lnTo>
                  <a:pt x="88152" y="403259"/>
                </a:lnTo>
                <a:lnTo>
                  <a:pt x="107606" y="358755"/>
                </a:lnTo>
                <a:lnTo>
                  <a:pt x="128722" y="316286"/>
                </a:lnTo>
                <a:lnTo>
                  <a:pt x="151428" y="275968"/>
                </a:lnTo>
                <a:lnTo>
                  <a:pt x="175649" y="237914"/>
                </a:lnTo>
                <a:lnTo>
                  <a:pt x="201312" y="202242"/>
                </a:lnTo>
                <a:lnTo>
                  <a:pt x="228343" y="169066"/>
                </a:lnTo>
                <a:lnTo>
                  <a:pt x="256671" y="138502"/>
                </a:lnTo>
                <a:lnTo>
                  <a:pt x="286219" y="110665"/>
                </a:lnTo>
                <a:lnTo>
                  <a:pt x="316917" y="85670"/>
                </a:lnTo>
                <a:lnTo>
                  <a:pt x="348689" y="63634"/>
                </a:lnTo>
                <a:lnTo>
                  <a:pt x="415165" y="28897"/>
                </a:lnTo>
                <a:lnTo>
                  <a:pt x="485059" y="7378"/>
                </a:lnTo>
                <a:lnTo>
                  <a:pt x="557784" y="0"/>
                </a:lnTo>
                <a:lnTo>
                  <a:pt x="594463" y="1863"/>
                </a:lnTo>
                <a:lnTo>
                  <a:pt x="665846" y="16428"/>
                </a:lnTo>
                <a:lnTo>
                  <a:pt x="734104" y="44671"/>
                </a:lnTo>
                <a:lnTo>
                  <a:pt x="798650" y="85670"/>
                </a:lnTo>
                <a:lnTo>
                  <a:pt x="829348" y="110665"/>
                </a:lnTo>
                <a:lnTo>
                  <a:pt x="858896" y="138502"/>
                </a:lnTo>
                <a:lnTo>
                  <a:pt x="887224" y="169066"/>
                </a:lnTo>
                <a:lnTo>
                  <a:pt x="914255" y="202242"/>
                </a:lnTo>
                <a:lnTo>
                  <a:pt x="939918" y="237914"/>
                </a:lnTo>
                <a:lnTo>
                  <a:pt x="964139" y="275968"/>
                </a:lnTo>
                <a:lnTo>
                  <a:pt x="986845" y="316286"/>
                </a:lnTo>
                <a:lnTo>
                  <a:pt x="1007961" y="358755"/>
                </a:lnTo>
                <a:lnTo>
                  <a:pt x="1027415" y="403259"/>
                </a:lnTo>
                <a:lnTo>
                  <a:pt x="1045132" y="449681"/>
                </a:lnTo>
                <a:lnTo>
                  <a:pt x="1061041" y="497907"/>
                </a:lnTo>
                <a:lnTo>
                  <a:pt x="1075066" y="547822"/>
                </a:lnTo>
                <a:lnTo>
                  <a:pt x="1087136" y="599309"/>
                </a:lnTo>
                <a:lnTo>
                  <a:pt x="1097175" y="652254"/>
                </a:lnTo>
                <a:lnTo>
                  <a:pt x="1105112" y="706541"/>
                </a:lnTo>
                <a:lnTo>
                  <a:pt x="1110872" y="762055"/>
                </a:lnTo>
                <a:lnTo>
                  <a:pt x="1114381" y="818679"/>
                </a:lnTo>
                <a:lnTo>
                  <a:pt x="1115568" y="876300"/>
                </a:lnTo>
                <a:lnTo>
                  <a:pt x="1114381" y="933920"/>
                </a:lnTo>
                <a:lnTo>
                  <a:pt x="1110872" y="990544"/>
                </a:lnTo>
                <a:lnTo>
                  <a:pt x="1105112" y="1046058"/>
                </a:lnTo>
                <a:lnTo>
                  <a:pt x="1097175" y="1100345"/>
                </a:lnTo>
                <a:lnTo>
                  <a:pt x="1087136" y="1153290"/>
                </a:lnTo>
                <a:lnTo>
                  <a:pt x="1075066" y="1204777"/>
                </a:lnTo>
                <a:lnTo>
                  <a:pt x="1061041" y="1254692"/>
                </a:lnTo>
                <a:lnTo>
                  <a:pt x="1045132" y="1302918"/>
                </a:lnTo>
                <a:lnTo>
                  <a:pt x="1027415" y="1349340"/>
                </a:lnTo>
                <a:lnTo>
                  <a:pt x="1007961" y="1393844"/>
                </a:lnTo>
                <a:lnTo>
                  <a:pt x="986845" y="1436313"/>
                </a:lnTo>
                <a:lnTo>
                  <a:pt x="964139" y="1476631"/>
                </a:lnTo>
                <a:lnTo>
                  <a:pt x="939918" y="1514685"/>
                </a:lnTo>
                <a:lnTo>
                  <a:pt x="914255" y="1550357"/>
                </a:lnTo>
                <a:lnTo>
                  <a:pt x="887224" y="1583533"/>
                </a:lnTo>
                <a:lnTo>
                  <a:pt x="858896" y="1614097"/>
                </a:lnTo>
                <a:lnTo>
                  <a:pt x="829348" y="1641934"/>
                </a:lnTo>
                <a:lnTo>
                  <a:pt x="798650" y="1666929"/>
                </a:lnTo>
                <a:lnTo>
                  <a:pt x="766878" y="1688965"/>
                </a:lnTo>
                <a:lnTo>
                  <a:pt x="700402" y="1723702"/>
                </a:lnTo>
                <a:lnTo>
                  <a:pt x="630508" y="1745221"/>
                </a:lnTo>
                <a:lnTo>
                  <a:pt x="557784" y="1752600"/>
                </a:lnTo>
                <a:lnTo>
                  <a:pt x="521104" y="1750736"/>
                </a:lnTo>
                <a:lnTo>
                  <a:pt x="449721" y="1736171"/>
                </a:lnTo>
                <a:lnTo>
                  <a:pt x="381463" y="1707928"/>
                </a:lnTo>
                <a:lnTo>
                  <a:pt x="316917" y="1666929"/>
                </a:lnTo>
                <a:lnTo>
                  <a:pt x="286219" y="1641934"/>
                </a:lnTo>
                <a:lnTo>
                  <a:pt x="256671" y="1614097"/>
                </a:lnTo>
                <a:lnTo>
                  <a:pt x="228343" y="1583533"/>
                </a:lnTo>
                <a:lnTo>
                  <a:pt x="201312" y="1550357"/>
                </a:lnTo>
                <a:lnTo>
                  <a:pt x="175649" y="1514685"/>
                </a:lnTo>
                <a:lnTo>
                  <a:pt x="151428" y="1476631"/>
                </a:lnTo>
                <a:lnTo>
                  <a:pt x="128722" y="1436313"/>
                </a:lnTo>
                <a:lnTo>
                  <a:pt x="107606" y="1393844"/>
                </a:lnTo>
                <a:lnTo>
                  <a:pt x="88152" y="1349340"/>
                </a:lnTo>
                <a:lnTo>
                  <a:pt x="70435" y="1302918"/>
                </a:lnTo>
                <a:lnTo>
                  <a:pt x="54526" y="1254692"/>
                </a:lnTo>
                <a:lnTo>
                  <a:pt x="40501" y="1204777"/>
                </a:lnTo>
                <a:lnTo>
                  <a:pt x="28431" y="1153290"/>
                </a:lnTo>
                <a:lnTo>
                  <a:pt x="18392" y="1100345"/>
                </a:lnTo>
                <a:lnTo>
                  <a:pt x="10455" y="1046058"/>
                </a:lnTo>
                <a:lnTo>
                  <a:pt x="4695" y="990544"/>
                </a:lnTo>
                <a:lnTo>
                  <a:pt x="1186" y="933920"/>
                </a:lnTo>
                <a:lnTo>
                  <a:pt x="0" y="876300"/>
                </a:lnTo>
                <a:close/>
              </a:path>
              <a:path w="5791200" h="1752600">
                <a:moveTo>
                  <a:pt x="4672584" y="876300"/>
                </a:moveTo>
                <a:lnTo>
                  <a:pt x="4673773" y="818679"/>
                </a:lnTo>
                <a:lnTo>
                  <a:pt x="4677294" y="762055"/>
                </a:lnTo>
                <a:lnTo>
                  <a:pt x="4683071" y="706541"/>
                </a:lnTo>
                <a:lnTo>
                  <a:pt x="4691031" y="652254"/>
                </a:lnTo>
                <a:lnTo>
                  <a:pt x="4701101" y="599309"/>
                </a:lnTo>
                <a:lnTo>
                  <a:pt x="4713206" y="547822"/>
                </a:lnTo>
                <a:lnTo>
                  <a:pt x="4727273" y="497907"/>
                </a:lnTo>
                <a:lnTo>
                  <a:pt x="4743228" y="449681"/>
                </a:lnTo>
                <a:lnTo>
                  <a:pt x="4760997" y="403259"/>
                </a:lnTo>
                <a:lnTo>
                  <a:pt x="4780507" y="358755"/>
                </a:lnTo>
                <a:lnTo>
                  <a:pt x="4801684" y="316286"/>
                </a:lnTo>
                <a:lnTo>
                  <a:pt x="4824454" y="275968"/>
                </a:lnTo>
                <a:lnTo>
                  <a:pt x="4848744" y="237914"/>
                </a:lnTo>
                <a:lnTo>
                  <a:pt x="4874479" y="202242"/>
                </a:lnTo>
                <a:lnTo>
                  <a:pt x="4901586" y="169066"/>
                </a:lnTo>
                <a:lnTo>
                  <a:pt x="4929991" y="138502"/>
                </a:lnTo>
                <a:lnTo>
                  <a:pt x="4959621" y="110665"/>
                </a:lnTo>
                <a:lnTo>
                  <a:pt x="4990401" y="85670"/>
                </a:lnTo>
                <a:lnTo>
                  <a:pt x="5022259" y="63634"/>
                </a:lnTo>
                <a:lnTo>
                  <a:pt x="5088910" y="28897"/>
                </a:lnTo>
                <a:lnTo>
                  <a:pt x="5158984" y="7378"/>
                </a:lnTo>
                <a:lnTo>
                  <a:pt x="5231892" y="0"/>
                </a:lnTo>
                <a:lnTo>
                  <a:pt x="5268662" y="1863"/>
                </a:lnTo>
                <a:lnTo>
                  <a:pt x="5340227" y="16428"/>
                </a:lnTo>
                <a:lnTo>
                  <a:pt x="5408663" y="44671"/>
                </a:lnTo>
                <a:lnTo>
                  <a:pt x="5473382" y="85670"/>
                </a:lnTo>
                <a:lnTo>
                  <a:pt x="5504162" y="110665"/>
                </a:lnTo>
                <a:lnTo>
                  <a:pt x="5533792" y="138502"/>
                </a:lnTo>
                <a:lnTo>
                  <a:pt x="5562197" y="169066"/>
                </a:lnTo>
                <a:lnTo>
                  <a:pt x="5589304" y="202242"/>
                </a:lnTo>
                <a:lnTo>
                  <a:pt x="5615039" y="237914"/>
                </a:lnTo>
                <a:lnTo>
                  <a:pt x="5639329" y="275968"/>
                </a:lnTo>
                <a:lnTo>
                  <a:pt x="5662099" y="316286"/>
                </a:lnTo>
                <a:lnTo>
                  <a:pt x="5683276" y="358755"/>
                </a:lnTo>
                <a:lnTo>
                  <a:pt x="5702786" y="403259"/>
                </a:lnTo>
                <a:lnTo>
                  <a:pt x="5720555" y="449681"/>
                </a:lnTo>
                <a:lnTo>
                  <a:pt x="5736510" y="497907"/>
                </a:lnTo>
                <a:lnTo>
                  <a:pt x="5750577" y="547822"/>
                </a:lnTo>
                <a:lnTo>
                  <a:pt x="5762682" y="599309"/>
                </a:lnTo>
                <a:lnTo>
                  <a:pt x="5772752" y="652254"/>
                </a:lnTo>
                <a:lnTo>
                  <a:pt x="5780712" y="706541"/>
                </a:lnTo>
                <a:lnTo>
                  <a:pt x="5786489" y="762055"/>
                </a:lnTo>
                <a:lnTo>
                  <a:pt x="5790010" y="818679"/>
                </a:lnTo>
                <a:lnTo>
                  <a:pt x="5791200" y="876300"/>
                </a:lnTo>
                <a:lnTo>
                  <a:pt x="5790010" y="933920"/>
                </a:lnTo>
                <a:lnTo>
                  <a:pt x="5786489" y="990544"/>
                </a:lnTo>
                <a:lnTo>
                  <a:pt x="5780712" y="1046058"/>
                </a:lnTo>
                <a:lnTo>
                  <a:pt x="5772752" y="1100345"/>
                </a:lnTo>
                <a:lnTo>
                  <a:pt x="5762682" y="1153290"/>
                </a:lnTo>
                <a:lnTo>
                  <a:pt x="5750577" y="1204777"/>
                </a:lnTo>
                <a:lnTo>
                  <a:pt x="5736510" y="1254692"/>
                </a:lnTo>
                <a:lnTo>
                  <a:pt x="5720555" y="1302918"/>
                </a:lnTo>
                <a:lnTo>
                  <a:pt x="5702786" y="1349340"/>
                </a:lnTo>
                <a:lnTo>
                  <a:pt x="5683276" y="1393844"/>
                </a:lnTo>
                <a:lnTo>
                  <a:pt x="5662099" y="1436313"/>
                </a:lnTo>
                <a:lnTo>
                  <a:pt x="5639329" y="1476631"/>
                </a:lnTo>
                <a:lnTo>
                  <a:pt x="5615039" y="1514685"/>
                </a:lnTo>
                <a:lnTo>
                  <a:pt x="5589304" y="1550357"/>
                </a:lnTo>
                <a:lnTo>
                  <a:pt x="5562197" y="1583533"/>
                </a:lnTo>
                <a:lnTo>
                  <a:pt x="5533792" y="1614097"/>
                </a:lnTo>
                <a:lnTo>
                  <a:pt x="5504162" y="1641934"/>
                </a:lnTo>
                <a:lnTo>
                  <a:pt x="5473382" y="1666929"/>
                </a:lnTo>
                <a:lnTo>
                  <a:pt x="5441524" y="1688965"/>
                </a:lnTo>
                <a:lnTo>
                  <a:pt x="5374873" y="1723702"/>
                </a:lnTo>
                <a:lnTo>
                  <a:pt x="5304799" y="1745221"/>
                </a:lnTo>
                <a:lnTo>
                  <a:pt x="5231892" y="1752600"/>
                </a:lnTo>
                <a:lnTo>
                  <a:pt x="5195121" y="1750736"/>
                </a:lnTo>
                <a:lnTo>
                  <a:pt x="5123556" y="1736171"/>
                </a:lnTo>
                <a:lnTo>
                  <a:pt x="5055120" y="1707928"/>
                </a:lnTo>
                <a:lnTo>
                  <a:pt x="4990401" y="1666929"/>
                </a:lnTo>
                <a:lnTo>
                  <a:pt x="4959621" y="1641934"/>
                </a:lnTo>
                <a:lnTo>
                  <a:pt x="4929991" y="1614097"/>
                </a:lnTo>
                <a:lnTo>
                  <a:pt x="4901586" y="1583533"/>
                </a:lnTo>
                <a:lnTo>
                  <a:pt x="4874479" y="1550357"/>
                </a:lnTo>
                <a:lnTo>
                  <a:pt x="4848744" y="1514685"/>
                </a:lnTo>
                <a:lnTo>
                  <a:pt x="4824454" y="1476631"/>
                </a:lnTo>
                <a:lnTo>
                  <a:pt x="4801684" y="1436313"/>
                </a:lnTo>
                <a:lnTo>
                  <a:pt x="4780507" y="1393844"/>
                </a:lnTo>
                <a:lnTo>
                  <a:pt x="4760997" y="1349340"/>
                </a:lnTo>
                <a:lnTo>
                  <a:pt x="4743228" y="1302918"/>
                </a:lnTo>
                <a:lnTo>
                  <a:pt x="4727273" y="1254692"/>
                </a:lnTo>
                <a:lnTo>
                  <a:pt x="4713206" y="1204777"/>
                </a:lnTo>
                <a:lnTo>
                  <a:pt x="4701101" y="1153290"/>
                </a:lnTo>
                <a:lnTo>
                  <a:pt x="4691031" y="1100345"/>
                </a:lnTo>
                <a:lnTo>
                  <a:pt x="4683071" y="1046058"/>
                </a:lnTo>
                <a:lnTo>
                  <a:pt x="4677294" y="990544"/>
                </a:lnTo>
                <a:lnTo>
                  <a:pt x="4673773" y="933920"/>
                </a:lnTo>
                <a:lnTo>
                  <a:pt x="4672584" y="876300"/>
                </a:lnTo>
                <a:close/>
              </a:path>
            </a:pathLst>
          </a:custGeom>
          <a:ln w="2743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4301" y="4359986"/>
            <a:ext cx="176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88207" y="3721608"/>
            <a:ext cx="4545965" cy="1777364"/>
            <a:chOff x="3188207" y="3721608"/>
            <a:chExt cx="4545965" cy="1777364"/>
          </a:xfrm>
        </p:grpSpPr>
        <p:sp>
          <p:nvSpPr>
            <p:cNvPr id="6" name="object 6"/>
            <p:cNvSpPr/>
            <p:nvPr/>
          </p:nvSpPr>
          <p:spPr>
            <a:xfrm>
              <a:off x="3352799" y="3733800"/>
              <a:ext cx="4368800" cy="859155"/>
            </a:xfrm>
            <a:custGeom>
              <a:avLst/>
              <a:gdLst/>
              <a:ahLst/>
              <a:cxnLst/>
              <a:rect l="l" t="t" r="r" b="b"/>
              <a:pathLst>
                <a:path w="4368800" h="859154">
                  <a:moveTo>
                    <a:pt x="57912" y="822960"/>
                  </a:moveTo>
                  <a:lnTo>
                    <a:pt x="4169918" y="858901"/>
                  </a:lnTo>
                </a:path>
                <a:path w="4368800" h="859154">
                  <a:moveTo>
                    <a:pt x="0" y="0"/>
                  </a:moveTo>
                  <a:lnTo>
                    <a:pt x="4368800" y="838200"/>
                  </a:lnTo>
                </a:path>
              </a:pathLst>
            </a:custGeom>
            <a:ln w="2438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00399" y="4572000"/>
              <a:ext cx="4521200" cy="914400"/>
            </a:xfrm>
            <a:custGeom>
              <a:avLst/>
              <a:gdLst/>
              <a:ahLst/>
              <a:cxnLst/>
              <a:rect l="l" t="t" r="r" b="b"/>
              <a:pathLst>
                <a:path w="4521200" h="914400">
                  <a:moveTo>
                    <a:pt x="0" y="914400"/>
                  </a:moveTo>
                  <a:lnTo>
                    <a:pt x="4521200" y="0"/>
                  </a:lnTo>
                </a:path>
              </a:pathLst>
            </a:custGeom>
            <a:ln w="2438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32801" y="4312742"/>
            <a:ext cx="1536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9101" y="5732170"/>
            <a:ext cx="21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02371" y="5732170"/>
            <a:ext cx="196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0200" y="353568"/>
            <a:ext cx="7306309" cy="521334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2800" dirty="0">
                <a:solidFill>
                  <a:srgbClr val="FFFFFF"/>
                </a:solidFill>
              </a:rPr>
              <a:t>Constant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function</a:t>
            </a:r>
            <a:endParaRPr sz="2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54430"/>
            <a:ext cx="10486390" cy="150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f:</a:t>
            </a:r>
            <a:r>
              <a:rPr sz="2400" b="1" spc="-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→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said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to be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onto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every element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has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preimage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1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A,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under</a:t>
            </a:r>
            <a:r>
              <a:rPr sz="2400" b="1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f.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40"/>
              </a:lnSpc>
              <a:spcBef>
                <a:spcPts val="695"/>
              </a:spcBef>
              <a:buFont typeface="Arial MT"/>
              <a:buChar char="•"/>
              <a:tabLst>
                <a:tab pos="240029" algn="l"/>
                <a:tab pos="3903345" algn="l"/>
                <a:tab pos="5139055" algn="l"/>
                <a:tab pos="8694420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other</a:t>
            </a:r>
            <a:r>
              <a:rPr sz="24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words,</a:t>
            </a:r>
            <a:r>
              <a:rPr sz="2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an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onto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function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from</a:t>
            </a:r>
            <a:r>
              <a:rPr sz="2400" b="1" spc="-1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if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range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	f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is equal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4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40"/>
              </a:lnSpc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(i.e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f(A)=B).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30423" y="3721608"/>
            <a:ext cx="5819140" cy="1780539"/>
            <a:chOff x="2630423" y="3721608"/>
            <a:chExt cx="5819140" cy="1780539"/>
          </a:xfrm>
        </p:grpSpPr>
        <p:sp>
          <p:nvSpPr>
            <p:cNvPr id="4" name="object 4"/>
            <p:cNvSpPr/>
            <p:nvPr/>
          </p:nvSpPr>
          <p:spPr>
            <a:xfrm>
              <a:off x="2644139" y="3735324"/>
              <a:ext cx="5791200" cy="1752600"/>
            </a:xfrm>
            <a:custGeom>
              <a:avLst/>
              <a:gdLst/>
              <a:ahLst/>
              <a:cxnLst/>
              <a:rect l="l" t="t" r="r" b="b"/>
              <a:pathLst>
                <a:path w="5791200" h="1752600">
                  <a:moveTo>
                    <a:pt x="0" y="876300"/>
                  </a:moveTo>
                  <a:lnTo>
                    <a:pt x="1186" y="818679"/>
                  </a:lnTo>
                  <a:lnTo>
                    <a:pt x="4695" y="762055"/>
                  </a:lnTo>
                  <a:lnTo>
                    <a:pt x="10455" y="706541"/>
                  </a:lnTo>
                  <a:lnTo>
                    <a:pt x="18392" y="652254"/>
                  </a:lnTo>
                  <a:lnTo>
                    <a:pt x="28431" y="599309"/>
                  </a:lnTo>
                  <a:lnTo>
                    <a:pt x="40501" y="547822"/>
                  </a:lnTo>
                  <a:lnTo>
                    <a:pt x="54526" y="497907"/>
                  </a:lnTo>
                  <a:lnTo>
                    <a:pt x="70435" y="449681"/>
                  </a:lnTo>
                  <a:lnTo>
                    <a:pt x="88152" y="403259"/>
                  </a:lnTo>
                  <a:lnTo>
                    <a:pt x="107606" y="358755"/>
                  </a:lnTo>
                  <a:lnTo>
                    <a:pt x="128722" y="316286"/>
                  </a:lnTo>
                  <a:lnTo>
                    <a:pt x="151428" y="275968"/>
                  </a:lnTo>
                  <a:lnTo>
                    <a:pt x="175649" y="237914"/>
                  </a:lnTo>
                  <a:lnTo>
                    <a:pt x="201312" y="202242"/>
                  </a:lnTo>
                  <a:lnTo>
                    <a:pt x="228343" y="169066"/>
                  </a:lnTo>
                  <a:lnTo>
                    <a:pt x="256671" y="138502"/>
                  </a:lnTo>
                  <a:lnTo>
                    <a:pt x="286219" y="110665"/>
                  </a:lnTo>
                  <a:lnTo>
                    <a:pt x="316917" y="85670"/>
                  </a:lnTo>
                  <a:lnTo>
                    <a:pt x="348689" y="63634"/>
                  </a:lnTo>
                  <a:lnTo>
                    <a:pt x="415165" y="28897"/>
                  </a:lnTo>
                  <a:lnTo>
                    <a:pt x="485059" y="7378"/>
                  </a:lnTo>
                  <a:lnTo>
                    <a:pt x="557784" y="0"/>
                  </a:lnTo>
                  <a:lnTo>
                    <a:pt x="594463" y="1863"/>
                  </a:lnTo>
                  <a:lnTo>
                    <a:pt x="665846" y="16428"/>
                  </a:lnTo>
                  <a:lnTo>
                    <a:pt x="734104" y="44671"/>
                  </a:lnTo>
                  <a:lnTo>
                    <a:pt x="798650" y="85670"/>
                  </a:lnTo>
                  <a:lnTo>
                    <a:pt x="829348" y="110665"/>
                  </a:lnTo>
                  <a:lnTo>
                    <a:pt x="858896" y="138502"/>
                  </a:lnTo>
                  <a:lnTo>
                    <a:pt x="887224" y="169066"/>
                  </a:lnTo>
                  <a:lnTo>
                    <a:pt x="914255" y="202242"/>
                  </a:lnTo>
                  <a:lnTo>
                    <a:pt x="939918" y="237914"/>
                  </a:lnTo>
                  <a:lnTo>
                    <a:pt x="964139" y="275968"/>
                  </a:lnTo>
                  <a:lnTo>
                    <a:pt x="986845" y="316286"/>
                  </a:lnTo>
                  <a:lnTo>
                    <a:pt x="1007961" y="358755"/>
                  </a:lnTo>
                  <a:lnTo>
                    <a:pt x="1027415" y="403259"/>
                  </a:lnTo>
                  <a:lnTo>
                    <a:pt x="1045132" y="449681"/>
                  </a:lnTo>
                  <a:lnTo>
                    <a:pt x="1061041" y="497907"/>
                  </a:lnTo>
                  <a:lnTo>
                    <a:pt x="1075066" y="547822"/>
                  </a:lnTo>
                  <a:lnTo>
                    <a:pt x="1087136" y="599309"/>
                  </a:lnTo>
                  <a:lnTo>
                    <a:pt x="1097175" y="652254"/>
                  </a:lnTo>
                  <a:lnTo>
                    <a:pt x="1105112" y="706541"/>
                  </a:lnTo>
                  <a:lnTo>
                    <a:pt x="1110872" y="762055"/>
                  </a:lnTo>
                  <a:lnTo>
                    <a:pt x="1114381" y="818679"/>
                  </a:lnTo>
                  <a:lnTo>
                    <a:pt x="1115568" y="876300"/>
                  </a:lnTo>
                  <a:lnTo>
                    <a:pt x="1114381" y="933920"/>
                  </a:lnTo>
                  <a:lnTo>
                    <a:pt x="1110872" y="990544"/>
                  </a:lnTo>
                  <a:lnTo>
                    <a:pt x="1105112" y="1046058"/>
                  </a:lnTo>
                  <a:lnTo>
                    <a:pt x="1097175" y="1100345"/>
                  </a:lnTo>
                  <a:lnTo>
                    <a:pt x="1087136" y="1153290"/>
                  </a:lnTo>
                  <a:lnTo>
                    <a:pt x="1075066" y="1204777"/>
                  </a:lnTo>
                  <a:lnTo>
                    <a:pt x="1061041" y="1254692"/>
                  </a:lnTo>
                  <a:lnTo>
                    <a:pt x="1045132" y="1302918"/>
                  </a:lnTo>
                  <a:lnTo>
                    <a:pt x="1027415" y="1349340"/>
                  </a:lnTo>
                  <a:lnTo>
                    <a:pt x="1007961" y="1393844"/>
                  </a:lnTo>
                  <a:lnTo>
                    <a:pt x="986845" y="1436313"/>
                  </a:lnTo>
                  <a:lnTo>
                    <a:pt x="964139" y="1476631"/>
                  </a:lnTo>
                  <a:lnTo>
                    <a:pt x="939918" y="1514685"/>
                  </a:lnTo>
                  <a:lnTo>
                    <a:pt x="914255" y="1550357"/>
                  </a:lnTo>
                  <a:lnTo>
                    <a:pt x="887224" y="1583533"/>
                  </a:lnTo>
                  <a:lnTo>
                    <a:pt x="858896" y="1614097"/>
                  </a:lnTo>
                  <a:lnTo>
                    <a:pt x="829348" y="1641934"/>
                  </a:lnTo>
                  <a:lnTo>
                    <a:pt x="798650" y="1666929"/>
                  </a:lnTo>
                  <a:lnTo>
                    <a:pt x="766878" y="1688965"/>
                  </a:lnTo>
                  <a:lnTo>
                    <a:pt x="700402" y="1723702"/>
                  </a:lnTo>
                  <a:lnTo>
                    <a:pt x="630508" y="1745221"/>
                  </a:lnTo>
                  <a:lnTo>
                    <a:pt x="557784" y="1752600"/>
                  </a:lnTo>
                  <a:lnTo>
                    <a:pt x="521104" y="1750736"/>
                  </a:lnTo>
                  <a:lnTo>
                    <a:pt x="449721" y="1736171"/>
                  </a:lnTo>
                  <a:lnTo>
                    <a:pt x="381463" y="1707928"/>
                  </a:lnTo>
                  <a:lnTo>
                    <a:pt x="316917" y="1666929"/>
                  </a:lnTo>
                  <a:lnTo>
                    <a:pt x="286219" y="1641934"/>
                  </a:lnTo>
                  <a:lnTo>
                    <a:pt x="256671" y="1614097"/>
                  </a:lnTo>
                  <a:lnTo>
                    <a:pt x="228343" y="1583533"/>
                  </a:lnTo>
                  <a:lnTo>
                    <a:pt x="201312" y="1550357"/>
                  </a:lnTo>
                  <a:lnTo>
                    <a:pt x="175649" y="1514685"/>
                  </a:lnTo>
                  <a:lnTo>
                    <a:pt x="151428" y="1476631"/>
                  </a:lnTo>
                  <a:lnTo>
                    <a:pt x="128722" y="1436313"/>
                  </a:lnTo>
                  <a:lnTo>
                    <a:pt x="107606" y="1393844"/>
                  </a:lnTo>
                  <a:lnTo>
                    <a:pt x="88152" y="1349340"/>
                  </a:lnTo>
                  <a:lnTo>
                    <a:pt x="70435" y="1302918"/>
                  </a:lnTo>
                  <a:lnTo>
                    <a:pt x="54526" y="1254692"/>
                  </a:lnTo>
                  <a:lnTo>
                    <a:pt x="40501" y="1204777"/>
                  </a:lnTo>
                  <a:lnTo>
                    <a:pt x="28431" y="1153290"/>
                  </a:lnTo>
                  <a:lnTo>
                    <a:pt x="18392" y="1100345"/>
                  </a:lnTo>
                  <a:lnTo>
                    <a:pt x="10455" y="1046058"/>
                  </a:lnTo>
                  <a:lnTo>
                    <a:pt x="4695" y="990544"/>
                  </a:lnTo>
                  <a:lnTo>
                    <a:pt x="1186" y="933920"/>
                  </a:lnTo>
                  <a:lnTo>
                    <a:pt x="0" y="876300"/>
                  </a:lnTo>
                  <a:close/>
                </a:path>
                <a:path w="5791200" h="1752600">
                  <a:moveTo>
                    <a:pt x="4672584" y="876300"/>
                  </a:moveTo>
                  <a:lnTo>
                    <a:pt x="4673773" y="818679"/>
                  </a:lnTo>
                  <a:lnTo>
                    <a:pt x="4677294" y="762055"/>
                  </a:lnTo>
                  <a:lnTo>
                    <a:pt x="4683071" y="706541"/>
                  </a:lnTo>
                  <a:lnTo>
                    <a:pt x="4691031" y="652254"/>
                  </a:lnTo>
                  <a:lnTo>
                    <a:pt x="4701101" y="599309"/>
                  </a:lnTo>
                  <a:lnTo>
                    <a:pt x="4713206" y="547822"/>
                  </a:lnTo>
                  <a:lnTo>
                    <a:pt x="4727273" y="497907"/>
                  </a:lnTo>
                  <a:lnTo>
                    <a:pt x="4743228" y="449681"/>
                  </a:lnTo>
                  <a:lnTo>
                    <a:pt x="4760997" y="403259"/>
                  </a:lnTo>
                  <a:lnTo>
                    <a:pt x="4780507" y="358755"/>
                  </a:lnTo>
                  <a:lnTo>
                    <a:pt x="4801684" y="316286"/>
                  </a:lnTo>
                  <a:lnTo>
                    <a:pt x="4824454" y="275968"/>
                  </a:lnTo>
                  <a:lnTo>
                    <a:pt x="4848744" y="237914"/>
                  </a:lnTo>
                  <a:lnTo>
                    <a:pt x="4874479" y="202242"/>
                  </a:lnTo>
                  <a:lnTo>
                    <a:pt x="4901586" y="169066"/>
                  </a:lnTo>
                  <a:lnTo>
                    <a:pt x="4929991" y="138502"/>
                  </a:lnTo>
                  <a:lnTo>
                    <a:pt x="4959621" y="110665"/>
                  </a:lnTo>
                  <a:lnTo>
                    <a:pt x="4990401" y="85670"/>
                  </a:lnTo>
                  <a:lnTo>
                    <a:pt x="5022259" y="63634"/>
                  </a:lnTo>
                  <a:lnTo>
                    <a:pt x="5088910" y="28897"/>
                  </a:lnTo>
                  <a:lnTo>
                    <a:pt x="5158984" y="7378"/>
                  </a:lnTo>
                  <a:lnTo>
                    <a:pt x="5231892" y="0"/>
                  </a:lnTo>
                  <a:lnTo>
                    <a:pt x="5268662" y="1863"/>
                  </a:lnTo>
                  <a:lnTo>
                    <a:pt x="5340227" y="16428"/>
                  </a:lnTo>
                  <a:lnTo>
                    <a:pt x="5408663" y="44671"/>
                  </a:lnTo>
                  <a:lnTo>
                    <a:pt x="5473382" y="85670"/>
                  </a:lnTo>
                  <a:lnTo>
                    <a:pt x="5504162" y="110665"/>
                  </a:lnTo>
                  <a:lnTo>
                    <a:pt x="5533792" y="138502"/>
                  </a:lnTo>
                  <a:lnTo>
                    <a:pt x="5562197" y="169066"/>
                  </a:lnTo>
                  <a:lnTo>
                    <a:pt x="5589304" y="202242"/>
                  </a:lnTo>
                  <a:lnTo>
                    <a:pt x="5615039" y="237914"/>
                  </a:lnTo>
                  <a:lnTo>
                    <a:pt x="5639329" y="275968"/>
                  </a:lnTo>
                  <a:lnTo>
                    <a:pt x="5662099" y="316286"/>
                  </a:lnTo>
                  <a:lnTo>
                    <a:pt x="5683276" y="358755"/>
                  </a:lnTo>
                  <a:lnTo>
                    <a:pt x="5702786" y="403259"/>
                  </a:lnTo>
                  <a:lnTo>
                    <a:pt x="5720555" y="449681"/>
                  </a:lnTo>
                  <a:lnTo>
                    <a:pt x="5736510" y="497907"/>
                  </a:lnTo>
                  <a:lnTo>
                    <a:pt x="5750577" y="547822"/>
                  </a:lnTo>
                  <a:lnTo>
                    <a:pt x="5762682" y="599309"/>
                  </a:lnTo>
                  <a:lnTo>
                    <a:pt x="5772752" y="652254"/>
                  </a:lnTo>
                  <a:lnTo>
                    <a:pt x="5780712" y="706541"/>
                  </a:lnTo>
                  <a:lnTo>
                    <a:pt x="5786489" y="762055"/>
                  </a:lnTo>
                  <a:lnTo>
                    <a:pt x="5790010" y="818679"/>
                  </a:lnTo>
                  <a:lnTo>
                    <a:pt x="5791200" y="876300"/>
                  </a:lnTo>
                  <a:lnTo>
                    <a:pt x="5790010" y="933920"/>
                  </a:lnTo>
                  <a:lnTo>
                    <a:pt x="5786489" y="990544"/>
                  </a:lnTo>
                  <a:lnTo>
                    <a:pt x="5780712" y="1046058"/>
                  </a:lnTo>
                  <a:lnTo>
                    <a:pt x="5772752" y="1100345"/>
                  </a:lnTo>
                  <a:lnTo>
                    <a:pt x="5762682" y="1153290"/>
                  </a:lnTo>
                  <a:lnTo>
                    <a:pt x="5750577" y="1204777"/>
                  </a:lnTo>
                  <a:lnTo>
                    <a:pt x="5736510" y="1254692"/>
                  </a:lnTo>
                  <a:lnTo>
                    <a:pt x="5720555" y="1302918"/>
                  </a:lnTo>
                  <a:lnTo>
                    <a:pt x="5702786" y="1349340"/>
                  </a:lnTo>
                  <a:lnTo>
                    <a:pt x="5683276" y="1393844"/>
                  </a:lnTo>
                  <a:lnTo>
                    <a:pt x="5662099" y="1436313"/>
                  </a:lnTo>
                  <a:lnTo>
                    <a:pt x="5639329" y="1476631"/>
                  </a:lnTo>
                  <a:lnTo>
                    <a:pt x="5615039" y="1514685"/>
                  </a:lnTo>
                  <a:lnTo>
                    <a:pt x="5589304" y="1550357"/>
                  </a:lnTo>
                  <a:lnTo>
                    <a:pt x="5562197" y="1583533"/>
                  </a:lnTo>
                  <a:lnTo>
                    <a:pt x="5533792" y="1614097"/>
                  </a:lnTo>
                  <a:lnTo>
                    <a:pt x="5504162" y="1641934"/>
                  </a:lnTo>
                  <a:lnTo>
                    <a:pt x="5473382" y="1666929"/>
                  </a:lnTo>
                  <a:lnTo>
                    <a:pt x="5441524" y="1688965"/>
                  </a:lnTo>
                  <a:lnTo>
                    <a:pt x="5374873" y="1723702"/>
                  </a:lnTo>
                  <a:lnTo>
                    <a:pt x="5304799" y="1745221"/>
                  </a:lnTo>
                  <a:lnTo>
                    <a:pt x="5231892" y="1752600"/>
                  </a:lnTo>
                  <a:lnTo>
                    <a:pt x="5195121" y="1750736"/>
                  </a:lnTo>
                  <a:lnTo>
                    <a:pt x="5123556" y="1736171"/>
                  </a:lnTo>
                  <a:lnTo>
                    <a:pt x="5055120" y="1707928"/>
                  </a:lnTo>
                  <a:lnTo>
                    <a:pt x="4990401" y="1666929"/>
                  </a:lnTo>
                  <a:lnTo>
                    <a:pt x="4959621" y="1641934"/>
                  </a:lnTo>
                  <a:lnTo>
                    <a:pt x="4929991" y="1614097"/>
                  </a:lnTo>
                  <a:lnTo>
                    <a:pt x="4901586" y="1583533"/>
                  </a:lnTo>
                  <a:lnTo>
                    <a:pt x="4874479" y="1550357"/>
                  </a:lnTo>
                  <a:lnTo>
                    <a:pt x="4848744" y="1514685"/>
                  </a:lnTo>
                  <a:lnTo>
                    <a:pt x="4824454" y="1476631"/>
                  </a:lnTo>
                  <a:lnTo>
                    <a:pt x="4801684" y="1436313"/>
                  </a:lnTo>
                  <a:lnTo>
                    <a:pt x="4780507" y="1393844"/>
                  </a:lnTo>
                  <a:lnTo>
                    <a:pt x="4760997" y="1349340"/>
                  </a:lnTo>
                  <a:lnTo>
                    <a:pt x="4743228" y="1302918"/>
                  </a:lnTo>
                  <a:lnTo>
                    <a:pt x="4727273" y="1254692"/>
                  </a:lnTo>
                  <a:lnTo>
                    <a:pt x="4713206" y="1204777"/>
                  </a:lnTo>
                  <a:lnTo>
                    <a:pt x="4701101" y="1153290"/>
                  </a:lnTo>
                  <a:lnTo>
                    <a:pt x="4691031" y="1100345"/>
                  </a:lnTo>
                  <a:lnTo>
                    <a:pt x="4683071" y="1046058"/>
                  </a:lnTo>
                  <a:lnTo>
                    <a:pt x="4677294" y="990544"/>
                  </a:lnTo>
                  <a:lnTo>
                    <a:pt x="4673773" y="933920"/>
                  </a:lnTo>
                  <a:lnTo>
                    <a:pt x="4672584" y="876300"/>
                  </a:lnTo>
                  <a:close/>
                </a:path>
              </a:pathLst>
            </a:custGeom>
            <a:ln w="2743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79063" y="3733800"/>
              <a:ext cx="4695190" cy="1752600"/>
            </a:xfrm>
            <a:custGeom>
              <a:avLst/>
              <a:gdLst/>
              <a:ahLst/>
              <a:cxnLst/>
              <a:rect l="l" t="t" r="r" b="b"/>
              <a:pathLst>
                <a:path w="4695190" h="1752600">
                  <a:moveTo>
                    <a:pt x="0" y="794512"/>
                  </a:moveTo>
                  <a:lnTo>
                    <a:pt x="4642231" y="758951"/>
                  </a:lnTo>
                </a:path>
                <a:path w="4695190" h="1752600">
                  <a:moveTo>
                    <a:pt x="21336" y="1650"/>
                  </a:moveTo>
                  <a:lnTo>
                    <a:pt x="4694936" y="0"/>
                  </a:lnTo>
                </a:path>
                <a:path w="4695190" h="1752600">
                  <a:moveTo>
                    <a:pt x="100584" y="1752600"/>
                  </a:moveTo>
                  <a:lnTo>
                    <a:pt x="4694682" y="1752600"/>
                  </a:lnTo>
                </a:path>
              </a:pathLst>
            </a:custGeom>
            <a:ln w="2438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29101" y="5732170"/>
            <a:ext cx="21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2371" y="5732170"/>
            <a:ext cx="196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00200" y="353568"/>
            <a:ext cx="7306309" cy="521334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2800" dirty="0">
                <a:solidFill>
                  <a:srgbClr val="FFFFFF"/>
                </a:solidFill>
              </a:rPr>
              <a:t>Onto(Surjective)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function</a:t>
            </a:r>
            <a:endParaRPr sz="2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6504" y="902284"/>
            <a:ext cx="11454130" cy="20396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just">
              <a:lnSpc>
                <a:spcPct val="95500"/>
              </a:lnSpc>
              <a:spcBef>
                <a:spcPts val="229"/>
              </a:spcBef>
            </a:pPr>
            <a:r>
              <a:rPr sz="2200" b="1" dirty="0">
                <a:solidFill>
                  <a:srgbClr val="00AFEF"/>
                </a:solidFill>
                <a:latin typeface="Arial"/>
                <a:cs typeface="Arial"/>
              </a:rPr>
              <a:t>f:</a:t>
            </a:r>
            <a:r>
              <a:rPr sz="2200" b="1" spc="7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2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→</a:t>
            </a:r>
            <a:r>
              <a:rPr sz="2200" b="1" i="1" spc="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200" b="1" i="1" spc="95" dirty="0">
                <a:solidFill>
                  <a:srgbClr val="00AFEF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2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said</a:t>
            </a:r>
            <a:r>
              <a:rPr sz="2200" b="1" spc="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200" b="1" spc="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200" b="1" spc="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200" b="1" spc="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one-to-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one</a:t>
            </a:r>
            <a:r>
              <a:rPr sz="2200" b="1" spc="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</a:t>
            </a:r>
            <a:r>
              <a:rPr sz="2200" b="1" spc="1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(written</a:t>
            </a:r>
            <a:r>
              <a:rPr sz="2200" b="1" spc="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as</a:t>
            </a:r>
            <a:r>
              <a:rPr sz="2200" b="1" spc="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1-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1function)</a:t>
            </a:r>
            <a:r>
              <a:rPr sz="2200" b="1" spc="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200" b="1" spc="1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different</a:t>
            </a:r>
            <a:r>
              <a:rPr sz="2200" b="1" spc="1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elements</a:t>
            </a:r>
            <a:r>
              <a:rPr sz="2200" b="1" spc="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200" b="1" spc="1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A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have</a:t>
            </a:r>
            <a:r>
              <a:rPr sz="2200" b="1" spc="1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different</a:t>
            </a:r>
            <a:r>
              <a:rPr sz="2200" b="1" spc="2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images</a:t>
            </a:r>
            <a:r>
              <a:rPr sz="2200" b="1" spc="25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200" b="1" spc="1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200" b="1" spc="2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under</a:t>
            </a:r>
            <a:r>
              <a:rPr sz="2200" b="1" spc="1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f;</a:t>
            </a:r>
            <a:r>
              <a:rPr sz="2200" b="1" spc="2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that</a:t>
            </a:r>
            <a:r>
              <a:rPr sz="2200" b="1" spc="2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200" b="1" spc="229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2200" b="1" spc="25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whenever</a:t>
            </a:r>
            <a:r>
              <a:rPr sz="2200" b="1" spc="2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a1,a2</a:t>
            </a:r>
            <a:r>
              <a:rPr sz="2200" b="1" spc="2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280" dirty="0">
                <a:solidFill>
                  <a:srgbClr val="00AFEF"/>
                </a:solidFill>
                <a:latin typeface="Malgun Gothic"/>
                <a:cs typeface="Malgun Gothic"/>
              </a:rPr>
              <a:t>∈A</a:t>
            </a:r>
            <a:r>
              <a:rPr sz="2200" b="1" spc="8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with</a:t>
            </a:r>
            <a:r>
              <a:rPr sz="2200" b="1" spc="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spc="70" dirty="0">
                <a:solidFill>
                  <a:srgbClr val="00AFEF"/>
                </a:solidFill>
                <a:latin typeface="Malgun Gothic"/>
                <a:cs typeface="Malgun Gothic"/>
              </a:rPr>
              <a:t>a1≠a2</a:t>
            </a:r>
            <a:r>
              <a:rPr sz="2200" b="1" spc="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then</a:t>
            </a:r>
            <a:r>
              <a:rPr sz="22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f(a1)</a:t>
            </a:r>
            <a:r>
              <a:rPr sz="2200" b="1" spc="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spc="105" dirty="0">
                <a:solidFill>
                  <a:srgbClr val="00AFEF"/>
                </a:solidFill>
                <a:latin typeface="Malgun Gothic"/>
                <a:cs typeface="Malgun Gothic"/>
              </a:rPr>
              <a:t>≠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f(a2);</a:t>
            </a:r>
            <a:r>
              <a:rPr sz="2200" b="1" spc="-10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or</a:t>
            </a:r>
            <a:r>
              <a:rPr sz="2200" b="1" spc="-6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equavalently</a:t>
            </a:r>
            <a:r>
              <a:rPr sz="2200" b="1" spc="-10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that</a:t>
            </a:r>
            <a:r>
              <a:rPr sz="2200" b="1" spc="-10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if</a:t>
            </a:r>
            <a:r>
              <a:rPr sz="2200" b="1" spc="-4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whenever</a:t>
            </a:r>
            <a:r>
              <a:rPr sz="2200" b="1" spc="-8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f(a1)=f(a2)</a:t>
            </a:r>
            <a:r>
              <a:rPr sz="2200" b="1" spc="-10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for</a:t>
            </a:r>
            <a:r>
              <a:rPr sz="2200" b="1" spc="-6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spc="80" dirty="0">
                <a:solidFill>
                  <a:srgbClr val="00AFEF"/>
                </a:solidFill>
                <a:latin typeface="Malgun Gothic"/>
                <a:cs typeface="Malgun Gothic"/>
              </a:rPr>
              <a:t>a1,a2</a:t>
            </a:r>
            <a:r>
              <a:rPr sz="2200" b="1" spc="-10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spc="-125" dirty="0">
                <a:solidFill>
                  <a:srgbClr val="00AFEF"/>
                </a:solidFill>
                <a:latin typeface="Malgun Gothic"/>
                <a:cs typeface="Malgun Gothic"/>
              </a:rPr>
              <a:t>∈A,</a:t>
            </a:r>
            <a:r>
              <a:rPr sz="2200" b="1" spc="-7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EF"/>
                </a:solidFill>
                <a:latin typeface="Malgun Gothic"/>
                <a:cs typeface="Malgun Gothic"/>
              </a:rPr>
              <a:t>then</a:t>
            </a:r>
            <a:r>
              <a:rPr sz="2200" b="1" spc="-7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2200" b="1" spc="75" dirty="0">
                <a:solidFill>
                  <a:srgbClr val="00AFEF"/>
                </a:solidFill>
                <a:latin typeface="Malgun Gothic"/>
                <a:cs typeface="Malgun Gothic"/>
              </a:rPr>
              <a:t>a1=a2.</a:t>
            </a:r>
            <a:endParaRPr sz="2200">
              <a:latin typeface="Malgun Gothic"/>
              <a:cs typeface="Malgun Gothic"/>
            </a:endParaRPr>
          </a:p>
          <a:p>
            <a:pPr marL="12700" algn="just">
              <a:lnSpc>
                <a:spcPct val="100000"/>
              </a:lnSpc>
              <a:spcBef>
                <a:spcPts val="2690"/>
              </a:spcBef>
            </a:pPr>
            <a:r>
              <a:rPr sz="2200" b="1" dirty="0">
                <a:solidFill>
                  <a:srgbClr val="00AF50"/>
                </a:solidFill>
                <a:latin typeface="Malgun Gothic"/>
                <a:cs typeface="Malgun Gothic"/>
              </a:rPr>
              <a:t>If</a:t>
            </a:r>
            <a:r>
              <a:rPr sz="2200" b="1" spc="-95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2200" b="1" spc="50" dirty="0">
                <a:solidFill>
                  <a:srgbClr val="00AF50"/>
                </a:solidFill>
                <a:latin typeface="Malgun Gothic"/>
                <a:cs typeface="Malgun Gothic"/>
              </a:rPr>
              <a:t>f:</a:t>
            </a:r>
            <a:r>
              <a:rPr sz="2200" b="1" spc="-19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200" b="1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→</a:t>
            </a:r>
            <a:r>
              <a:rPr sz="2200" b="1" i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200" b="1" i="1" spc="20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200" b="1" spc="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2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one-to-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one</a:t>
            </a:r>
            <a:r>
              <a:rPr sz="22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2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200" b="1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every</a:t>
            </a:r>
            <a:r>
              <a:rPr sz="22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r>
              <a:rPr sz="2200" b="1" spc="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200" b="1" spc="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200" b="1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has</a:t>
            </a:r>
            <a:r>
              <a:rPr sz="2200" b="1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2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unique</a:t>
            </a:r>
            <a:r>
              <a:rPr sz="2200" b="1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image</a:t>
            </a:r>
            <a:r>
              <a:rPr sz="22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2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200" b="1" spc="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2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every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90"/>
              </a:spcBef>
            </a:pP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r>
              <a:rPr sz="22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2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f(A)</a:t>
            </a:r>
            <a:r>
              <a:rPr sz="22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has</a:t>
            </a:r>
            <a:r>
              <a:rPr sz="22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2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unique</a:t>
            </a:r>
            <a:r>
              <a:rPr sz="22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preimage</a:t>
            </a:r>
            <a:r>
              <a:rPr sz="22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2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0008" y="3648455"/>
            <a:ext cx="5638799" cy="23896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8008" y="222504"/>
            <a:ext cx="7226934" cy="4635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794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20"/>
              </a:spcBef>
            </a:pP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One-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to-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one(Injective)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20139" y="3628644"/>
            <a:ext cx="1767839" cy="2859405"/>
          </a:xfrm>
          <a:custGeom>
            <a:avLst/>
            <a:gdLst/>
            <a:ahLst/>
            <a:cxnLst/>
            <a:rect l="l" t="t" r="r" b="b"/>
            <a:pathLst>
              <a:path w="1767839" h="2859404">
                <a:moveTo>
                  <a:pt x="0" y="1429511"/>
                </a:moveTo>
                <a:lnTo>
                  <a:pt x="737" y="1370583"/>
                </a:lnTo>
                <a:lnTo>
                  <a:pt x="2930" y="1312261"/>
                </a:lnTo>
                <a:lnTo>
                  <a:pt x="6550" y="1254592"/>
                </a:lnTo>
                <a:lnTo>
                  <a:pt x="11568" y="1197622"/>
                </a:lnTo>
                <a:lnTo>
                  <a:pt x="17957" y="1141397"/>
                </a:lnTo>
                <a:lnTo>
                  <a:pt x="25688" y="1085963"/>
                </a:lnTo>
                <a:lnTo>
                  <a:pt x="34732" y="1031366"/>
                </a:lnTo>
                <a:lnTo>
                  <a:pt x="45061" y="977652"/>
                </a:lnTo>
                <a:lnTo>
                  <a:pt x="56647" y="924866"/>
                </a:lnTo>
                <a:lnTo>
                  <a:pt x="69461" y="873055"/>
                </a:lnTo>
                <a:lnTo>
                  <a:pt x="83474" y="822265"/>
                </a:lnTo>
                <a:lnTo>
                  <a:pt x="98659" y="772541"/>
                </a:lnTo>
                <a:lnTo>
                  <a:pt x="114986" y="723931"/>
                </a:lnTo>
                <a:lnTo>
                  <a:pt x="132428" y="676478"/>
                </a:lnTo>
                <a:lnTo>
                  <a:pt x="150956" y="630231"/>
                </a:lnTo>
                <a:lnTo>
                  <a:pt x="170541" y="585234"/>
                </a:lnTo>
                <a:lnTo>
                  <a:pt x="191156" y="541533"/>
                </a:lnTo>
                <a:lnTo>
                  <a:pt x="212771" y="499175"/>
                </a:lnTo>
                <a:lnTo>
                  <a:pt x="235358" y="458206"/>
                </a:lnTo>
                <a:lnTo>
                  <a:pt x="258889" y="418671"/>
                </a:lnTo>
                <a:lnTo>
                  <a:pt x="283335" y="380616"/>
                </a:lnTo>
                <a:lnTo>
                  <a:pt x="308669" y="344088"/>
                </a:lnTo>
                <a:lnTo>
                  <a:pt x="334861" y="309132"/>
                </a:lnTo>
                <a:lnTo>
                  <a:pt x="361882" y="275795"/>
                </a:lnTo>
                <a:lnTo>
                  <a:pt x="389706" y="244122"/>
                </a:lnTo>
                <a:lnTo>
                  <a:pt x="418303" y="214159"/>
                </a:lnTo>
                <a:lnTo>
                  <a:pt x="447644" y="185952"/>
                </a:lnTo>
                <a:lnTo>
                  <a:pt x="477702" y="159547"/>
                </a:lnTo>
                <a:lnTo>
                  <a:pt x="508448" y="134991"/>
                </a:lnTo>
                <a:lnTo>
                  <a:pt x="539853" y="112329"/>
                </a:lnTo>
                <a:lnTo>
                  <a:pt x="571889" y="91607"/>
                </a:lnTo>
                <a:lnTo>
                  <a:pt x="637741" y="56167"/>
                </a:lnTo>
                <a:lnTo>
                  <a:pt x="705775" y="29040"/>
                </a:lnTo>
                <a:lnTo>
                  <a:pt x="775765" y="10592"/>
                </a:lnTo>
                <a:lnTo>
                  <a:pt x="847483" y="1192"/>
                </a:lnTo>
                <a:lnTo>
                  <a:pt x="883920" y="0"/>
                </a:lnTo>
                <a:lnTo>
                  <a:pt x="920356" y="1192"/>
                </a:lnTo>
                <a:lnTo>
                  <a:pt x="992074" y="10592"/>
                </a:lnTo>
                <a:lnTo>
                  <a:pt x="1062064" y="29040"/>
                </a:lnTo>
                <a:lnTo>
                  <a:pt x="1130098" y="56167"/>
                </a:lnTo>
                <a:lnTo>
                  <a:pt x="1195950" y="91607"/>
                </a:lnTo>
                <a:lnTo>
                  <a:pt x="1227986" y="112329"/>
                </a:lnTo>
                <a:lnTo>
                  <a:pt x="1259391" y="134991"/>
                </a:lnTo>
                <a:lnTo>
                  <a:pt x="1290137" y="159547"/>
                </a:lnTo>
                <a:lnTo>
                  <a:pt x="1320195" y="185952"/>
                </a:lnTo>
                <a:lnTo>
                  <a:pt x="1349536" y="214159"/>
                </a:lnTo>
                <a:lnTo>
                  <a:pt x="1378133" y="244122"/>
                </a:lnTo>
                <a:lnTo>
                  <a:pt x="1405957" y="275795"/>
                </a:lnTo>
                <a:lnTo>
                  <a:pt x="1432978" y="309132"/>
                </a:lnTo>
                <a:lnTo>
                  <a:pt x="1459170" y="344088"/>
                </a:lnTo>
                <a:lnTo>
                  <a:pt x="1484504" y="380616"/>
                </a:lnTo>
                <a:lnTo>
                  <a:pt x="1508950" y="418671"/>
                </a:lnTo>
                <a:lnTo>
                  <a:pt x="1532481" y="458206"/>
                </a:lnTo>
                <a:lnTo>
                  <a:pt x="1555068" y="499175"/>
                </a:lnTo>
                <a:lnTo>
                  <a:pt x="1576683" y="541533"/>
                </a:lnTo>
                <a:lnTo>
                  <a:pt x="1597298" y="585234"/>
                </a:lnTo>
                <a:lnTo>
                  <a:pt x="1616883" y="630231"/>
                </a:lnTo>
                <a:lnTo>
                  <a:pt x="1635411" y="676478"/>
                </a:lnTo>
                <a:lnTo>
                  <a:pt x="1652853" y="723931"/>
                </a:lnTo>
                <a:lnTo>
                  <a:pt x="1669180" y="772541"/>
                </a:lnTo>
                <a:lnTo>
                  <a:pt x="1684365" y="822265"/>
                </a:lnTo>
                <a:lnTo>
                  <a:pt x="1698378" y="873055"/>
                </a:lnTo>
                <a:lnTo>
                  <a:pt x="1711192" y="924866"/>
                </a:lnTo>
                <a:lnTo>
                  <a:pt x="1722778" y="977652"/>
                </a:lnTo>
                <a:lnTo>
                  <a:pt x="1733107" y="1031366"/>
                </a:lnTo>
                <a:lnTo>
                  <a:pt x="1742151" y="1085963"/>
                </a:lnTo>
                <a:lnTo>
                  <a:pt x="1749882" y="1141397"/>
                </a:lnTo>
                <a:lnTo>
                  <a:pt x="1756271" y="1197622"/>
                </a:lnTo>
                <a:lnTo>
                  <a:pt x="1761289" y="1254592"/>
                </a:lnTo>
                <a:lnTo>
                  <a:pt x="1764909" y="1312261"/>
                </a:lnTo>
                <a:lnTo>
                  <a:pt x="1767102" y="1370583"/>
                </a:lnTo>
                <a:lnTo>
                  <a:pt x="1767839" y="1429511"/>
                </a:lnTo>
                <a:lnTo>
                  <a:pt x="1767102" y="1488436"/>
                </a:lnTo>
                <a:lnTo>
                  <a:pt x="1764909" y="1546753"/>
                </a:lnTo>
                <a:lnTo>
                  <a:pt x="1761289" y="1604419"/>
                </a:lnTo>
                <a:lnTo>
                  <a:pt x="1756271" y="1661385"/>
                </a:lnTo>
                <a:lnTo>
                  <a:pt x="1749882" y="1717607"/>
                </a:lnTo>
                <a:lnTo>
                  <a:pt x="1742151" y="1773039"/>
                </a:lnTo>
                <a:lnTo>
                  <a:pt x="1733107" y="1827634"/>
                </a:lnTo>
                <a:lnTo>
                  <a:pt x="1722778" y="1881347"/>
                </a:lnTo>
                <a:lnTo>
                  <a:pt x="1711192" y="1934131"/>
                </a:lnTo>
                <a:lnTo>
                  <a:pt x="1698378" y="1985941"/>
                </a:lnTo>
                <a:lnTo>
                  <a:pt x="1684365" y="2036731"/>
                </a:lnTo>
                <a:lnTo>
                  <a:pt x="1669180" y="2086454"/>
                </a:lnTo>
                <a:lnTo>
                  <a:pt x="1652853" y="2135064"/>
                </a:lnTo>
                <a:lnTo>
                  <a:pt x="1635411" y="2182516"/>
                </a:lnTo>
                <a:lnTo>
                  <a:pt x="1616883" y="2228764"/>
                </a:lnTo>
                <a:lnTo>
                  <a:pt x="1597298" y="2273762"/>
                </a:lnTo>
                <a:lnTo>
                  <a:pt x="1576683" y="2317463"/>
                </a:lnTo>
                <a:lnTo>
                  <a:pt x="1555068" y="2359822"/>
                </a:lnTo>
                <a:lnTo>
                  <a:pt x="1532481" y="2400792"/>
                </a:lnTo>
                <a:lnTo>
                  <a:pt x="1508950" y="2440328"/>
                </a:lnTo>
                <a:lnTo>
                  <a:pt x="1484504" y="2478384"/>
                </a:lnTo>
                <a:lnTo>
                  <a:pt x="1459170" y="2514914"/>
                </a:lnTo>
                <a:lnTo>
                  <a:pt x="1432978" y="2549871"/>
                </a:lnTo>
                <a:lnTo>
                  <a:pt x="1405957" y="2583210"/>
                </a:lnTo>
                <a:lnTo>
                  <a:pt x="1378133" y="2614885"/>
                </a:lnTo>
                <a:lnTo>
                  <a:pt x="1349536" y="2644849"/>
                </a:lnTo>
                <a:lnTo>
                  <a:pt x="1320195" y="2673058"/>
                </a:lnTo>
                <a:lnTo>
                  <a:pt x="1290137" y="2699464"/>
                </a:lnTo>
                <a:lnTo>
                  <a:pt x="1259391" y="2724021"/>
                </a:lnTo>
                <a:lnTo>
                  <a:pt x="1227986" y="2746685"/>
                </a:lnTo>
                <a:lnTo>
                  <a:pt x="1195950" y="2767409"/>
                </a:lnTo>
                <a:lnTo>
                  <a:pt x="1130098" y="2802851"/>
                </a:lnTo>
                <a:lnTo>
                  <a:pt x="1062064" y="2829981"/>
                </a:lnTo>
                <a:lnTo>
                  <a:pt x="992074" y="2848430"/>
                </a:lnTo>
                <a:lnTo>
                  <a:pt x="920356" y="2857831"/>
                </a:lnTo>
                <a:lnTo>
                  <a:pt x="883920" y="2859023"/>
                </a:lnTo>
                <a:lnTo>
                  <a:pt x="847483" y="2857831"/>
                </a:lnTo>
                <a:lnTo>
                  <a:pt x="775765" y="2848430"/>
                </a:lnTo>
                <a:lnTo>
                  <a:pt x="705775" y="2829981"/>
                </a:lnTo>
                <a:lnTo>
                  <a:pt x="637741" y="2802851"/>
                </a:lnTo>
                <a:lnTo>
                  <a:pt x="571889" y="2767409"/>
                </a:lnTo>
                <a:lnTo>
                  <a:pt x="539853" y="2746685"/>
                </a:lnTo>
                <a:lnTo>
                  <a:pt x="508448" y="2724021"/>
                </a:lnTo>
                <a:lnTo>
                  <a:pt x="477702" y="2699464"/>
                </a:lnTo>
                <a:lnTo>
                  <a:pt x="447644" y="2673058"/>
                </a:lnTo>
                <a:lnTo>
                  <a:pt x="418303" y="2644849"/>
                </a:lnTo>
                <a:lnTo>
                  <a:pt x="389706" y="2614885"/>
                </a:lnTo>
                <a:lnTo>
                  <a:pt x="361882" y="2583210"/>
                </a:lnTo>
                <a:lnTo>
                  <a:pt x="334861" y="2549871"/>
                </a:lnTo>
                <a:lnTo>
                  <a:pt x="308669" y="2514914"/>
                </a:lnTo>
                <a:lnTo>
                  <a:pt x="283335" y="2478384"/>
                </a:lnTo>
                <a:lnTo>
                  <a:pt x="258889" y="2440328"/>
                </a:lnTo>
                <a:lnTo>
                  <a:pt x="235358" y="2400792"/>
                </a:lnTo>
                <a:lnTo>
                  <a:pt x="212771" y="2359822"/>
                </a:lnTo>
                <a:lnTo>
                  <a:pt x="191156" y="2317463"/>
                </a:lnTo>
                <a:lnTo>
                  <a:pt x="170541" y="2273762"/>
                </a:lnTo>
                <a:lnTo>
                  <a:pt x="150956" y="2228764"/>
                </a:lnTo>
                <a:lnTo>
                  <a:pt x="132428" y="2182516"/>
                </a:lnTo>
                <a:lnTo>
                  <a:pt x="114986" y="2135064"/>
                </a:lnTo>
                <a:lnTo>
                  <a:pt x="98659" y="2086454"/>
                </a:lnTo>
                <a:lnTo>
                  <a:pt x="83474" y="2036731"/>
                </a:lnTo>
                <a:lnTo>
                  <a:pt x="69461" y="1985941"/>
                </a:lnTo>
                <a:lnTo>
                  <a:pt x="56647" y="1934131"/>
                </a:lnTo>
                <a:lnTo>
                  <a:pt x="45061" y="1881347"/>
                </a:lnTo>
                <a:lnTo>
                  <a:pt x="34732" y="1827634"/>
                </a:lnTo>
                <a:lnTo>
                  <a:pt x="25688" y="1773039"/>
                </a:lnTo>
                <a:lnTo>
                  <a:pt x="17957" y="1717607"/>
                </a:lnTo>
                <a:lnTo>
                  <a:pt x="11568" y="1661385"/>
                </a:lnTo>
                <a:lnTo>
                  <a:pt x="6550" y="1604419"/>
                </a:lnTo>
                <a:lnTo>
                  <a:pt x="2930" y="1546753"/>
                </a:lnTo>
                <a:lnTo>
                  <a:pt x="737" y="1488436"/>
                </a:lnTo>
                <a:lnTo>
                  <a:pt x="0" y="1429511"/>
                </a:lnTo>
                <a:close/>
              </a:path>
            </a:pathLst>
          </a:custGeom>
          <a:ln w="396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15027" y="3400911"/>
            <a:ext cx="189230" cy="2769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890" algn="just">
              <a:lnSpc>
                <a:spcPct val="150100"/>
              </a:lnSpc>
              <a:spcBef>
                <a:spcPts val="90"/>
              </a:spcBef>
            </a:pPr>
            <a:r>
              <a:rPr sz="2400" b="1" spc="-50" dirty="0">
                <a:latin typeface="Calibri"/>
                <a:cs typeface="Calibri"/>
              </a:rPr>
              <a:t>a b c d 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57828" y="3628644"/>
            <a:ext cx="1767839" cy="2715895"/>
          </a:xfrm>
          <a:custGeom>
            <a:avLst/>
            <a:gdLst/>
            <a:ahLst/>
            <a:cxnLst/>
            <a:rect l="l" t="t" r="r" b="b"/>
            <a:pathLst>
              <a:path w="1767839" h="2715895">
                <a:moveTo>
                  <a:pt x="0" y="1357883"/>
                </a:moveTo>
                <a:lnTo>
                  <a:pt x="775" y="1300484"/>
                </a:lnTo>
                <a:lnTo>
                  <a:pt x="3081" y="1243692"/>
                </a:lnTo>
                <a:lnTo>
                  <a:pt x="6886" y="1187554"/>
                </a:lnTo>
                <a:lnTo>
                  <a:pt x="12161" y="1132118"/>
                </a:lnTo>
                <a:lnTo>
                  <a:pt x="18874" y="1077430"/>
                </a:lnTo>
                <a:lnTo>
                  <a:pt x="26994" y="1023538"/>
                </a:lnTo>
                <a:lnTo>
                  <a:pt x="36492" y="970489"/>
                </a:lnTo>
                <a:lnTo>
                  <a:pt x="47336" y="918330"/>
                </a:lnTo>
                <a:lnTo>
                  <a:pt x="59496" y="867108"/>
                </a:lnTo>
                <a:lnTo>
                  <a:pt x="72941" y="816871"/>
                </a:lnTo>
                <a:lnTo>
                  <a:pt x="87640" y="767665"/>
                </a:lnTo>
                <a:lnTo>
                  <a:pt x="103562" y="719537"/>
                </a:lnTo>
                <a:lnTo>
                  <a:pt x="120678" y="672535"/>
                </a:lnTo>
                <a:lnTo>
                  <a:pt x="138956" y="626706"/>
                </a:lnTo>
                <a:lnTo>
                  <a:pt x="158365" y="582097"/>
                </a:lnTo>
                <a:lnTo>
                  <a:pt x="178876" y="538755"/>
                </a:lnTo>
                <a:lnTo>
                  <a:pt x="200456" y="496727"/>
                </a:lnTo>
                <a:lnTo>
                  <a:pt x="223076" y="456060"/>
                </a:lnTo>
                <a:lnTo>
                  <a:pt x="246706" y="416802"/>
                </a:lnTo>
                <a:lnTo>
                  <a:pt x="271313" y="379000"/>
                </a:lnTo>
                <a:lnTo>
                  <a:pt x="296868" y="342700"/>
                </a:lnTo>
                <a:lnTo>
                  <a:pt x="323340" y="307950"/>
                </a:lnTo>
                <a:lnTo>
                  <a:pt x="350698" y="274797"/>
                </a:lnTo>
                <a:lnTo>
                  <a:pt x="378912" y="243288"/>
                </a:lnTo>
                <a:lnTo>
                  <a:pt x="407950" y="213470"/>
                </a:lnTo>
                <a:lnTo>
                  <a:pt x="437783" y="185391"/>
                </a:lnTo>
                <a:lnTo>
                  <a:pt x="468379" y="159098"/>
                </a:lnTo>
                <a:lnTo>
                  <a:pt x="499708" y="134637"/>
                </a:lnTo>
                <a:lnTo>
                  <a:pt x="531739" y="112055"/>
                </a:lnTo>
                <a:lnTo>
                  <a:pt x="564441" y="91401"/>
                </a:lnTo>
                <a:lnTo>
                  <a:pt x="597785" y="72721"/>
                </a:lnTo>
                <a:lnTo>
                  <a:pt x="666271" y="41471"/>
                </a:lnTo>
                <a:lnTo>
                  <a:pt x="736953" y="18683"/>
                </a:lnTo>
                <a:lnTo>
                  <a:pt x="809584" y="4733"/>
                </a:lnTo>
                <a:lnTo>
                  <a:pt x="883920" y="0"/>
                </a:lnTo>
                <a:lnTo>
                  <a:pt x="921285" y="1191"/>
                </a:lnTo>
                <a:lnTo>
                  <a:pt x="994799" y="10579"/>
                </a:lnTo>
                <a:lnTo>
                  <a:pt x="1066486" y="28995"/>
                </a:lnTo>
                <a:lnTo>
                  <a:pt x="1136101" y="56062"/>
                </a:lnTo>
                <a:lnTo>
                  <a:pt x="1203398" y="91401"/>
                </a:lnTo>
                <a:lnTo>
                  <a:pt x="1236100" y="112055"/>
                </a:lnTo>
                <a:lnTo>
                  <a:pt x="1268131" y="134637"/>
                </a:lnTo>
                <a:lnTo>
                  <a:pt x="1299460" y="159098"/>
                </a:lnTo>
                <a:lnTo>
                  <a:pt x="1330056" y="185391"/>
                </a:lnTo>
                <a:lnTo>
                  <a:pt x="1359889" y="213470"/>
                </a:lnTo>
                <a:lnTo>
                  <a:pt x="1388927" y="243288"/>
                </a:lnTo>
                <a:lnTo>
                  <a:pt x="1417141" y="274797"/>
                </a:lnTo>
                <a:lnTo>
                  <a:pt x="1444499" y="307950"/>
                </a:lnTo>
                <a:lnTo>
                  <a:pt x="1470971" y="342700"/>
                </a:lnTo>
                <a:lnTo>
                  <a:pt x="1496526" y="379000"/>
                </a:lnTo>
                <a:lnTo>
                  <a:pt x="1521133" y="416802"/>
                </a:lnTo>
                <a:lnTo>
                  <a:pt x="1544763" y="456060"/>
                </a:lnTo>
                <a:lnTo>
                  <a:pt x="1567383" y="496727"/>
                </a:lnTo>
                <a:lnTo>
                  <a:pt x="1588963" y="538755"/>
                </a:lnTo>
                <a:lnTo>
                  <a:pt x="1609474" y="582097"/>
                </a:lnTo>
                <a:lnTo>
                  <a:pt x="1628883" y="626706"/>
                </a:lnTo>
                <a:lnTo>
                  <a:pt x="1647161" y="672535"/>
                </a:lnTo>
                <a:lnTo>
                  <a:pt x="1664277" y="719537"/>
                </a:lnTo>
                <a:lnTo>
                  <a:pt x="1680199" y="767665"/>
                </a:lnTo>
                <a:lnTo>
                  <a:pt x="1694898" y="816871"/>
                </a:lnTo>
                <a:lnTo>
                  <a:pt x="1708343" y="867108"/>
                </a:lnTo>
                <a:lnTo>
                  <a:pt x="1720503" y="918330"/>
                </a:lnTo>
                <a:lnTo>
                  <a:pt x="1731347" y="970489"/>
                </a:lnTo>
                <a:lnTo>
                  <a:pt x="1740845" y="1023538"/>
                </a:lnTo>
                <a:lnTo>
                  <a:pt x="1748965" y="1077430"/>
                </a:lnTo>
                <a:lnTo>
                  <a:pt x="1755678" y="1132118"/>
                </a:lnTo>
                <a:lnTo>
                  <a:pt x="1760953" y="1187554"/>
                </a:lnTo>
                <a:lnTo>
                  <a:pt x="1764758" y="1243692"/>
                </a:lnTo>
                <a:lnTo>
                  <a:pt x="1767064" y="1300484"/>
                </a:lnTo>
                <a:lnTo>
                  <a:pt x="1767839" y="1357883"/>
                </a:lnTo>
                <a:lnTo>
                  <a:pt x="1767064" y="1415283"/>
                </a:lnTo>
                <a:lnTo>
                  <a:pt x="1764758" y="1472075"/>
                </a:lnTo>
                <a:lnTo>
                  <a:pt x="1760953" y="1528213"/>
                </a:lnTo>
                <a:lnTo>
                  <a:pt x="1755678" y="1583649"/>
                </a:lnTo>
                <a:lnTo>
                  <a:pt x="1748965" y="1638337"/>
                </a:lnTo>
                <a:lnTo>
                  <a:pt x="1740845" y="1692229"/>
                </a:lnTo>
                <a:lnTo>
                  <a:pt x="1731347" y="1745278"/>
                </a:lnTo>
                <a:lnTo>
                  <a:pt x="1720503" y="1797437"/>
                </a:lnTo>
                <a:lnTo>
                  <a:pt x="1708343" y="1848659"/>
                </a:lnTo>
                <a:lnTo>
                  <a:pt x="1694898" y="1898896"/>
                </a:lnTo>
                <a:lnTo>
                  <a:pt x="1680199" y="1948102"/>
                </a:lnTo>
                <a:lnTo>
                  <a:pt x="1664277" y="1996230"/>
                </a:lnTo>
                <a:lnTo>
                  <a:pt x="1647161" y="2043232"/>
                </a:lnTo>
                <a:lnTo>
                  <a:pt x="1628883" y="2089061"/>
                </a:lnTo>
                <a:lnTo>
                  <a:pt x="1609474" y="2133670"/>
                </a:lnTo>
                <a:lnTo>
                  <a:pt x="1588963" y="2177012"/>
                </a:lnTo>
                <a:lnTo>
                  <a:pt x="1567383" y="2219040"/>
                </a:lnTo>
                <a:lnTo>
                  <a:pt x="1544763" y="2259707"/>
                </a:lnTo>
                <a:lnTo>
                  <a:pt x="1521133" y="2298965"/>
                </a:lnTo>
                <a:lnTo>
                  <a:pt x="1496526" y="2336767"/>
                </a:lnTo>
                <a:lnTo>
                  <a:pt x="1470971" y="2373067"/>
                </a:lnTo>
                <a:lnTo>
                  <a:pt x="1444499" y="2407817"/>
                </a:lnTo>
                <a:lnTo>
                  <a:pt x="1417141" y="2440970"/>
                </a:lnTo>
                <a:lnTo>
                  <a:pt x="1388927" y="2472479"/>
                </a:lnTo>
                <a:lnTo>
                  <a:pt x="1359889" y="2502297"/>
                </a:lnTo>
                <a:lnTo>
                  <a:pt x="1330056" y="2530376"/>
                </a:lnTo>
                <a:lnTo>
                  <a:pt x="1299460" y="2556669"/>
                </a:lnTo>
                <a:lnTo>
                  <a:pt x="1268131" y="2581130"/>
                </a:lnTo>
                <a:lnTo>
                  <a:pt x="1236100" y="2603712"/>
                </a:lnTo>
                <a:lnTo>
                  <a:pt x="1203398" y="2624366"/>
                </a:lnTo>
                <a:lnTo>
                  <a:pt x="1170054" y="2643046"/>
                </a:lnTo>
                <a:lnTo>
                  <a:pt x="1101568" y="2674296"/>
                </a:lnTo>
                <a:lnTo>
                  <a:pt x="1030886" y="2697084"/>
                </a:lnTo>
                <a:lnTo>
                  <a:pt x="958255" y="2711034"/>
                </a:lnTo>
                <a:lnTo>
                  <a:pt x="883920" y="2715767"/>
                </a:lnTo>
                <a:lnTo>
                  <a:pt x="846554" y="2714576"/>
                </a:lnTo>
                <a:lnTo>
                  <a:pt x="773040" y="2705188"/>
                </a:lnTo>
                <a:lnTo>
                  <a:pt x="701353" y="2686772"/>
                </a:lnTo>
                <a:lnTo>
                  <a:pt x="631738" y="2659705"/>
                </a:lnTo>
                <a:lnTo>
                  <a:pt x="564441" y="2624366"/>
                </a:lnTo>
                <a:lnTo>
                  <a:pt x="531739" y="2603712"/>
                </a:lnTo>
                <a:lnTo>
                  <a:pt x="499708" y="2581130"/>
                </a:lnTo>
                <a:lnTo>
                  <a:pt x="468379" y="2556669"/>
                </a:lnTo>
                <a:lnTo>
                  <a:pt x="437783" y="2530376"/>
                </a:lnTo>
                <a:lnTo>
                  <a:pt x="407950" y="2502297"/>
                </a:lnTo>
                <a:lnTo>
                  <a:pt x="378912" y="2472479"/>
                </a:lnTo>
                <a:lnTo>
                  <a:pt x="350698" y="2440970"/>
                </a:lnTo>
                <a:lnTo>
                  <a:pt x="323340" y="2407817"/>
                </a:lnTo>
                <a:lnTo>
                  <a:pt x="296868" y="2373067"/>
                </a:lnTo>
                <a:lnTo>
                  <a:pt x="271313" y="2336767"/>
                </a:lnTo>
                <a:lnTo>
                  <a:pt x="246706" y="2298965"/>
                </a:lnTo>
                <a:lnTo>
                  <a:pt x="223076" y="2259707"/>
                </a:lnTo>
                <a:lnTo>
                  <a:pt x="200456" y="2219040"/>
                </a:lnTo>
                <a:lnTo>
                  <a:pt x="178876" y="2177012"/>
                </a:lnTo>
                <a:lnTo>
                  <a:pt x="158365" y="2133670"/>
                </a:lnTo>
                <a:lnTo>
                  <a:pt x="138956" y="2089061"/>
                </a:lnTo>
                <a:lnTo>
                  <a:pt x="120678" y="2043232"/>
                </a:lnTo>
                <a:lnTo>
                  <a:pt x="103562" y="1996230"/>
                </a:lnTo>
                <a:lnTo>
                  <a:pt x="87640" y="1948102"/>
                </a:lnTo>
                <a:lnTo>
                  <a:pt x="72941" y="1898896"/>
                </a:lnTo>
                <a:lnTo>
                  <a:pt x="59496" y="1848659"/>
                </a:lnTo>
                <a:lnTo>
                  <a:pt x="47336" y="1797437"/>
                </a:lnTo>
                <a:lnTo>
                  <a:pt x="36492" y="1745278"/>
                </a:lnTo>
                <a:lnTo>
                  <a:pt x="26994" y="1692229"/>
                </a:lnTo>
                <a:lnTo>
                  <a:pt x="18874" y="1638337"/>
                </a:lnTo>
                <a:lnTo>
                  <a:pt x="12161" y="1583649"/>
                </a:lnTo>
                <a:lnTo>
                  <a:pt x="6886" y="1528213"/>
                </a:lnTo>
                <a:lnTo>
                  <a:pt x="3081" y="1472075"/>
                </a:lnTo>
                <a:lnTo>
                  <a:pt x="775" y="1415283"/>
                </a:lnTo>
                <a:lnTo>
                  <a:pt x="0" y="1357883"/>
                </a:lnTo>
                <a:close/>
              </a:path>
            </a:pathLst>
          </a:custGeom>
          <a:ln w="396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30755" y="3718620"/>
            <a:ext cx="180340" cy="222123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51533" y="3820540"/>
            <a:ext cx="2991485" cy="2254250"/>
          </a:xfrm>
          <a:custGeom>
            <a:avLst/>
            <a:gdLst/>
            <a:ahLst/>
            <a:cxnLst/>
            <a:rect l="l" t="t" r="r" b="b"/>
            <a:pathLst>
              <a:path w="2991485" h="2254250">
                <a:moveTo>
                  <a:pt x="2958719" y="2195423"/>
                </a:moveTo>
                <a:lnTo>
                  <a:pt x="2845054" y="2112924"/>
                </a:lnTo>
                <a:lnTo>
                  <a:pt x="2835529" y="2114435"/>
                </a:lnTo>
                <a:lnTo>
                  <a:pt x="2825623" y="2128050"/>
                </a:lnTo>
                <a:lnTo>
                  <a:pt x="2827147" y="2137587"/>
                </a:lnTo>
                <a:lnTo>
                  <a:pt x="2874010" y="2171611"/>
                </a:lnTo>
                <a:lnTo>
                  <a:pt x="21463" y="1885391"/>
                </a:lnTo>
                <a:lnTo>
                  <a:pt x="18415" y="1915718"/>
                </a:lnTo>
                <a:lnTo>
                  <a:pt x="2870987" y="2201938"/>
                </a:lnTo>
                <a:lnTo>
                  <a:pt x="2818257" y="2225979"/>
                </a:lnTo>
                <a:lnTo>
                  <a:pt x="2814955" y="2235009"/>
                </a:lnTo>
                <a:lnTo>
                  <a:pt x="2818384" y="2242667"/>
                </a:lnTo>
                <a:lnTo>
                  <a:pt x="2821940" y="2250325"/>
                </a:lnTo>
                <a:lnTo>
                  <a:pt x="2830957" y="2253704"/>
                </a:lnTo>
                <a:lnTo>
                  <a:pt x="2932087" y="2207564"/>
                </a:lnTo>
                <a:lnTo>
                  <a:pt x="2958719" y="2195423"/>
                </a:lnTo>
                <a:close/>
              </a:path>
              <a:path w="2991485" h="2254250">
                <a:moveTo>
                  <a:pt x="2960243" y="1151509"/>
                </a:moveTo>
                <a:lnTo>
                  <a:pt x="2853944" y="1073404"/>
                </a:lnTo>
                <a:lnTo>
                  <a:pt x="2847213" y="1068324"/>
                </a:lnTo>
                <a:lnTo>
                  <a:pt x="2837561" y="1069848"/>
                </a:lnTo>
                <a:lnTo>
                  <a:pt x="2832608" y="1076579"/>
                </a:lnTo>
                <a:lnTo>
                  <a:pt x="2827655" y="1083437"/>
                </a:lnTo>
                <a:lnTo>
                  <a:pt x="2829052" y="1092962"/>
                </a:lnTo>
                <a:lnTo>
                  <a:pt x="2835910" y="1097915"/>
                </a:lnTo>
                <a:lnTo>
                  <a:pt x="2875762" y="1127264"/>
                </a:lnTo>
                <a:lnTo>
                  <a:pt x="1521993" y="983259"/>
                </a:lnTo>
                <a:lnTo>
                  <a:pt x="2878772" y="623836"/>
                </a:lnTo>
                <a:lnTo>
                  <a:pt x="2843911" y="658876"/>
                </a:lnTo>
                <a:lnTo>
                  <a:pt x="2837942" y="664718"/>
                </a:lnTo>
                <a:lnTo>
                  <a:pt x="2837942" y="674370"/>
                </a:lnTo>
                <a:lnTo>
                  <a:pt x="2849880" y="686308"/>
                </a:lnTo>
                <a:lnTo>
                  <a:pt x="2859532" y="686308"/>
                </a:lnTo>
                <a:lnTo>
                  <a:pt x="2958719" y="586867"/>
                </a:lnTo>
                <a:lnTo>
                  <a:pt x="2933357" y="579882"/>
                </a:lnTo>
                <a:lnTo>
                  <a:pt x="2823337" y="549529"/>
                </a:lnTo>
                <a:lnTo>
                  <a:pt x="2814955" y="554228"/>
                </a:lnTo>
                <a:lnTo>
                  <a:pt x="2812669" y="562356"/>
                </a:lnTo>
                <a:lnTo>
                  <a:pt x="2810510" y="570484"/>
                </a:lnTo>
                <a:lnTo>
                  <a:pt x="2815209" y="578866"/>
                </a:lnTo>
                <a:lnTo>
                  <a:pt x="2871038" y="594334"/>
                </a:lnTo>
                <a:lnTo>
                  <a:pt x="1437017" y="974217"/>
                </a:lnTo>
                <a:lnTo>
                  <a:pt x="3302" y="821690"/>
                </a:lnTo>
                <a:lnTo>
                  <a:pt x="0" y="851916"/>
                </a:lnTo>
                <a:lnTo>
                  <a:pt x="1354670" y="996035"/>
                </a:lnTo>
                <a:lnTo>
                  <a:pt x="16002" y="1350645"/>
                </a:lnTo>
                <a:lnTo>
                  <a:pt x="23876" y="1380109"/>
                </a:lnTo>
                <a:lnTo>
                  <a:pt x="1439646" y="1005065"/>
                </a:lnTo>
                <a:lnTo>
                  <a:pt x="2872651" y="1157503"/>
                </a:lnTo>
                <a:lnTo>
                  <a:pt x="2819654" y="1181227"/>
                </a:lnTo>
                <a:lnTo>
                  <a:pt x="2816225" y="1190244"/>
                </a:lnTo>
                <a:lnTo>
                  <a:pt x="2819781" y="1197991"/>
                </a:lnTo>
                <a:lnTo>
                  <a:pt x="2823210" y="1205611"/>
                </a:lnTo>
                <a:lnTo>
                  <a:pt x="2832227" y="1209040"/>
                </a:lnTo>
                <a:lnTo>
                  <a:pt x="2933674" y="1163447"/>
                </a:lnTo>
                <a:lnTo>
                  <a:pt x="2960243" y="1151509"/>
                </a:lnTo>
                <a:close/>
              </a:path>
              <a:path w="2991485" h="2254250">
                <a:moveTo>
                  <a:pt x="2990977" y="59563"/>
                </a:moveTo>
                <a:lnTo>
                  <a:pt x="2964408" y="47117"/>
                </a:lnTo>
                <a:lnTo>
                  <a:pt x="2863850" y="0"/>
                </a:lnTo>
                <a:lnTo>
                  <a:pt x="2854833" y="3302"/>
                </a:lnTo>
                <a:lnTo>
                  <a:pt x="2851150" y="10922"/>
                </a:lnTo>
                <a:lnTo>
                  <a:pt x="2847594" y="18542"/>
                </a:lnTo>
                <a:lnTo>
                  <a:pt x="2850896" y="27686"/>
                </a:lnTo>
                <a:lnTo>
                  <a:pt x="2903334" y="52209"/>
                </a:lnTo>
                <a:lnTo>
                  <a:pt x="27686" y="312801"/>
                </a:lnTo>
                <a:lnTo>
                  <a:pt x="30480" y="343154"/>
                </a:lnTo>
                <a:lnTo>
                  <a:pt x="2906153" y="82562"/>
                </a:lnTo>
                <a:lnTo>
                  <a:pt x="2858897" y="116078"/>
                </a:lnTo>
                <a:lnTo>
                  <a:pt x="2857373" y="125603"/>
                </a:lnTo>
                <a:lnTo>
                  <a:pt x="2862199" y="132461"/>
                </a:lnTo>
                <a:lnTo>
                  <a:pt x="2867152" y="139319"/>
                </a:lnTo>
                <a:lnTo>
                  <a:pt x="2876677" y="140970"/>
                </a:lnTo>
                <a:lnTo>
                  <a:pt x="2883535" y="136017"/>
                </a:lnTo>
                <a:lnTo>
                  <a:pt x="2990977" y="5956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6504" y="898652"/>
            <a:ext cx="11437620" cy="1464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indent="78740">
              <a:lnSpc>
                <a:spcPct val="100000"/>
              </a:lnSpc>
              <a:spcBef>
                <a:spcPts val="100"/>
              </a:spcBef>
              <a:tabLst>
                <a:tab pos="487680" algn="l"/>
                <a:tab pos="1880870" algn="l"/>
                <a:tab pos="2941955" algn="l"/>
                <a:tab pos="3390265" algn="l"/>
                <a:tab pos="4243705" algn="l"/>
                <a:tab pos="4981575" algn="l"/>
                <a:tab pos="5463540" algn="l"/>
                <a:tab pos="6198235" algn="l"/>
                <a:tab pos="6936105" algn="l"/>
                <a:tab pos="7789545" algn="l"/>
                <a:tab pos="8237855" algn="l"/>
                <a:tab pos="9295765" algn="l"/>
                <a:tab pos="9661525" algn="l"/>
                <a:tab pos="10399395" algn="l"/>
                <a:tab pos="10881360" algn="l"/>
              </a:tabLst>
            </a:pPr>
            <a:r>
              <a:rPr sz="2400" b="1" spc="-50" dirty="0">
                <a:latin typeface="Arial"/>
                <a:cs typeface="Arial"/>
              </a:rPr>
              <a:t>A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10" dirty="0">
                <a:latin typeface="Arial"/>
                <a:cs typeface="Arial"/>
              </a:rPr>
              <a:t>function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which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is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both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one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to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one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and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onto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is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10" dirty="0">
                <a:latin typeface="Arial"/>
                <a:cs typeface="Arial"/>
              </a:rPr>
              <a:t>called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50" dirty="0">
                <a:latin typeface="Arial"/>
                <a:cs typeface="Arial"/>
              </a:rPr>
              <a:t>a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one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to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one </a:t>
            </a:r>
            <a:r>
              <a:rPr sz="2400" b="1" dirty="0">
                <a:latin typeface="Arial"/>
                <a:cs typeface="Arial"/>
              </a:rPr>
              <a:t>correspondence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or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bijective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function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(or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bijection).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690"/>
              </a:lnSpc>
              <a:spcBef>
                <a:spcPts val="250"/>
              </a:spcBef>
              <a:tabLst>
                <a:tab pos="1372235" algn="l"/>
              </a:tabLst>
            </a:pPr>
            <a:r>
              <a:rPr sz="2400" b="1" dirty="0">
                <a:solidFill>
                  <a:srgbClr val="00AF50"/>
                </a:solidFill>
                <a:latin typeface="Arial"/>
                <a:cs typeface="Arial"/>
              </a:rPr>
              <a:t>If</a:t>
            </a:r>
            <a:r>
              <a:rPr sz="2400" b="1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Arial"/>
                <a:cs typeface="Arial"/>
              </a:rPr>
              <a:t>f: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→</a:t>
            </a:r>
            <a:r>
              <a:rPr sz="24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such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function,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every element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has a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unique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image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every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has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unique</a:t>
            </a:r>
            <a:r>
              <a:rPr sz="2400" b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preimage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0008" y="3285744"/>
            <a:ext cx="6031992" cy="23896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60575" y="204215"/>
            <a:ext cx="7226934" cy="4603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66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9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One-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to-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24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Correspondence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95755" y="3122676"/>
            <a:ext cx="1767839" cy="3209925"/>
          </a:xfrm>
          <a:custGeom>
            <a:avLst/>
            <a:gdLst/>
            <a:ahLst/>
            <a:cxnLst/>
            <a:rect l="l" t="t" r="r" b="b"/>
            <a:pathLst>
              <a:path w="1767839" h="3209925">
                <a:moveTo>
                  <a:pt x="0" y="1604772"/>
                </a:moveTo>
                <a:lnTo>
                  <a:pt x="638" y="1543214"/>
                </a:lnTo>
                <a:lnTo>
                  <a:pt x="2537" y="1482242"/>
                </a:lnTo>
                <a:lnTo>
                  <a:pt x="5675" y="1421899"/>
                </a:lnTo>
                <a:lnTo>
                  <a:pt x="10029" y="1362224"/>
                </a:lnTo>
                <a:lnTo>
                  <a:pt x="15575" y="1303261"/>
                </a:lnTo>
                <a:lnTo>
                  <a:pt x="22290" y="1245051"/>
                </a:lnTo>
                <a:lnTo>
                  <a:pt x="30153" y="1187634"/>
                </a:lnTo>
                <a:lnTo>
                  <a:pt x="39139" y="1131053"/>
                </a:lnTo>
                <a:lnTo>
                  <a:pt x="49227" y="1075350"/>
                </a:lnTo>
                <a:lnTo>
                  <a:pt x="60393" y="1020565"/>
                </a:lnTo>
                <a:lnTo>
                  <a:pt x="72613" y="966740"/>
                </a:lnTo>
                <a:lnTo>
                  <a:pt x="85867" y="913917"/>
                </a:lnTo>
                <a:lnTo>
                  <a:pt x="100130" y="862138"/>
                </a:lnTo>
                <a:lnTo>
                  <a:pt x="115379" y="811444"/>
                </a:lnTo>
                <a:lnTo>
                  <a:pt x="131593" y="761876"/>
                </a:lnTo>
                <a:lnTo>
                  <a:pt x="148747" y="713476"/>
                </a:lnTo>
                <a:lnTo>
                  <a:pt x="166819" y="666285"/>
                </a:lnTo>
                <a:lnTo>
                  <a:pt x="185786" y="620346"/>
                </a:lnTo>
                <a:lnTo>
                  <a:pt x="205625" y="575699"/>
                </a:lnTo>
                <a:lnTo>
                  <a:pt x="226314" y="532387"/>
                </a:lnTo>
                <a:lnTo>
                  <a:pt x="247829" y="490450"/>
                </a:lnTo>
                <a:lnTo>
                  <a:pt x="270147" y="449931"/>
                </a:lnTo>
                <a:lnTo>
                  <a:pt x="293246" y="410870"/>
                </a:lnTo>
                <a:lnTo>
                  <a:pt x="317103" y="373310"/>
                </a:lnTo>
                <a:lnTo>
                  <a:pt x="341695" y="337292"/>
                </a:lnTo>
                <a:lnTo>
                  <a:pt x="366999" y="302857"/>
                </a:lnTo>
                <a:lnTo>
                  <a:pt x="392992" y="270047"/>
                </a:lnTo>
                <a:lnTo>
                  <a:pt x="419651" y="238904"/>
                </a:lnTo>
                <a:lnTo>
                  <a:pt x="446953" y="209469"/>
                </a:lnTo>
                <a:lnTo>
                  <a:pt x="474876" y="181784"/>
                </a:lnTo>
                <a:lnTo>
                  <a:pt x="503397" y="155890"/>
                </a:lnTo>
                <a:lnTo>
                  <a:pt x="562139" y="109642"/>
                </a:lnTo>
                <a:lnTo>
                  <a:pt x="622996" y="71057"/>
                </a:lnTo>
                <a:lnTo>
                  <a:pt x="685786" y="40468"/>
                </a:lnTo>
                <a:lnTo>
                  <a:pt x="750325" y="18207"/>
                </a:lnTo>
                <a:lnTo>
                  <a:pt x="816431" y="4607"/>
                </a:lnTo>
                <a:lnTo>
                  <a:pt x="883919" y="0"/>
                </a:lnTo>
                <a:lnTo>
                  <a:pt x="917825" y="1158"/>
                </a:lnTo>
                <a:lnTo>
                  <a:pt x="984645" y="10304"/>
                </a:lnTo>
                <a:lnTo>
                  <a:pt x="1049991" y="28276"/>
                </a:lnTo>
                <a:lnTo>
                  <a:pt x="1113678" y="54742"/>
                </a:lnTo>
                <a:lnTo>
                  <a:pt x="1175525" y="89371"/>
                </a:lnTo>
                <a:lnTo>
                  <a:pt x="1235347" y="131829"/>
                </a:lnTo>
                <a:lnTo>
                  <a:pt x="1292963" y="181784"/>
                </a:lnTo>
                <a:lnTo>
                  <a:pt x="1320886" y="209469"/>
                </a:lnTo>
                <a:lnTo>
                  <a:pt x="1348188" y="238904"/>
                </a:lnTo>
                <a:lnTo>
                  <a:pt x="1374847" y="270047"/>
                </a:lnTo>
                <a:lnTo>
                  <a:pt x="1400840" y="302857"/>
                </a:lnTo>
                <a:lnTo>
                  <a:pt x="1426144" y="337292"/>
                </a:lnTo>
                <a:lnTo>
                  <a:pt x="1450736" y="373310"/>
                </a:lnTo>
                <a:lnTo>
                  <a:pt x="1474593" y="410870"/>
                </a:lnTo>
                <a:lnTo>
                  <a:pt x="1497692" y="449931"/>
                </a:lnTo>
                <a:lnTo>
                  <a:pt x="1520010" y="490450"/>
                </a:lnTo>
                <a:lnTo>
                  <a:pt x="1541525" y="532387"/>
                </a:lnTo>
                <a:lnTo>
                  <a:pt x="1562214" y="575699"/>
                </a:lnTo>
                <a:lnTo>
                  <a:pt x="1582053" y="620346"/>
                </a:lnTo>
                <a:lnTo>
                  <a:pt x="1601020" y="666285"/>
                </a:lnTo>
                <a:lnTo>
                  <a:pt x="1619092" y="713476"/>
                </a:lnTo>
                <a:lnTo>
                  <a:pt x="1636246" y="761876"/>
                </a:lnTo>
                <a:lnTo>
                  <a:pt x="1652460" y="811444"/>
                </a:lnTo>
                <a:lnTo>
                  <a:pt x="1667709" y="862138"/>
                </a:lnTo>
                <a:lnTo>
                  <a:pt x="1681972" y="913917"/>
                </a:lnTo>
                <a:lnTo>
                  <a:pt x="1695226" y="966740"/>
                </a:lnTo>
                <a:lnTo>
                  <a:pt x="1707446" y="1020565"/>
                </a:lnTo>
                <a:lnTo>
                  <a:pt x="1718612" y="1075350"/>
                </a:lnTo>
                <a:lnTo>
                  <a:pt x="1728700" y="1131053"/>
                </a:lnTo>
                <a:lnTo>
                  <a:pt x="1737686" y="1187634"/>
                </a:lnTo>
                <a:lnTo>
                  <a:pt x="1745549" y="1245051"/>
                </a:lnTo>
                <a:lnTo>
                  <a:pt x="1752264" y="1303261"/>
                </a:lnTo>
                <a:lnTo>
                  <a:pt x="1757810" y="1362224"/>
                </a:lnTo>
                <a:lnTo>
                  <a:pt x="1762164" y="1421899"/>
                </a:lnTo>
                <a:lnTo>
                  <a:pt x="1765302" y="1482242"/>
                </a:lnTo>
                <a:lnTo>
                  <a:pt x="1767201" y="1543214"/>
                </a:lnTo>
                <a:lnTo>
                  <a:pt x="1767839" y="1604772"/>
                </a:lnTo>
                <a:lnTo>
                  <a:pt x="1767201" y="1666327"/>
                </a:lnTo>
                <a:lnTo>
                  <a:pt x="1765302" y="1727296"/>
                </a:lnTo>
                <a:lnTo>
                  <a:pt x="1762164" y="1787638"/>
                </a:lnTo>
                <a:lnTo>
                  <a:pt x="1757810" y="1847310"/>
                </a:lnTo>
                <a:lnTo>
                  <a:pt x="1752264" y="1906271"/>
                </a:lnTo>
                <a:lnTo>
                  <a:pt x="1745549" y="1964480"/>
                </a:lnTo>
                <a:lnTo>
                  <a:pt x="1737686" y="2021896"/>
                </a:lnTo>
                <a:lnTo>
                  <a:pt x="1728700" y="2078475"/>
                </a:lnTo>
                <a:lnTo>
                  <a:pt x="1718612" y="2134178"/>
                </a:lnTo>
                <a:lnTo>
                  <a:pt x="1707446" y="2188962"/>
                </a:lnTo>
                <a:lnTo>
                  <a:pt x="1695226" y="2242787"/>
                </a:lnTo>
                <a:lnTo>
                  <a:pt x="1681972" y="2295609"/>
                </a:lnTo>
                <a:lnTo>
                  <a:pt x="1667709" y="2347388"/>
                </a:lnTo>
                <a:lnTo>
                  <a:pt x="1652460" y="2398082"/>
                </a:lnTo>
                <a:lnTo>
                  <a:pt x="1636246" y="2447650"/>
                </a:lnTo>
                <a:lnTo>
                  <a:pt x="1619092" y="2496051"/>
                </a:lnTo>
                <a:lnTo>
                  <a:pt x="1601020" y="2543241"/>
                </a:lnTo>
                <a:lnTo>
                  <a:pt x="1582053" y="2589181"/>
                </a:lnTo>
                <a:lnTo>
                  <a:pt x="1562214" y="2633828"/>
                </a:lnTo>
                <a:lnTo>
                  <a:pt x="1541525" y="2677141"/>
                </a:lnTo>
                <a:lnTo>
                  <a:pt x="1520010" y="2719078"/>
                </a:lnTo>
                <a:lnTo>
                  <a:pt x="1497692" y="2759598"/>
                </a:lnTo>
                <a:lnTo>
                  <a:pt x="1474593" y="2798660"/>
                </a:lnTo>
                <a:lnTo>
                  <a:pt x="1450736" y="2836221"/>
                </a:lnTo>
                <a:lnTo>
                  <a:pt x="1426144" y="2872240"/>
                </a:lnTo>
                <a:lnTo>
                  <a:pt x="1400840" y="2906675"/>
                </a:lnTo>
                <a:lnTo>
                  <a:pt x="1374847" y="2939486"/>
                </a:lnTo>
                <a:lnTo>
                  <a:pt x="1348188" y="2970630"/>
                </a:lnTo>
                <a:lnTo>
                  <a:pt x="1320886" y="3000066"/>
                </a:lnTo>
                <a:lnTo>
                  <a:pt x="1292963" y="3027752"/>
                </a:lnTo>
                <a:lnTo>
                  <a:pt x="1264442" y="3053647"/>
                </a:lnTo>
                <a:lnTo>
                  <a:pt x="1205700" y="3099897"/>
                </a:lnTo>
                <a:lnTo>
                  <a:pt x="1144843" y="3138483"/>
                </a:lnTo>
                <a:lnTo>
                  <a:pt x="1082053" y="3169073"/>
                </a:lnTo>
                <a:lnTo>
                  <a:pt x="1017514" y="3191335"/>
                </a:lnTo>
                <a:lnTo>
                  <a:pt x="951408" y="3204936"/>
                </a:lnTo>
                <a:lnTo>
                  <a:pt x="883919" y="3209544"/>
                </a:lnTo>
                <a:lnTo>
                  <a:pt x="850014" y="3208385"/>
                </a:lnTo>
                <a:lnTo>
                  <a:pt x="783194" y="3199239"/>
                </a:lnTo>
                <a:lnTo>
                  <a:pt x="717848" y="3181266"/>
                </a:lnTo>
                <a:lnTo>
                  <a:pt x="654161" y="3154798"/>
                </a:lnTo>
                <a:lnTo>
                  <a:pt x="592314" y="3120169"/>
                </a:lnTo>
                <a:lnTo>
                  <a:pt x="532492" y="3077709"/>
                </a:lnTo>
                <a:lnTo>
                  <a:pt x="474876" y="3027752"/>
                </a:lnTo>
                <a:lnTo>
                  <a:pt x="446953" y="3000066"/>
                </a:lnTo>
                <a:lnTo>
                  <a:pt x="419651" y="2970630"/>
                </a:lnTo>
                <a:lnTo>
                  <a:pt x="392992" y="2939486"/>
                </a:lnTo>
                <a:lnTo>
                  <a:pt x="366999" y="2906675"/>
                </a:lnTo>
                <a:lnTo>
                  <a:pt x="341695" y="2872240"/>
                </a:lnTo>
                <a:lnTo>
                  <a:pt x="317103" y="2836221"/>
                </a:lnTo>
                <a:lnTo>
                  <a:pt x="293246" y="2798660"/>
                </a:lnTo>
                <a:lnTo>
                  <a:pt x="270147" y="2759598"/>
                </a:lnTo>
                <a:lnTo>
                  <a:pt x="247829" y="2719078"/>
                </a:lnTo>
                <a:lnTo>
                  <a:pt x="226314" y="2677141"/>
                </a:lnTo>
                <a:lnTo>
                  <a:pt x="205625" y="2633828"/>
                </a:lnTo>
                <a:lnTo>
                  <a:pt x="185786" y="2589181"/>
                </a:lnTo>
                <a:lnTo>
                  <a:pt x="166819" y="2543241"/>
                </a:lnTo>
                <a:lnTo>
                  <a:pt x="148747" y="2496051"/>
                </a:lnTo>
                <a:lnTo>
                  <a:pt x="131593" y="2447650"/>
                </a:lnTo>
                <a:lnTo>
                  <a:pt x="115379" y="2398082"/>
                </a:lnTo>
                <a:lnTo>
                  <a:pt x="100130" y="2347388"/>
                </a:lnTo>
                <a:lnTo>
                  <a:pt x="85867" y="2295609"/>
                </a:lnTo>
                <a:lnTo>
                  <a:pt x="72613" y="2242787"/>
                </a:lnTo>
                <a:lnTo>
                  <a:pt x="60393" y="2188962"/>
                </a:lnTo>
                <a:lnTo>
                  <a:pt x="49227" y="2134178"/>
                </a:lnTo>
                <a:lnTo>
                  <a:pt x="39139" y="2078475"/>
                </a:lnTo>
                <a:lnTo>
                  <a:pt x="30153" y="2021896"/>
                </a:lnTo>
                <a:lnTo>
                  <a:pt x="22290" y="1964480"/>
                </a:lnTo>
                <a:lnTo>
                  <a:pt x="15575" y="1906271"/>
                </a:lnTo>
                <a:lnTo>
                  <a:pt x="10029" y="1847310"/>
                </a:lnTo>
                <a:lnTo>
                  <a:pt x="5675" y="1787638"/>
                </a:lnTo>
                <a:lnTo>
                  <a:pt x="2537" y="1727296"/>
                </a:lnTo>
                <a:lnTo>
                  <a:pt x="638" y="1666327"/>
                </a:lnTo>
                <a:lnTo>
                  <a:pt x="0" y="1604772"/>
                </a:lnTo>
                <a:close/>
              </a:path>
            </a:pathLst>
          </a:custGeom>
          <a:ln w="396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87544" y="3241481"/>
            <a:ext cx="189230" cy="2221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890" algn="just">
              <a:lnSpc>
                <a:spcPct val="150100"/>
              </a:lnSpc>
              <a:spcBef>
                <a:spcPts val="95"/>
              </a:spcBef>
            </a:pPr>
            <a:r>
              <a:rPr sz="2400" b="1" spc="-50" dirty="0">
                <a:latin typeface="Calibri"/>
                <a:cs typeface="Calibri"/>
              </a:rPr>
              <a:t>a b c 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49852" y="3037332"/>
            <a:ext cx="1767839" cy="3209925"/>
          </a:xfrm>
          <a:custGeom>
            <a:avLst/>
            <a:gdLst/>
            <a:ahLst/>
            <a:cxnLst/>
            <a:rect l="l" t="t" r="r" b="b"/>
            <a:pathLst>
              <a:path w="1767839" h="3209925">
                <a:moveTo>
                  <a:pt x="0" y="1604771"/>
                </a:moveTo>
                <a:lnTo>
                  <a:pt x="638" y="1543214"/>
                </a:lnTo>
                <a:lnTo>
                  <a:pt x="2537" y="1482242"/>
                </a:lnTo>
                <a:lnTo>
                  <a:pt x="5675" y="1421899"/>
                </a:lnTo>
                <a:lnTo>
                  <a:pt x="10029" y="1362224"/>
                </a:lnTo>
                <a:lnTo>
                  <a:pt x="15575" y="1303261"/>
                </a:lnTo>
                <a:lnTo>
                  <a:pt x="22290" y="1245051"/>
                </a:lnTo>
                <a:lnTo>
                  <a:pt x="30153" y="1187634"/>
                </a:lnTo>
                <a:lnTo>
                  <a:pt x="39139" y="1131053"/>
                </a:lnTo>
                <a:lnTo>
                  <a:pt x="49227" y="1075350"/>
                </a:lnTo>
                <a:lnTo>
                  <a:pt x="60393" y="1020565"/>
                </a:lnTo>
                <a:lnTo>
                  <a:pt x="72613" y="966740"/>
                </a:lnTo>
                <a:lnTo>
                  <a:pt x="85867" y="913917"/>
                </a:lnTo>
                <a:lnTo>
                  <a:pt x="100130" y="862138"/>
                </a:lnTo>
                <a:lnTo>
                  <a:pt x="115379" y="811444"/>
                </a:lnTo>
                <a:lnTo>
                  <a:pt x="131593" y="761876"/>
                </a:lnTo>
                <a:lnTo>
                  <a:pt x="148747" y="713476"/>
                </a:lnTo>
                <a:lnTo>
                  <a:pt x="166819" y="666285"/>
                </a:lnTo>
                <a:lnTo>
                  <a:pt x="185786" y="620346"/>
                </a:lnTo>
                <a:lnTo>
                  <a:pt x="205625" y="575699"/>
                </a:lnTo>
                <a:lnTo>
                  <a:pt x="226314" y="532387"/>
                </a:lnTo>
                <a:lnTo>
                  <a:pt x="247829" y="490450"/>
                </a:lnTo>
                <a:lnTo>
                  <a:pt x="270147" y="449931"/>
                </a:lnTo>
                <a:lnTo>
                  <a:pt x="293246" y="410870"/>
                </a:lnTo>
                <a:lnTo>
                  <a:pt x="317103" y="373310"/>
                </a:lnTo>
                <a:lnTo>
                  <a:pt x="341695" y="337292"/>
                </a:lnTo>
                <a:lnTo>
                  <a:pt x="366999" y="302857"/>
                </a:lnTo>
                <a:lnTo>
                  <a:pt x="392992" y="270047"/>
                </a:lnTo>
                <a:lnTo>
                  <a:pt x="419651" y="238904"/>
                </a:lnTo>
                <a:lnTo>
                  <a:pt x="446953" y="209469"/>
                </a:lnTo>
                <a:lnTo>
                  <a:pt x="474876" y="181784"/>
                </a:lnTo>
                <a:lnTo>
                  <a:pt x="503397" y="155890"/>
                </a:lnTo>
                <a:lnTo>
                  <a:pt x="562139" y="109642"/>
                </a:lnTo>
                <a:lnTo>
                  <a:pt x="622996" y="71057"/>
                </a:lnTo>
                <a:lnTo>
                  <a:pt x="685786" y="40468"/>
                </a:lnTo>
                <a:lnTo>
                  <a:pt x="750325" y="18207"/>
                </a:lnTo>
                <a:lnTo>
                  <a:pt x="816431" y="4607"/>
                </a:lnTo>
                <a:lnTo>
                  <a:pt x="883920" y="0"/>
                </a:lnTo>
                <a:lnTo>
                  <a:pt x="917825" y="1158"/>
                </a:lnTo>
                <a:lnTo>
                  <a:pt x="984645" y="10304"/>
                </a:lnTo>
                <a:lnTo>
                  <a:pt x="1049991" y="28276"/>
                </a:lnTo>
                <a:lnTo>
                  <a:pt x="1113678" y="54742"/>
                </a:lnTo>
                <a:lnTo>
                  <a:pt x="1175525" y="89371"/>
                </a:lnTo>
                <a:lnTo>
                  <a:pt x="1235347" y="131829"/>
                </a:lnTo>
                <a:lnTo>
                  <a:pt x="1292963" y="181784"/>
                </a:lnTo>
                <a:lnTo>
                  <a:pt x="1320886" y="209469"/>
                </a:lnTo>
                <a:lnTo>
                  <a:pt x="1348188" y="238904"/>
                </a:lnTo>
                <a:lnTo>
                  <a:pt x="1374847" y="270047"/>
                </a:lnTo>
                <a:lnTo>
                  <a:pt x="1400840" y="302857"/>
                </a:lnTo>
                <a:lnTo>
                  <a:pt x="1426144" y="337292"/>
                </a:lnTo>
                <a:lnTo>
                  <a:pt x="1450736" y="373310"/>
                </a:lnTo>
                <a:lnTo>
                  <a:pt x="1474593" y="410870"/>
                </a:lnTo>
                <a:lnTo>
                  <a:pt x="1497692" y="449931"/>
                </a:lnTo>
                <a:lnTo>
                  <a:pt x="1520010" y="490450"/>
                </a:lnTo>
                <a:lnTo>
                  <a:pt x="1541525" y="532387"/>
                </a:lnTo>
                <a:lnTo>
                  <a:pt x="1562214" y="575699"/>
                </a:lnTo>
                <a:lnTo>
                  <a:pt x="1582053" y="620346"/>
                </a:lnTo>
                <a:lnTo>
                  <a:pt x="1601020" y="666285"/>
                </a:lnTo>
                <a:lnTo>
                  <a:pt x="1619092" y="713476"/>
                </a:lnTo>
                <a:lnTo>
                  <a:pt x="1636246" y="761876"/>
                </a:lnTo>
                <a:lnTo>
                  <a:pt x="1652460" y="811444"/>
                </a:lnTo>
                <a:lnTo>
                  <a:pt x="1667709" y="862138"/>
                </a:lnTo>
                <a:lnTo>
                  <a:pt x="1681972" y="913917"/>
                </a:lnTo>
                <a:lnTo>
                  <a:pt x="1695226" y="966740"/>
                </a:lnTo>
                <a:lnTo>
                  <a:pt x="1707446" y="1020565"/>
                </a:lnTo>
                <a:lnTo>
                  <a:pt x="1718612" y="1075350"/>
                </a:lnTo>
                <a:lnTo>
                  <a:pt x="1728700" y="1131053"/>
                </a:lnTo>
                <a:lnTo>
                  <a:pt x="1737686" y="1187634"/>
                </a:lnTo>
                <a:lnTo>
                  <a:pt x="1745549" y="1245051"/>
                </a:lnTo>
                <a:lnTo>
                  <a:pt x="1752264" y="1303261"/>
                </a:lnTo>
                <a:lnTo>
                  <a:pt x="1757810" y="1362224"/>
                </a:lnTo>
                <a:lnTo>
                  <a:pt x="1762164" y="1421899"/>
                </a:lnTo>
                <a:lnTo>
                  <a:pt x="1765302" y="1482242"/>
                </a:lnTo>
                <a:lnTo>
                  <a:pt x="1767201" y="1543214"/>
                </a:lnTo>
                <a:lnTo>
                  <a:pt x="1767839" y="1604771"/>
                </a:lnTo>
                <a:lnTo>
                  <a:pt x="1767201" y="1666329"/>
                </a:lnTo>
                <a:lnTo>
                  <a:pt x="1765302" y="1727301"/>
                </a:lnTo>
                <a:lnTo>
                  <a:pt x="1762164" y="1787644"/>
                </a:lnTo>
                <a:lnTo>
                  <a:pt x="1757810" y="1847319"/>
                </a:lnTo>
                <a:lnTo>
                  <a:pt x="1752264" y="1906282"/>
                </a:lnTo>
                <a:lnTo>
                  <a:pt x="1745549" y="1964492"/>
                </a:lnTo>
                <a:lnTo>
                  <a:pt x="1737686" y="2021909"/>
                </a:lnTo>
                <a:lnTo>
                  <a:pt x="1728700" y="2078490"/>
                </a:lnTo>
                <a:lnTo>
                  <a:pt x="1718612" y="2134193"/>
                </a:lnTo>
                <a:lnTo>
                  <a:pt x="1707446" y="2188978"/>
                </a:lnTo>
                <a:lnTo>
                  <a:pt x="1695226" y="2242803"/>
                </a:lnTo>
                <a:lnTo>
                  <a:pt x="1681972" y="2295626"/>
                </a:lnTo>
                <a:lnTo>
                  <a:pt x="1667709" y="2347405"/>
                </a:lnTo>
                <a:lnTo>
                  <a:pt x="1652460" y="2398099"/>
                </a:lnTo>
                <a:lnTo>
                  <a:pt x="1636246" y="2447667"/>
                </a:lnTo>
                <a:lnTo>
                  <a:pt x="1619092" y="2496067"/>
                </a:lnTo>
                <a:lnTo>
                  <a:pt x="1601020" y="2543258"/>
                </a:lnTo>
                <a:lnTo>
                  <a:pt x="1582053" y="2589197"/>
                </a:lnTo>
                <a:lnTo>
                  <a:pt x="1562214" y="2633844"/>
                </a:lnTo>
                <a:lnTo>
                  <a:pt x="1541525" y="2677156"/>
                </a:lnTo>
                <a:lnTo>
                  <a:pt x="1520010" y="2719093"/>
                </a:lnTo>
                <a:lnTo>
                  <a:pt x="1497692" y="2759612"/>
                </a:lnTo>
                <a:lnTo>
                  <a:pt x="1474593" y="2798673"/>
                </a:lnTo>
                <a:lnTo>
                  <a:pt x="1450736" y="2836233"/>
                </a:lnTo>
                <a:lnTo>
                  <a:pt x="1426144" y="2872251"/>
                </a:lnTo>
                <a:lnTo>
                  <a:pt x="1400840" y="2906686"/>
                </a:lnTo>
                <a:lnTo>
                  <a:pt x="1374847" y="2939496"/>
                </a:lnTo>
                <a:lnTo>
                  <a:pt x="1348188" y="2970639"/>
                </a:lnTo>
                <a:lnTo>
                  <a:pt x="1320886" y="3000074"/>
                </a:lnTo>
                <a:lnTo>
                  <a:pt x="1292963" y="3027759"/>
                </a:lnTo>
                <a:lnTo>
                  <a:pt x="1264442" y="3053653"/>
                </a:lnTo>
                <a:lnTo>
                  <a:pt x="1205700" y="3099901"/>
                </a:lnTo>
                <a:lnTo>
                  <a:pt x="1144843" y="3138486"/>
                </a:lnTo>
                <a:lnTo>
                  <a:pt x="1082053" y="3169075"/>
                </a:lnTo>
                <a:lnTo>
                  <a:pt x="1017514" y="3191336"/>
                </a:lnTo>
                <a:lnTo>
                  <a:pt x="951408" y="3204936"/>
                </a:lnTo>
                <a:lnTo>
                  <a:pt x="883920" y="3209543"/>
                </a:lnTo>
                <a:lnTo>
                  <a:pt x="850014" y="3208385"/>
                </a:lnTo>
                <a:lnTo>
                  <a:pt x="783194" y="3199239"/>
                </a:lnTo>
                <a:lnTo>
                  <a:pt x="717848" y="3181267"/>
                </a:lnTo>
                <a:lnTo>
                  <a:pt x="654161" y="3154801"/>
                </a:lnTo>
                <a:lnTo>
                  <a:pt x="592314" y="3120172"/>
                </a:lnTo>
                <a:lnTo>
                  <a:pt x="532492" y="3077714"/>
                </a:lnTo>
                <a:lnTo>
                  <a:pt x="474876" y="3027759"/>
                </a:lnTo>
                <a:lnTo>
                  <a:pt x="446953" y="3000074"/>
                </a:lnTo>
                <a:lnTo>
                  <a:pt x="419651" y="2970639"/>
                </a:lnTo>
                <a:lnTo>
                  <a:pt x="392992" y="2939496"/>
                </a:lnTo>
                <a:lnTo>
                  <a:pt x="366999" y="2906686"/>
                </a:lnTo>
                <a:lnTo>
                  <a:pt x="341695" y="2872251"/>
                </a:lnTo>
                <a:lnTo>
                  <a:pt x="317103" y="2836233"/>
                </a:lnTo>
                <a:lnTo>
                  <a:pt x="293246" y="2798673"/>
                </a:lnTo>
                <a:lnTo>
                  <a:pt x="270147" y="2759612"/>
                </a:lnTo>
                <a:lnTo>
                  <a:pt x="247829" y="2719093"/>
                </a:lnTo>
                <a:lnTo>
                  <a:pt x="226314" y="2677156"/>
                </a:lnTo>
                <a:lnTo>
                  <a:pt x="205625" y="2633844"/>
                </a:lnTo>
                <a:lnTo>
                  <a:pt x="185786" y="2589197"/>
                </a:lnTo>
                <a:lnTo>
                  <a:pt x="166819" y="2543258"/>
                </a:lnTo>
                <a:lnTo>
                  <a:pt x="148747" y="2496067"/>
                </a:lnTo>
                <a:lnTo>
                  <a:pt x="131593" y="2447667"/>
                </a:lnTo>
                <a:lnTo>
                  <a:pt x="115379" y="2398099"/>
                </a:lnTo>
                <a:lnTo>
                  <a:pt x="100130" y="2347405"/>
                </a:lnTo>
                <a:lnTo>
                  <a:pt x="85867" y="2295626"/>
                </a:lnTo>
                <a:lnTo>
                  <a:pt x="72613" y="2242803"/>
                </a:lnTo>
                <a:lnTo>
                  <a:pt x="60393" y="2188978"/>
                </a:lnTo>
                <a:lnTo>
                  <a:pt x="49227" y="2134193"/>
                </a:lnTo>
                <a:lnTo>
                  <a:pt x="39139" y="2078490"/>
                </a:lnTo>
                <a:lnTo>
                  <a:pt x="30153" y="2021909"/>
                </a:lnTo>
                <a:lnTo>
                  <a:pt x="22290" y="1964492"/>
                </a:lnTo>
                <a:lnTo>
                  <a:pt x="15575" y="1906282"/>
                </a:lnTo>
                <a:lnTo>
                  <a:pt x="10029" y="1847319"/>
                </a:lnTo>
                <a:lnTo>
                  <a:pt x="5675" y="1787644"/>
                </a:lnTo>
                <a:lnTo>
                  <a:pt x="2537" y="1727301"/>
                </a:lnTo>
                <a:lnTo>
                  <a:pt x="638" y="1666329"/>
                </a:lnTo>
                <a:lnTo>
                  <a:pt x="0" y="1604771"/>
                </a:lnTo>
                <a:close/>
              </a:path>
            </a:pathLst>
          </a:custGeom>
          <a:ln w="396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78583" y="3477747"/>
            <a:ext cx="180340" cy="222059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00885" y="3576700"/>
            <a:ext cx="3048635" cy="1917700"/>
          </a:xfrm>
          <a:custGeom>
            <a:avLst/>
            <a:gdLst/>
            <a:ahLst/>
            <a:cxnLst/>
            <a:rect l="l" t="t" r="r" b="b"/>
            <a:pathLst>
              <a:path w="3048635" h="1917700">
                <a:moveTo>
                  <a:pt x="2960243" y="1154557"/>
                </a:moveTo>
                <a:lnTo>
                  <a:pt x="2853944" y="1076452"/>
                </a:lnTo>
                <a:lnTo>
                  <a:pt x="2847213" y="1071372"/>
                </a:lnTo>
                <a:lnTo>
                  <a:pt x="2837561" y="1072896"/>
                </a:lnTo>
                <a:lnTo>
                  <a:pt x="2832608" y="1079627"/>
                </a:lnTo>
                <a:lnTo>
                  <a:pt x="2827655" y="1086485"/>
                </a:lnTo>
                <a:lnTo>
                  <a:pt x="2829052" y="1096010"/>
                </a:lnTo>
                <a:lnTo>
                  <a:pt x="2835910" y="1100963"/>
                </a:lnTo>
                <a:lnTo>
                  <a:pt x="2875762" y="1130312"/>
                </a:lnTo>
                <a:lnTo>
                  <a:pt x="1513738" y="985431"/>
                </a:lnTo>
                <a:lnTo>
                  <a:pt x="2878823" y="623785"/>
                </a:lnTo>
                <a:lnTo>
                  <a:pt x="2843911" y="658876"/>
                </a:lnTo>
                <a:lnTo>
                  <a:pt x="2837942" y="664718"/>
                </a:lnTo>
                <a:lnTo>
                  <a:pt x="2837942" y="674370"/>
                </a:lnTo>
                <a:lnTo>
                  <a:pt x="2849880" y="686308"/>
                </a:lnTo>
                <a:lnTo>
                  <a:pt x="2859532" y="686308"/>
                </a:lnTo>
                <a:lnTo>
                  <a:pt x="2958719" y="586867"/>
                </a:lnTo>
                <a:lnTo>
                  <a:pt x="2933357" y="579882"/>
                </a:lnTo>
                <a:lnTo>
                  <a:pt x="2823337" y="549529"/>
                </a:lnTo>
                <a:lnTo>
                  <a:pt x="2814955" y="554228"/>
                </a:lnTo>
                <a:lnTo>
                  <a:pt x="2812669" y="562356"/>
                </a:lnTo>
                <a:lnTo>
                  <a:pt x="2810510" y="570484"/>
                </a:lnTo>
                <a:lnTo>
                  <a:pt x="2815209" y="578866"/>
                </a:lnTo>
                <a:lnTo>
                  <a:pt x="2871038" y="594334"/>
                </a:lnTo>
                <a:lnTo>
                  <a:pt x="1428813" y="976388"/>
                </a:lnTo>
                <a:lnTo>
                  <a:pt x="3302" y="824738"/>
                </a:lnTo>
                <a:lnTo>
                  <a:pt x="0" y="854964"/>
                </a:lnTo>
                <a:lnTo>
                  <a:pt x="1346466" y="998207"/>
                </a:lnTo>
                <a:lnTo>
                  <a:pt x="16002" y="1350645"/>
                </a:lnTo>
                <a:lnTo>
                  <a:pt x="23876" y="1380109"/>
                </a:lnTo>
                <a:lnTo>
                  <a:pt x="1431391" y="1007237"/>
                </a:lnTo>
                <a:lnTo>
                  <a:pt x="2872651" y="1160551"/>
                </a:lnTo>
                <a:lnTo>
                  <a:pt x="2819654" y="1184275"/>
                </a:lnTo>
                <a:lnTo>
                  <a:pt x="2816225" y="1193292"/>
                </a:lnTo>
                <a:lnTo>
                  <a:pt x="2819781" y="1201039"/>
                </a:lnTo>
                <a:lnTo>
                  <a:pt x="2823210" y="1208659"/>
                </a:lnTo>
                <a:lnTo>
                  <a:pt x="2832227" y="1212088"/>
                </a:lnTo>
                <a:lnTo>
                  <a:pt x="2933674" y="1166495"/>
                </a:lnTo>
                <a:lnTo>
                  <a:pt x="2960243" y="1154557"/>
                </a:lnTo>
                <a:close/>
              </a:path>
              <a:path w="3048635" h="1917700">
                <a:moveTo>
                  <a:pt x="2987929" y="59563"/>
                </a:moveTo>
                <a:lnTo>
                  <a:pt x="2961360" y="47117"/>
                </a:lnTo>
                <a:lnTo>
                  <a:pt x="2860802" y="0"/>
                </a:lnTo>
                <a:lnTo>
                  <a:pt x="2851785" y="3302"/>
                </a:lnTo>
                <a:lnTo>
                  <a:pt x="2848102" y="10922"/>
                </a:lnTo>
                <a:lnTo>
                  <a:pt x="2844546" y="18542"/>
                </a:lnTo>
                <a:lnTo>
                  <a:pt x="2847848" y="27686"/>
                </a:lnTo>
                <a:lnTo>
                  <a:pt x="2900286" y="52209"/>
                </a:lnTo>
                <a:lnTo>
                  <a:pt x="24638" y="312801"/>
                </a:lnTo>
                <a:lnTo>
                  <a:pt x="27432" y="343154"/>
                </a:lnTo>
                <a:lnTo>
                  <a:pt x="2903105" y="82562"/>
                </a:lnTo>
                <a:lnTo>
                  <a:pt x="2855849" y="116078"/>
                </a:lnTo>
                <a:lnTo>
                  <a:pt x="2854325" y="125603"/>
                </a:lnTo>
                <a:lnTo>
                  <a:pt x="2859151" y="132461"/>
                </a:lnTo>
                <a:lnTo>
                  <a:pt x="2864104" y="139319"/>
                </a:lnTo>
                <a:lnTo>
                  <a:pt x="2873629" y="140970"/>
                </a:lnTo>
                <a:lnTo>
                  <a:pt x="2880487" y="136017"/>
                </a:lnTo>
                <a:lnTo>
                  <a:pt x="2987929" y="59563"/>
                </a:lnTo>
                <a:close/>
              </a:path>
              <a:path w="3048635" h="1917700">
                <a:moveTo>
                  <a:pt x="3048127" y="1769491"/>
                </a:moveTo>
                <a:lnTo>
                  <a:pt x="3021571" y="1755521"/>
                </a:lnTo>
                <a:lnTo>
                  <a:pt x="3009646" y="1749247"/>
                </a:lnTo>
                <a:lnTo>
                  <a:pt x="3009646" y="1757997"/>
                </a:lnTo>
                <a:lnTo>
                  <a:pt x="2987624" y="1772132"/>
                </a:lnTo>
                <a:lnTo>
                  <a:pt x="3009544" y="1757997"/>
                </a:lnTo>
                <a:lnTo>
                  <a:pt x="3009646" y="1749247"/>
                </a:lnTo>
                <a:lnTo>
                  <a:pt x="2923921" y="1704086"/>
                </a:lnTo>
                <a:lnTo>
                  <a:pt x="2914650" y="1707007"/>
                </a:lnTo>
                <a:lnTo>
                  <a:pt x="2910713" y="1714373"/>
                </a:lnTo>
                <a:lnTo>
                  <a:pt x="2906776" y="1721866"/>
                </a:lnTo>
                <a:lnTo>
                  <a:pt x="2909697" y="1731137"/>
                </a:lnTo>
                <a:lnTo>
                  <a:pt x="2917190" y="1734947"/>
                </a:lnTo>
                <a:lnTo>
                  <a:pt x="2960840" y="1757997"/>
                </a:lnTo>
                <a:lnTo>
                  <a:pt x="19304" y="1886839"/>
                </a:lnTo>
                <a:lnTo>
                  <a:pt x="20574" y="1917192"/>
                </a:lnTo>
                <a:lnTo>
                  <a:pt x="2962287" y="1788477"/>
                </a:lnTo>
                <a:lnTo>
                  <a:pt x="2920619" y="1815338"/>
                </a:lnTo>
                <a:lnTo>
                  <a:pt x="2913507" y="1819783"/>
                </a:lnTo>
                <a:lnTo>
                  <a:pt x="2911475" y="1829308"/>
                </a:lnTo>
                <a:lnTo>
                  <a:pt x="2916047" y="1836293"/>
                </a:lnTo>
                <a:lnTo>
                  <a:pt x="2920619" y="1843405"/>
                </a:lnTo>
                <a:lnTo>
                  <a:pt x="2930017" y="1845437"/>
                </a:lnTo>
                <a:lnTo>
                  <a:pt x="3048127" y="176949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0432" y="1365503"/>
            <a:ext cx="10034016" cy="38740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16722" y="5416702"/>
            <a:ext cx="783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ONTO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8965" y="5387746"/>
            <a:ext cx="1680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ONE-</a:t>
            </a:r>
            <a:r>
              <a:rPr sz="2400" b="1" spc="-40" dirty="0">
                <a:latin typeface="Calibri"/>
                <a:cs typeface="Calibri"/>
              </a:rPr>
              <a:t>TO-</a:t>
            </a:r>
            <a:r>
              <a:rPr sz="2400" b="1" spc="-25" dirty="0">
                <a:latin typeface="Calibri"/>
                <a:cs typeface="Calibri"/>
              </a:rPr>
              <a:t>ONE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9953" y="5399938"/>
            <a:ext cx="191008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76200" marR="5080" indent="-64135">
              <a:lnSpc>
                <a:spcPts val="2110"/>
              </a:lnSpc>
              <a:spcBef>
                <a:spcPts val="210"/>
              </a:spcBef>
            </a:pPr>
            <a:r>
              <a:rPr sz="1800" b="1" dirty="0">
                <a:latin typeface="Arial"/>
                <a:cs typeface="Arial"/>
              </a:rPr>
              <a:t>One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To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One </a:t>
            </a:r>
            <a:r>
              <a:rPr sz="1800" b="1" spc="-10" dirty="0">
                <a:latin typeface="Arial"/>
                <a:cs typeface="Arial"/>
              </a:rPr>
              <a:t>Correspondence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28229"/>
            <a:ext cx="11334115" cy="3672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95"/>
              </a:spcBef>
              <a:tabLst>
                <a:tab pos="6086475" algn="l"/>
                <a:tab pos="9314815" algn="l"/>
              </a:tabLst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: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→</a:t>
            </a:r>
            <a:r>
              <a:rPr sz="2400" b="1" spc="-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spc="-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:</a:t>
            </a:r>
            <a:r>
              <a:rPr sz="2400" b="1" spc="-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spc="-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→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Z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two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functions.</a:t>
            </a:r>
            <a:r>
              <a:rPr sz="2400" b="1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composition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	f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denoted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by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f,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from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 to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Z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defined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as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	(g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f)(x)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g(f(x)),</a:t>
            </a:r>
            <a:r>
              <a:rPr sz="24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all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x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400" spc="4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X.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428625">
              <a:lnSpc>
                <a:spcPct val="124200"/>
              </a:lnSpc>
              <a:spcBef>
                <a:spcPts val="5"/>
              </a:spcBef>
              <a:tabLst>
                <a:tab pos="408305" algn="l"/>
              </a:tabLst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Note.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In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above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definition</a:t>
            </a:r>
            <a:r>
              <a:rPr sz="2400" b="1" spc="-6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it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assumed</a:t>
            </a:r>
            <a:r>
              <a:rPr sz="2400" b="1" spc="-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that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range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function</a:t>
            </a:r>
            <a:r>
              <a:rPr sz="2400" b="1" spc="-7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subset 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	Y</a:t>
            </a:r>
            <a:r>
              <a:rPr sz="2400" b="1" spc="-1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(the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Domain</a:t>
            </a:r>
            <a:r>
              <a:rPr sz="2400" b="1" spc="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g),</a:t>
            </a:r>
            <a:r>
              <a:rPr sz="2400" b="1" spc="-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i.e.,</a:t>
            </a:r>
            <a:r>
              <a:rPr sz="2400" b="1" spc="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Rf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⊆</a:t>
            </a:r>
            <a:r>
              <a:rPr sz="2400" spc="35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Dg.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◦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called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left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composition</a:t>
            </a:r>
            <a:r>
              <a:rPr sz="2400" b="1" spc="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with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f.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Let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{1, 2,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3},</a:t>
            </a:r>
            <a:r>
              <a:rPr sz="24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4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{p, q}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{a,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b}.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latin typeface="Times New Roman"/>
                <a:cs typeface="Times New Roman"/>
              </a:rPr>
              <a:t>Also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X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→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Y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{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(1,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p),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(2, q),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(3,q)}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Y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→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Z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given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g={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(p,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a)</a:t>
            </a:r>
            <a:r>
              <a:rPr sz="2400" b="1" dirty="0">
                <a:latin typeface="Times New Roman"/>
                <a:cs typeface="Times New Roman"/>
              </a:rPr>
              <a:t>,(q,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b)}.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3" y="4874127"/>
            <a:ext cx="4765675" cy="94106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b="1" dirty="0">
                <a:latin typeface="Times New Roman"/>
                <a:cs typeface="Times New Roman"/>
              </a:rPr>
              <a:t>Find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◦</a:t>
            </a:r>
            <a:r>
              <a:rPr sz="2400" b="1" spc="-25" dirty="0">
                <a:latin typeface="Times New Roman"/>
                <a:cs typeface="Times New Roman"/>
              </a:rPr>
              <a:t> f.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Solution: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g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◦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f</a:t>
            </a:r>
            <a:r>
              <a:rPr sz="2400" b="1" spc="-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{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(1,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a)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,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(2,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b),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(3,</a:t>
            </a:r>
            <a:r>
              <a:rPr sz="24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b)}.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94201" y="603961"/>
            <a:ext cx="44894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Composition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10" dirty="0"/>
              <a:t>Functions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31738" y="4986273"/>
            <a:ext cx="3759200" cy="1668145"/>
            <a:chOff x="6031738" y="4986273"/>
            <a:chExt cx="3759200" cy="1668145"/>
          </a:xfrm>
        </p:grpSpPr>
        <p:sp>
          <p:nvSpPr>
            <p:cNvPr id="6" name="object 6"/>
            <p:cNvSpPr/>
            <p:nvPr/>
          </p:nvSpPr>
          <p:spPr>
            <a:xfrm>
              <a:off x="6038088" y="4992623"/>
              <a:ext cx="3746500" cy="1655445"/>
            </a:xfrm>
            <a:custGeom>
              <a:avLst/>
              <a:gdLst/>
              <a:ahLst/>
              <a:cxnLst/>
              <a:rect l="l" t="t" r="r" b="b"/>
              <a:pathLst>
                <a:path w="3746500" h="1655445">
                  <a:moveTo>
                    <a:pt x="0" y="827532"/>
                  </a:moveTo>
                  <a:lnTo>
                    <a:pt x="1026" y="762855"/>
                  </a:lnTo>
                  <a:lnTo>
                    <a:pt x="4056" y="699541"/>
                  </a:lnTo>
                  <a:lnTo>
                    <a:pt x="9012" y="637774"/>
                  </a:lnTo>
                  <a:lnTo>
                    <a:pt x="15820" y="577736"/>
                  </a:lnTo>
                  <a:lnTo>
                    <a:pt x="24404" y="519612"/>
                  </a:lnTo>
                  <a:lnTo>
                    <a:pt x="34687" y="463587"/>
                  </a:lnTo>
                  <a:lnTo>
                    <a:pt x="46594" y="409843"/>
                  </a:lnTo>
                  <a:lnTo>
                    <a:pt x="60050" y="358564"/>
                  </a:lnTo>
                  <a:lnTo>
                    <a:pt x="74978" y="309936"/>
                  </a:lnTo>
                  <a:lnTo>
                    <a:pt x="91302" y="264141"/>
                  </a:lnTo>
                  <a:lnTo>
                    <a:pt x="108947" y="221363"/>
                  </a:lnTo>
                  <a:lnTo>
                    <a:pt x="127838" y="181786"/>
                  </a:lnTo>
                  <a:lnTo>
                    <a:pt x="147897" y="145595"/>
                  </a:lnTo>
                  <a:lnTo>
                    <a:pt x="169051" y="112973"/>
                  </a:lnTo>
                  <a:lnTo>
                    <a:pt x="214334" y="59172"/>
                  </a:lnTo>
                  <a:lnTo>
                    <a:pt x="263083" y="21853"/>
                  </a:lnTo>
                  <a:lnTo>
                    <a:pt x="314690" y="2489"/>
                  </a:lnTo>
                  <a:lnTo>
                    <a:pt x="341375" y="0"/>
                  </a:lnTo>
                  <a:lnTo>
                    <a:pt x="368061" y="2489"/>
                  </a:lnTo>
                  <a:lnTo>
                    <a:pt x="419668" y="21853"/>
                  </a:lnTo>
                  <a:lnTo>
                    <a:pt x="468417" y="59172"/>
                  </a:lnTo>
                  <a:lnTo>
                    <a:pt x="513700" y="112973"/>
                  </a:lnTo>
                  <a:lnTo>
                    <a:pt x="534854" y="145595"/>
                  </a:lnTo>
                  <a:lnTo>
                    <a:pt x="554913" y="181786"/>
                  </a:lnTo>
                  <a:lnTo>
                    <a:pt x="573804" y="221363"/>
                  </a:lnTo>
                  <a:lnTo>
                    <a:pt x="591449" y="264141"/>
                  </a:lnTo>
                  <a:lnTo>
                    <a:pt x="607773" y="309936"/>
                  </a:lnTo>
                  <a:lnTo>
                    <a:pt x="622701" y="358564"/>
                  </a:lnTo>
                  <a:lnTo>
                    <a:pt x="636157" y="409843"/>
                  </a:lnTo>
                  <a:lnTo>
                    <a:pt x="648064" y="463587"/>
                  </a:lnTo>
                  <a:lnTo>
                    <a:pt x="658347" y="519612"/>
                  </a:lnTo>
                  <a:lnTo>
                    <a:pt x="666931" y="577736"/>
                  </a:lnTo>
                  <a:lnTo>
                    <a:pt x="673739" y="637774"/>
                  </a:lnTo>
                  <a:lnTo>
                    <a:pt x="678695" y="699541"/>
                  </a:lnTo>
                  <a:lnTo>
                    <a:pt x="681725" y="762855"/>
                  </a:lnTo>
                  <a:lnTo>
                    <a:pt x="682752" y="827532"/>
                  </a:lnTo>
                  <a:lnTo>
                    <a:pt x="681725" y="892203"/>
                  </a:lnTo>
                  <a:lnTo>
                    <a:pt x="678695" y="955513"/>
                  </a:lnTo>
                  <a:lnTo>
                    <a:pt x="673739" y="1017277"/>
                  </a:lnTo>
                  <a:lnTo>
                    <a:pt x="666931" y="1077313"/>
                  </a:lnTo>
                  <a:lnTo>
                    <a:pt x="658347" y="1135435"/>
                  </a:lnTo>
                  <a:lnTo>
                    <a:pt x="648064" y="1191460"/>
                  </a:lnTo>
                  <a:lnTo>
                    <a:pt x="636157" y="1245203"/>
                  </a:lnTo>
                  <a:lnTo>
                    <a:pt x="622701" y="1296482"/>
                  </a:lnTo>
                  <a:lnTo>
                    <a:pt x="607773" y="1345111"/>
                  </a:lnTo>
                  <a:lnTo>
                    <a:pt x="591449" y="1390907"/>
                  </a:lnTo>
                  <a:lnTo>
                    <a:pt x="573804" y="1433686"/>
                  </a:lnTo>
                  <a:lnTo>
                    <a:pt x="554913" y="1473265"/>
                  </a:lnTo>
                  <a:lnTo>
                    <a:pt x="534854" y="1509458"/>
                  </a:lnTo>
                  <a:lnTo>
                    <a:pt x="513700" y="1542081"/>
                  </a:lnTo>
                  <a:lnTo>
                    <a:pt x="468417" y="1595887"/>
                  </a:lnTo>
                  <a:lnTo>
                    <a:pt x="419668" y="1633208"/>
                  </a:lnTo>
                  <a:lnTo>
                    <a:pt x="368061" y="1652574"/>
                  </a:lnTo>
                  <a:lnTo>
                    <a:pt x="341375" y="1655064"/>
                  </a:lnTo>
                  <a:lnTo>
                    <a:pt x="314690" y="1652574"/>
                  </a:lnTo>
                  <a:lnTo>
                    <a:pt x="263083" y="1633208"/>
                  </a:lnTo>
                  <a:lnTo>
                    <a:pt x="214334" y="1595887"/>
                  </a:lnTo>
                  <a:lnTo>
                    <a:pt x="169051" y="1542081"/>
                  </a:lnTo>
                  <a:lnTo>
                    <a:pt x="147897" y="1509458"/>
                  </a:lnTo>
                  <a:lnTo>
                    <a:pt x="127838" y="1473265"/>
                  </a:lnTo>
                  <a:lnTo>
                    <a:pt x="108947" y="1433686"/>
                  </a:lnTo>
                  <a:lnTo>
                    <a:pt x="91302" y="1390907"/>
                  </a:lnTo>
                  <a:lnTo>
                    <a:pt x="74978" y="1345111"/>
                  </a:lnTo>
                  <a:lnTo>
                    <a:pt x="60050" y="1296482"/>
                  </a:lnTo>
                  <a:lnTo>
                    <a:pt x="46594" y="1245203"/>
                  </a:lnTo>
                  <a:lnTo>
                    <a:pt x="34687" y="1191460"/>
                  </a:lnTo>
                  <a:lnTo>
                    <a:pt x="24404" y="1135435"/>
                  </a:lnTo>
                  <a:lnTo>
                    <a:pt x="15820" y="1077313"/>
                  </a:lnTo>
                  <a:lnTo>
                    <a:pt x="9012" y="1017277"/>
                  </a:lnTo>
                  <a:lnTo>
                    <a:pt x="4056" y="955513"/>
                  </a:lnTo>
                  <a:lnTo>
                    <a:pt x="1026" y="892203"/>
                  </a:lnTo>
                  <a:lnTo>
                    <a:pt x="0" y="827532"/>
                  </a:lnTo>
                  <a:close/>
                </a:path>
                <a:path w="3746500" h="1655445">
                  <a:moveTo>
                    <a:pt x="1530095" y="856488"/>
                  </a:moveTo>
                  <a:lnTo>
                    <a:pt x="1531243" y="792250"/>
                  </a:lnTo>
                  <a:lnTo>
                    <a:pt x="1534625" y="729442"/>
                  </a:lnTo>
                  <a:lnTo>
                    <a:pt x="1540153" y="668263"/>
                  </a:lnTo>
                  <a:lnTo>
                    <a:pt x="1547737" y="608917"/>
                  </a:lnTo>
                  <a:lnTo>
                    <a:pt x="1557289" y="551604"/>
                  </a:lnTo>
                  <a:lnTo>
                    <a:pt x="1568720" y="496527"/>
                  </a:lnTo>
                  <a:lnTo>
                    <a:pt x="1581939" y="443887"/>
                  </a:lnTo>
                  <a:lnTo>
                    <a:pt x="1596859" y="393886"/>
                  </a:lnTo>
                  <a:lnTo>
                    <a:pt x="1613389" y="346726"/>
                  </a:lnTo>
                  <a:lnTo>
                    <a:pt x="1631441" y="302609"/>
                  </a:lnTo>
                  <a:lnTo>
                    <a:pt x="1650926" y="261735"/>
                  </a:lnTo>
                  <a:lnTo>
                    <a:pt x="1671754" y="224308"/>
                  </a:lnTo>
                  <a:lnTo>
                    <a:pt x="1693837" y="190528"/>
                  </a:lnTo>
                  <a:lnTo>
                    <a:pt x="1741408" y="134719"/>
                  </a:lnTo>
                  <a:lnTo>
                    <a:pt x="1792926" y="95921"/>
                  </a:lnTo>
                  <a:lnTo>
                    <a:pt x="1847678" y="75749"/>
                  </a:lnTo>
                  <a:lnTo>
                    <a:pt x="1876043" y="73151"/>
                  </a:lnTo>
                  <a:lnTo>
                    <a:pt x="1904409" y="75749"/>
                  </a:lnTo>
                  <a:lnTo>
                    <a:pt x="1959161" y="95921"/>
                  </a:lnTo>
                  <a:lnTo>
                    <a:pt x="2010679" y="134719"/>
                  </a:lnTo>
                  <a:lnTo>
                    <a:pt x="2058250" y="190528"/>
                  </a:lnTo>
                  <a:lnTo>
                    <a:pt x="2080333" y="224308"/>
                  </a:lnTo>
                  <a:lnTo>
                    <a:pt x="2101161" y="261735"/>
                  </a:lnTo>
                  <a:lnTo>
                    <a:pt x="2120645" y="302609"/>
                  </a:lnTo>
                  <a:lnTo>
                    <a:pt x="2138698" y="346726"/>
                  </a:lnTo>
                  <a:lnTo>
                    <a:pt x="2155228" y="393886"/>
                  </a:lnTo>
                  <a:lnTo>
                    <a:pt x="2170148" y="443887"/>
                  </a:lnTo>
                  <a:lnTo>
                    <a:pt x="2183367" y="496527"/>
                  </a:lnTo>
                  <a:lnTo>
                    <a:pt x="2194798" y="551604"/>
                  </a:lnTo>
                  <a:lnTo>
                    <a:pt x="2204350" y="608917"/>
                  </a:lnTo>
                  <a:lnTo>
                    <a:pt x="2211934" y="668263"/>
                  </a:lnTo>
                  <a:lnTo>
                    <a:pt x="2217462" y="729442"/>
                  </a:lnTo>
                  <a:lnTo>
                    <a:pt x="2220844" y="792250"/>
                  </a:lnTo>
                  <a:lnTo>
                    <a:pt x="2221991" y="856488"/>
                  </a:lnTo>
                  <a:lnTo>
                    <a:pt x="2220844" y="920733"/>
                  </a:lnTo>
                  <a:lnTo>
                    <a:pt x="2217462" y="983549"/>
                  </a:lnTo>
                  <a:lnTo>
                    <a:pt x="2211934" y="1044733"/>
                  </a:lnTo>
                  <a:lnTo>
                    <a:pt x="2204350" y="1104083"/>
                  </a:lnTo>
                  <a:lnTo>
                    <a:pt x="2194798" y="1161398"/>
                  </a:lnTo>
                  <a:lnTo>
                    <a:pt x="2183367" y="1216476"/>
                  </a:lnTo>
                  <a:lnTo>
                    <a:pt x="2170148" y="1269116"/>
                  </a:lnTo>
                  <a:lnTo>
                    <a:pt x="2155228" y="1319116"/>
                  </a:lnTo>
                  <a:lnTo>
                    <a:pt x="2138698" y="1366275"/>
                  </a:lnTo>
                  <a:lnTo>
                    <a:pt x="2120646" y="1410390"/>
                  </a:lnTo>
                  <a:lnTo>
                    <a:pt x="2101161" y="1451261"/>
                  </a:lnTo>
                  <a:lnTo>
                    <a:pt x="2080333" y="1488685"/>
                  </a:lnTo>
                  <a:lnTo>
                    <a:pt x="2058250" y="1522462"/>
                  </a:lnTo>
                  <a:lnTo>
                    <a:pt x="2010679" y="1578265"/>
                  </a:lnTo>
                  <a:lnTo>
                    <a:pt x="1959161" y="1617058"/>
                  </a:lnTo>
                  <a:lnTo>
                    <a:pt x="1904409" y="1637227"/>
                  </a:lnTo>
                  <a:lnTo>
                    <a:pt x="1876043" y="1639824"/>
                  </a:lnTo>
                  <a:lnTo>
                    <a:pt x="1847678" y="1637227"/>
                  </a:lnTo>
                  <a:lnTo>
                    <a:pt x="1792926" y="1617058"/>
                  </a:lnTo>
                  <a:lnTo>
                    <a:pt x="1741408" y="1578265"/>
                  </a:lnTo>
                  <a:lnTo>
                    <a:pt x="1693837" y="1522462"/>
                  </a:lnTo>
                  <a:lnTo>
                    <a:pt x="1671754" y="1488685"/>
                  </a:lnTo>
                  <a:lnTo>
                    <a:pt x="1650926" y="1451261"/>
                  </a:lnTo>
                  <a:lnTo>
                    <a:pt x="1631442" y="1410390"/>
                  </a:lnTo>
                  <a:lnTo>
                    <a:pt x="1613389" y="1366275"/>
                  </a:lnTo>
                  <a:lnTo>
                    <a:pt x="1596859" y="1319116"/>
                  </a:lnTo>
                  <a:lnTo>
                    <a:pt x="1581939" y="1269116"/>
                  </a:lnTo>
                  <a:lnTo>
                    <a:pt x="1568720" y="1216476"/>
                  </a:lnTo>
                  <a:lnTo>
                    <a:pt x="1557289" y="1161398"/>
                  </a:lnTo>
                  <a:lnTo>
                    <a:pt x="1547737" y="1104083"/>
                  </a:lnTo>
                  <a:lnTo>
                    <a:pt x="1540153" y="1044733"/>
                  </a:lnTo>
                  <a:lnTo>
                    <a:pt x="1534625" y="983549"/>
                  </a:lnTo>
                  <a:lnTo>
                    <a:pt x="1531243" y="920733"/>
                  </a:lnTo>
                  <a:lnTo>
                    <a:pt x="1530095" y="856488"/>
                  </a:lnTo>
                  <a:close/>
                </a:path>
                <a:path w="3746500" h="1655445">
                  <a:moveTo>
                    <a:pt x="2953512" y="856488"/>
                  </a:moveTo>
                  <a:lnTo>
                    <a:pt x="2954704" y="794075"/>
                  </a:lnTo>
                  <a:lnTo>
                    <a:pt x="2958222" y="732978"/>
                  </a:lnTo>
                  <a:lnTo>
                    <a:pt x="2963977" y="673372"/>
                  </a:lnTo>
                  <a:lnTo>
                    <a:pt x="2971882" y="615436"/>
                  </a:lnTo>
                  <a:lnTo>
                    <a:pt x="2981849" y="559346"/>
                  </a:lnTo>
                  <a:lnTo>
                    <a:pt x="2993789" y="505281"/>
                  </a:lnTo>
                  <a:lnTo>
                    <a:pt x="3007614" y="453418"/>
                  </a:lnTo>
                  <a:lnTo>
                    <a:pt x="3023235" y="403934"/>
                  </a:lnTo>
                  <a:lnTo>
                    <a:pt x="3040566" y="357006"/>
                  </a:lnTo>
                  <a:lnTo>
                    <a:pt x="3059518" y="312814"/>
                  </a:lnTo>
                  <a:lnTo>
                    <a:pt x="3080002" y="271532"/>
                  </a:lnTo>
                  <a:lnTo>
                    <a:pt x="3101930" y="233340"/>
                  </a:lnTo>
                  <a:lnTo>
                    <a:pt x="3125216" y="198415"/>
                  </a:lnTo>
                  <a:lnTo>
                    <a:pt x="3149769" y="166934"/>
                  </a:lnTo>
                  <a:lnTo>
                    <a:pt x="3202328" y="115014"/>
                  </a:lnTo>
                  <a:lnTo>
                    <a:pt x="3258902" y="79001"/>
                  </a:lnTo>
                  <a:lnTo>
                    <a:pt x="3318788" y="60314"/>
                  </a:lnTo>
                  <a:lnTo>
                    <a:pt x="3349752" y="57912"/>
                  </a:lnTo>
                  <a:lnTo>
                    <a:pt x="3380715" y="60314"/>
                  </a:lnTo>
                  <a:lnTo>
                    <a:pt x="3440601" y="79001"/>
                  </a:lnTo>
                  <a:lnTo>
                    <a:pt x="3497175" y="115014"/>
                  </a:lnTo>
                  <a:lnTo>
                    <a:pt x="3549734" y="166934"/>
                  </a:lnTo>
                  <a:lnTo>
                    <a:pt x="3574287" y="198415"/>
                  </a:lnTo>
                  <a:lnTo>
                    <a:pt x="3597573" y="233340"/>
                  </a:lnTo>
                  <a:lnTo>
                    <a:pt x="3619501" y="271532"/>
                  </a:lnTo>
                  <a:lnTo>
                    <a:pt x="3639985" y="312814"/>
                  </a:lnTo>
                  <a:lnTo>
                    <a:pt x="3658937" y="357006"/>
                  </a:lnTo>
                  <a:lnTo>
                    <a:pt x="3676268" y="403934"/>
                  </a:lnTo>
                  <a:lnTo>
                    <a:pt x="3691890" y="453418"/>
                  </a:lnTo>
                  <a:lnTo>
                    <a:pt x="3705714" y="505281"/>
                  </a:lnTo>
                  <a:lnTo>
                    <a:pt x="3717654" y="559346"/>
                  </a:lnTo>
                  <a:lnTo>
                    <a:pt x="3727621" y="615436"/>
                  </a:lnTo>
                  <a:lnTo>
                    <a:pt x="3735526" y="673372"/>
                  </a:lnTo>
                  <a:lnTo>
                    <a:pt x="3741281" y="732978"/>
                  </a:lnTo>
                  <a:lnTo>
                    <a:pt x="3744799" y="794075"/>
                  </a:lnTo>
                  <a:lnTo>
                    <a:pt x="3745991" y="856488"/>
                  </a:lnTo>
                  <a:lnTo>
                    <a:pt x="3744799" y="918896"/>
                  </a:lnTo>
                  <a:lnTo>
                    <a:pt x="3741281" y="979991"/>
                  </a:lnTo>
                  <a:lnTo>
                    <a:pt x="3735526" y="1039595"/>
                  </a:lnTo>
                  <a:lnTo>
                    <a:pt x="3727621" y="1097530"/>
                  </a:lnTo>
                  <a:lnTo>
                    <a:pt x="3717654" y="1153618"/>
                  </a:lnTo>
                  <a:lnTo>
                    <a:pt x="3705714" y="1207683"/>
                  </a:lnTo>
                  <a:lnTo>
                    <a:pt x="3691890" y="1259546"/>
                  </a:lnTo>
                  <a:lnTo>
                    <a:pt x="3676268" y="1309030"/>
                  </a:lnTo>
                  <a:lnTo>
                    <a:pt x="3658937" y="1355958"/>
                  </a:lnTo>
                  <a:lnTo>
                    <a:pt x="3639985" y="1400152"/>
                  </a:lnTo>
                  <a:lnTo>
                    <a:pt x="3619501" y="1441434"/>
                  </a:lnTo>
                  <a:lnTo>
                    <a:pt x="3597573" y="1479627"/>
                  </a:lnTo>
                  <a:lnTo>
                    <a:pt x="3574287" y="1514553"/>
                  </a:lnTo>
                  <a:lnTo>
                    <a:pt x="3549734" y="1546035"/>
                  </a:lnTo>
                  <a:lnTo>
                    <a:pt x="3497175" y="1597958"/>
                  </a:lnTo>
                  <a:lnTo>
                    <a:pt x="3440601" y="1633973"/>
                  </a:lnTo>
                  <a:lnTo>
                    <a:pt x="3380715" y="1652661"/>
                  </a:lnTo>
                  <a:lnTo>
                    <a:pt x="3349752" y="1655064"/>
                  </a:lnTo>
                  <a:lnTo>
                    <a:pt x="3318788" y="1652661"/>
                  </a:lnTo>
                  <a:lnTo>
                    <a:pt x="3258902" y="1633973"/>
                  </a:lnTo>
                  <a:lnTo>
                    <a:pt x="3202328" y="1597958"/>
                  </a:lnTo>
                  <a:lnTo>
                    <a:pt x="3149769" y="1546035"/>
                  </a:lnTo>
                  <a:lnTo>
                    <a:pt x="3125216" y="1514553"/>
                  </a:lnTo>
                  <a:lnTo>
                    <a:pt x="3101930" y="1479627"/>
                  </a:lnTo>
                  <a:lnTo>
                    <a:pt x="3080002" y="1441434"/>
                  </a:lnTo>
                  <a:lnTo>
                    <a:pt x="3059518" y="1400152"/>
                  </a:lnTo>
                  <a:lnTo>
                    <a:pt x="3040566" y="1355958"/>
                  </a:lnTo>
                  <a:lnTo>
                    <a:pt x="3023235" y="1309030"/>
                  </a:lnTo>
                  <a:lnTo>
                    <a:pt x="3007614" y="1259546"/>
                  </a:lnTo>
                  <a:lnTo>
                    <a:pt x="2993789" y="1207683"/>
                  </a:lnTo>
                  <a:lnTo>
                    <a:pt x="2981849" y="1153618"/>
                  </a:lnTo>
                  <a:lnTo>
                    <a:pt x="2971882" y="1097530"/>
                  </a:lnTo>
                  <a:lnTo>
                    <a:pt x="2963977" y="1039595"/>
                  </a:lnTo>
                  <a:lnTo>
                    <a:pt x="2958222" y="979991"/>
                  </a:lnTo>
                  <a:lnTo>
                    <a:pt x="2954704" y="918896"/>
                  </a:lnTo>
                  <a:lnTo>
                    <a:pt x="2953512" y="856488"/>
                  </a:lnTo>
                  <a:close/>
                </a:path>
              </a:pathLst>
            </a:custGeom>
            <a:ln w="1219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9296" y="5879591"/>
              <a:ext cx="2787015" cy="0"/>
            </a:xfrm>
            <a:custGeom>
              <a:avLst/>
              <a:gdLst/>
              <a:ahLst/>
              <a:cxnLst/>
              <a:rect l="l" t="t" r="r" b="b"/>
              <a:pathLst>
                <a:path w="2787015">
                  <a:moveTo>
                    <a:pt x="0" y="0"/>
                  </a:moveTo>
                  <a:lnTo>
                    <a:pt x="1248282" y="0"/>
                  </a:lnTo>
                </a:path>
                <a:path w="2787015">
                  <a:moveTo>
                    <a:pt x="1277111" y="0"/>
                  </a:moveTo>
                  <a:lnTo>
                    <a:pt x="2786633" y="0"/>
                  </a:lnTo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36029" y="5727903"/>
            <a:ext cx="138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2606" y="5946140"/>
            <a:ext cx="353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f(a)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4586" y="5967476"/>
            <a:ext cx="6191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g{f(a)}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3728" y="5012563"/>
            <a:ext cx="400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38235"/>
                </a:solidFill>
                <a:latin typeface="Times New Roman"/>
                <a:cs typeface="Times New Roman"/>
              </a:rPr>
              <a:t>◦</a:t>
            </a:r>
            <a:r>
              <a:rPr sz="18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80631" y="5385815"/>
            <a:ext cx="1272540" cy="334010"/>
          </a:xfrm>
          <a:custGeom>
            <a:avLst/>
            <a:gdLst/>
            <a:ahLst/>
            <a:cxnLst/>
            <a:rect l="l" t="t" r="r" b="b"/>
            <a:pathLst>
              <a:path w="1272540" h="334010">
                <a:moveTo>
                  <a:pt x="0" y="333438"/>
                </a:moveTo>
                <a:lnTo>
                  <a:pt x="1272286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16520" y="5293258"/>
            <a:ext cx="26479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&gt;</a:t>
            </a:r>
            <a:endParaRPr sz="2400">
              <a:latin typeface="Calibri"/>
              <a:cs typeface="Calibri"/>
            </a:endParaRPr>
          </a:p>
          <a:p>
            <a:pPr marL="99695">
              <a:lnSpc>
                <a:spcPts val="2870"/>
              </a:lnSpc>
            </a:pPr>
            <a:r>
              <a:rPr sz="2400" b="1" spc="-50" dirty="0">
                <a:latin typeface="Calibri"/>
                <a:cs typeface="Calibri"/>
              </a:rPr>
              <a:t>&gt;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82128" y="5398008"/>
            <a:ext cx="1466215" cy="304800"/>
          </a:xfrm>
          <a:custGeom>
            <a:avLst/>
            <a:gdLst/>
            <a:ahLst/>
            <a:cxnLst/>
            <a:rect l="l" t="t" r="r" b="b"/>
            <a:pathLst>
              <a:path w="1466215" h="304800">
                <a:moveTo>
                  <a:pt x="0" y="0"/>
                </a:moveTo>
                <a:lnTo>
                  <a:pt x="1465961" y="304799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639302" y="5351779"/>
            <a:ext cx="279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&gt;</a:t>
            </a:r>
            <a:endParaRPr sz="2400">
              <a:latin typeface="Calibri"/>
              <a:cs typeface="Calibri"/>
            </a:endParaRPr>
          </a:p>
          <a:p>
            <a:pPr marL="114300">
              <a:lnSpc>
                <a:spcPts val="2640"/>
              </a:lnSpc>
            </a:pPr>
            <a:r>
              <a:rPr sz="2400" b="1" spc="-50" dirty="0">
                <a:latin typeface="Calibri"/>
                <a:cs typeface="Calibri"/>
              </a:rPr>
              <a:t>&gt;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11161" y="5938824"/>
            <a:ext cx="9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78977" y="5982411"/>
            <a:ext cx="133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5156" y="762711"/>
            <a:ext cx="87471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2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Let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{1,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2,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3}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f,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g,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functions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given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5156" y="1066470"/>
            <a:ext cx="2544445" cy="8312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{</a:t>
            </a:r>
            <a:r>
              <a:rPr sz="20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(1,</a:t>
            </a:r>
            <a:r>
              <a:rPr sz="2000" b="1" u="sng" spc="-4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2),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(2,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3),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(3,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1)}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h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{(1,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1),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(2,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2),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(3,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1)}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9321" y="1066470"/>
            <a:ext cx="2528570" cy="8312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(1,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2)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000" b="1" u="sng" spc="-1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(2,</a:t>
            </a:r>
            <a:r>
              <a:rPr sz="2000" b="1" u="sng" spc="-2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1),</a:t>
            </a:r>
            <a:r>
              <a:rPr sz="20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(3,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3)}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s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{(1,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1),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(2,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2),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(3,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3)}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5156" y="1868239"/>
            <a:ext cx="7028815" cy="44450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Find</a:t>
            </a:r>
            <a:r>
              <a:rPr sz="20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g;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f;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h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g;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s</a:t>
            </a:r>
            <a:r>
              <a:rPr sz="2000" b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g;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s;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s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s;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Solution: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={(1, 3),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1)}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</a:t>
            </a:r>
            <a:r>
              <a:rPr sz="2000" b="1" u="sng" dirty="0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Times New Roman"/>
                <a:cs typeface="Times New Roman"/>
              </a:rPr>
              <a:t>(1,</a:t>
            </a:r>
            <a:r>
              <a:rPr sz="2000" b="1" u="sng" spc="-40" dirty="0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Times New Roman"/>
                <a:cs typeface="Times New Roman"/>
              </a:rPr>
              <a:t>1),</a:t>
            </a:r>
            <a:r>
              <a:rPr sz="20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3),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2)}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̸=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h ◦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(h ◦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g)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{(1,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1),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1)}=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{(1,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3),</a:t>
            </a:r>
            <a:r>
              <a:rPr sz="20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2)}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{(1,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3)}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{(1,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1),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3)}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C55A11"/>
                </a:solidFill>
                <a:latin typeface="Cambria Math"/>
                <a:cs typeface="Cambria Math"/>
              </a:rPr>
              <a:t>∴</a:t>
            </a:r>
            <a:r>
              <a:rPr sz="2000" spc="3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{(1,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3)}</a:t>
            </a:r>
            <a:r>
              <a:rPr sz="20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{(1,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2),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3),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1)}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Thus,</a:t>
            </a:r>
            <a:r>
              <a:rPr sz="2000" b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s,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 ≠g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f,</a:t>
            </a:r>
            <a:r>
              <a:rPr sz="20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h</a:t>
            </a:r>
            <a:r>
              <a:rPr sz="20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0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h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302" y="857897"/>
            <a:ext cx="11105515" cy="40017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Composition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of</a:t>
            </a:r>
            <a:r>
              <a:rPr sz="2400" b="1" spc="-6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functions</a:t>
            </a:r>
            <a:r>
              <a:rPr sz="2400" b="1" spc="-7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of</a:t>
            </a:r>
            <a:r>
              <a:rPr sz="2400" b="1" spc="-6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more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than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one</a:t>
            </a:r>
            <a:r>
              <a:rPr sz="2400" b="1" spc="-6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variable: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operation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of</a:t>
            </a:r>
            <a:r>
              <a:rPr sz="2400" b="1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composition</a:t>
            </a:r>
            <a:r>
              <a:rPr sz="2400" b="1" spc="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will</a:t>
            </a:r>
            <a:r>
              <a:rPr sz="2400" b="1" spc="-7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used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to</a:t>
            </a:r>
            <a:r>
              <a:rPr sz="2400" b="1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generate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other</a:t>
            </a:r>
            <a:r>
              <a:rPr sz="2400" b="1" spc="-6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function.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ts val="2735"/>
              </a:lnSpc>
              <a:spcBef>
                <a:spcPts val="725"/>
              </a:spcBef>
            </a:pP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Let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spc="-30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(x,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y),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(x,</a:t>
            </a:r>
            <a:r>
              <a:rPr sz="2400" b="1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y)</a:t>
            </a: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g(x,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y)</a:t>
            </a:r>
            <a:r>
              <a:rPr sz="24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any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three</a:t>
            </a:r>
            <a:r>
              <a:rPr sz="2400" b="1" spc="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functions.</a:t>
            </a:r>
            <a:r>
              <a:rPr sz="2400" b="1" spc="-9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Then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composition</a:t>
            </a:r>
            <a:r>
              <a:rPr sz="2400" b="1" spc="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g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with</a:t>
            </a:r>
            <a:endParaRPr sz="2400">
              <a:latin typeface="Times New Roman"/>
              <a:cs typeface="Times New Roman"/>
            </a:endParaRPr>
          </a:p>
          <a:p>
            <a:pPr marL="266700">
              <a:lnSpc>
                <a:spcPts val="2735"/>
              </a:lnSpc>
            </a:pP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spc="254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spc="262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defined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as</a:t>
            </a: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function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h(x,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y)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given</a:t>
            </a: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by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h(x,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y)</a:t>
            </a:r>
            <a:r>
              <a:rPr sz="2400" b="1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g(f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(x,</a:t>
            </a:r>
            <a:r>
              <a:rPr sz="2400" b="1" spc="-5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y),</a:t>
            </a: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(x,</a:t>
            </a:r>
            <a:r>
              <a:rPr sz="2400" b="1" spc="-5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y)).</a:t>
            </a:r>
            <a:endParaRPr sz="2400">
              <a:latin typeface="Times New Roman"/>
              <a:cs typeface="Times New Roman"/>
            </a:endParaRPr>
          </a:p>
          <a:p>
            <a:pPr marL="38100" marR="370840">
              <a:lnSpc>
                <a:spcPct val="124700"/>
              </a:lnSpc>
              <a:spcBef>
                <a:spcPts val="10"/>
              </a:spcBef>
              <a:tabLst>
                <a:tab pos="1849755" algn="l"/>
              </a:tabLst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In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general,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6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...,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fn</a:t>
            </a:r>
            <a:r>
              <a:rPr sz="2400" b="1" spc="-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each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be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partial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function</a:t>
            </a:r>
            <a:r>
              <a:rPr sz="2400" b="1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m variables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and</a:t>
            </a:r>
            <a:r>
              <a:rPr sz="2400" b="1" spc="-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be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partial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function</a:t>
            </a:r>
            <a:r>
              <a:rPr sz="2400" b="1" spc="-4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538235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	variables.</a:t>
            </a:r>
            <a:r>
              <a:rPr sz="2400" b="1" spc="-7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Then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composition</a:t>
            </a:r>
            <a:r>
              <a:rPr sz="2400" b="1" spc="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with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f1,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7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...,</a:t>
            </a:r>
            <a:r>
              <a:rPr sz="2400" b="1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fn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produces</a:t>
            </a:r>
            <a:r>
              <a:rPr sz="2400" b="1" spc="-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538235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partial</a:t>
            </a:r>
            <a:r>
              <a:rPr sz="2400" b="1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function</a:t>
            </a:r>
            <a:r>
              <a:rPr sz="2400" b="1" spc="-5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h</a:t>
            </a:r>
            <a:r>
              <a:rPr sz="2400" b="1" spc="-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given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by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h(x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...,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m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)</a:t>
            </a:r>
            <a:r>
              <a:rPr sz="2400" b="1" spc="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g(f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(x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...,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m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),</a:t>
            </a:r>
            <a:r>
              <a:rPr sz="2400" b="1" spc="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...,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(x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x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,</a:t>
            </a:r>
            <a:r>
              <a:rPr sz="2400" b="1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...x</a:t>
            </a:r>
            <a:r>
              <a:rPr sz="2400" b="1" spc="-15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m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)).</a:t>
            </a:r>
            <a:endParaRPr sz="2400">
              <a:latin typeface="Times New Roman"/>
              <a:cs typeface="Times New Roman"/>
            </a:endParaRPr>
          </a:p>
          <a:p>
            <a:pPr marL="38100" marR="2989580">
              <a:lnSpc>
                <a:spcPct val="124200"/>
              </a:lnSpc>
              <a:spcBef>
                <a:spcPts val="2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Note: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h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total</a:t>
            </a:r>
            <a:r>
              <a:rPr sz="2400" b="1" spc="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iff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...,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n</a:t>
            </a:r>
            <a:r>
              <a:rPr sz="2400" b="1" spc="270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are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total.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Example: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spc="-22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(x,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y)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y,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(x,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y) =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xy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spc="262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 g(x,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y)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xy.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806" y="4925314"/>
            <a:ext cx="703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2657" y="4834219"/>
            <a:ext cx="3568065" cy="13944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15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h(x,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y)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g(f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1</a:t>
            </a:r>
            <a:r>
              <a:rPr sz="2400" b="1" spc="-22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(x,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y), f</a:t>
            </a:r>
            <a:r>
              <a:rPr sz="2400" b="1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spc="-67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(x,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y))</a:t>
            </a:r>
            <a:endParaRPr sz="2400">
              <a:latin typeface="Times New Roman"/>
              <a:cs typeface="Times New Roman"/>
            </a:endParaRPr>
          </a:p>
          <a:p>
            <a:pPr marL="7239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g(</a:t>
            </a:r>
            <a:r>
              <a:rPr sz="24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400" b="1" u="sng" spc="-3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2400" b="1" u="sng" spc="-3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xy</a:t>
            </a:r>
            <a:r>
              <a:rPr sz="2400" b="1" u="sng" spc="-3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2400" b="1" u="sng" spc="-2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y</a:t>
            </a:r>
            <a:r>
              <a:rPr sz="2400" b="1" u="sng" spc="-37" baseline="-20833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7239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(x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y)(xy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spc="-37" baseline="-20833" dirty="0">
                <a:solidFill>
                  <a:srgbClr val="538235"/>
                </a:solidFill>
                <a:latin typeface="Times New Roman"/>
                <a:cs typeface="Times New Roman"/>
              </a:rPr>
              <a:t>2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270" y="754972"/>
            <a:ext cx="11431905" cy="50609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9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4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→</a:t>
            </a:r>
            <a:r>
              <a:rPr sz="2400" b="1" spc="-1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r>
              <a:rPr sz="2400" b="1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said to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invertible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 its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inverse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−1</a:t>
            </a:r>
            <a:r>
              <a:rPr sz="2400" b="1" spc="-52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also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14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from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range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into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X.</a:t>
            </a:r>
            <a:endParaRPr sz="2400">
              <a:latin typeface="Times New Roman"/>
              <a:cs typeface="Times New Roman"/>
            </a:endParaRPr>
          </a:p>
          <a:p>
            <a:pPr marL="25400" marR="1281430">
              <a:lnSpc>
                <a:spcPct val="114599"/>
              </a:lnSpc>
              <a:spcBef>
                <a:spcPts val="10"/>
              </a:spcBef>
            </a:pP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Theorem:</a:t>
            </a:r>
            <a:r>
              <a:rPr sz="2400" b="1" spc="-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: X</a:t>
            </a:r>
            <a:r>
              <a:rPr sz="24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→</a:t>
            </a:r>
            <a:r>
              <a:rPr sz="2400" b="1" spc="-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Y</a:t>
            </a:r>
            <a:r>
              <a:rPr sz="2400" b="1" spc="-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invertible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⇔</a:t>
            </a:r>
            <a:r>
              <a:rPr sz="2400" spc="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one-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to-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one and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onto.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Example:</a:t>
            </a:r>
            <a:r>
              <a:rPr sz="2400" b="1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Let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X =</a:t>
            </a:r>
            <a:r>
              <a:rPr sz="2400" b="1" spc="-4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{a, b,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c,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d}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and</a:t>
            </a:r>
            <a:r>
              <a:rPr sz="2400" b="1" spc="-10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Y</a:t>
            </a:r>
            <a:r>
              <a:rPr sz="2400" b="1" spc="-9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=</a:t>
            </a:r>
            <a:r>
              <a:rPr sz="2400" b="1" spc="-4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{(1,</a:t>
            </a:r>
            <a:r>
              <a:rPr sz="2400" b="1" spc="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2,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3,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4}</a:t>
            </a:r>
            <a:r>
              <a:rPr sz="2400" b="1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let</a:t>
            </a:r>
            <a:r>
              <a:rPr sz="2400" b="1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f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:</a:t>
            </a:r>
            <a:r>
              <a:rPr sz="2400" b="1" spc="-2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X</a:t>
            </a:r>
            <a:r>
              <a:rPr sz="2400" b="1" spc="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→</a:t>
            </a:r>
            <a:r>
              <a:rPr sz="2400" b="1" spc="-114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Y</a:t>
            </a:r>
            <a:r>
              <a:rPr sz="2400" b="1" spc="-9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be</a:t>
            </a:r>
            <a:r>
              <a:rPr sz="2400" b="1" spc="-2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given</a:t>
            </a:r>
            <a:r>
              <a:rPr sz="2400" b="1" spc="-3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920000"/>
                </a:solidFill>
                <a:latin typeface="Times New Roman"/>
                <a:cs typeface="Times New Roman"/>
              </a:rPr>
              <a:t>by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f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{(a, 1),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(b,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2),</a:t>
            </a:r>
            <a:r>
              <a:rPr sz="2400" b="1" spc="-1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(c,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2),</a:t>
            </a:r>
            <a:r>
              <a:rPr sz="2400" b="1" spc="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(d,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3)}.</a:t>
            </a:r>
            <a:r>
              <a:rPr sz="2400" b="1" spc="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920000"/>
                </a:solidFill>
                <a:latin typeface="Times New Roman"/>
                <a:cs typeface="Times New Roman"/>
              </a:rPr>
              <a:t>−1</a:t>
            </a:r>
            <a:r>
              <a:rPr sz="2400" b="1" spc="-60" baseline="2430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920000"/>
                </a:solidFill>
                <a:latin typeface="Times New Roman"/>
                <a:cs typeface="Times New Roman"/>
              </a:rPr>
              <a:t>function?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Solution:</a:t>
            </a:r>
            <a:r>
              <a:rPr sz="2400" b="1" spc="-5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−1</a:t>
            </a:r>
            <a:r>
              <a:rPr sz="2400" b="1" spc="-67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{(1,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a),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(2,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b),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(2,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c),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(3,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d)}.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Here,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2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has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two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distinct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images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b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400" b="1" spc="-4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c.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Therefore,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−1</a:t>
            </a:r>
            <a:r>
              <a:rPr sz="2400" b="1" spc="254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not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function.</a:t>
            </a:r>
            <a:endParaRPr sz="2400">
              <a:latin typeface="Times New Roman"/>
              <a:cs typeface="Times New Roman"/>
            </a:endParaRPr>
          </a:p>
          <a:p>
            <a:pPr marL="25400" marR="17780">
              <a:lnSpc>
                <a:spcPts val="3310"/>
              </a:lnSpc>
              <a:spcBef>
                <a:spcPts val="165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Example: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Let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set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real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numbers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be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given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by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{(x,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400" b="1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)|</a:t>
            </a:r>
            <a:r>
              <a:rPr sz="24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∈</a:t>
            </a:r>
            <a:r>
              <a:rPr sz="2400" spc="1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R}.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−1</a:t>
            </a:r>
            <a:r>
              <a:rPr sz="2400" b="1" spc="270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function?</a:t>
            </a:r>
            <a:endParaRPr sz="2400">
              <a:latin typeface="Times New Roman"/>
              <a:cs typeface="Times New Roman"/>
            </a:endParaRPr>
          </a:p>
          <a:p>
            <a:pPr marL="25400" marR="122555">
              <a:lnSpc>
                <a:spcPts val="3290"/>
              </a:lnSpc>
              <a:spcBef>
                <a:spcPts val="20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Solution:</a:t>
            </a:r>
            <a:r>
              <a:rPr sz="2400" b="1" spc="-1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inverse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given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function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defined</a:t>
            </a:r>
            <a:r>
              <a:rPr sz="24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as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−1</a:t>
            </a:r>
            <a:r>
              <a:rPr sz="2400" b="1" spc="217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{(x</a:t>
            </a:r>
            <a:r>
              <a:rPr sz="2400" b="1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x)|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spc="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R}.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Therefore,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it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function.</a:t>
            </a:r>
            <a:r>
              <a:rPr sz="2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f={(1,1),(2,4),(3,9),(4,16)}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54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−1</a:t>
            </a:r>
            <a:r>
              <a:rPr sz="2400" b="1" spc="284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={(1,1),(4,2),(9,3)(16,4)}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8910" y="377444"/>
            <a:ext cx="297180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Inverse</a:t>
            </a:r>
            <a:r>
              <a:rPr spc="-55" dirty="0"/>
              <a:t> </a:t>
            </a:r>
            <a:r>
              <a:rPr spc="-10" dirty="0"/>
              <a:t>Function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2962910">
              <a:lnSpc>
                <a:spcPct val="100000"/>
              </a:lnSpc>
              <a:spcBef>
                <a:spcPts val="90"/>
              </a:spcBef>
            </a:pPr>
            <a:r>
              <a:rPr dirty="0"/>
              <a:t>Invertible</a:t>
            </a:r>
            <a:r>
              <a:rPr spc="-10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61388" y="2948939"/>
            <a:ext cx="4456430" cy="2268220"/>
          </a:xfrm>
          <a:custGeom>
            <a:avLst/>
            <a:gdLst/>
            <a:ahLst/>
            <a:cxnLst/>
            <a:rect l="l" t="t" r="r" b="b"/>
            <a:pathLst>
              <a:path w="4456430" h="2268220">
                <a:moveTo>
                  <a:pt x="0" y="1139952"/>
                </a:moveTo>
                <a:lnTo>
                  <a:pt x="841" y="1075959"/>
                </a:lnTo>
                <a:lnTo>
                  <a:pt x="3337" y="1012903"/>
                </a:lnTo>
                <a:lnTo>
                  <a:pt x="7442" y="950879"/>
                </a:lnTo>
                <a:lnTo>
                  <a:pt x="13112" y="889980"/>
                </a:lnTo>
                <a:lnTo>
                  <a:pt x="20300" y="830304"/>
                </a:lnTo>
                <a:lnTo>
                  <a:pt x="28963" y="771944"/>
                </a:lnTo>
                <a:lnTo>
                  <a:pt x="39055" y="714997"/>
                </a:lnTo>
                <a:lnTo>
                  <a:pt x="50532" y="659557"/>
                </a:lnTo>
                <a:lnTo>
                  <a:pt x="63349" y="605720"/>
                </a:lnTo>
                <a:lnTo>
                  <a:pt x="77460" y="553580"/>
                </a:lnTo>
                <a:lnTo>
                  <a:pt x="92821" y="503234"/>
                </a:lnTo>
                <a:lnTo>
                  <a:pt x="109388" y="454776"/>
                </a:lnTo>
                <a:lnTo>
                  <a:pt x="127114" y="408302"/>
                </a:lnTo>
                <a:lnTo>
                  <a:pt x="145956" y="363907"/>
                </a:lnTo>
                <a:lnTo>
                  <a:pt x="165868" y="321686"/>
                </a:lnTo>
                <a:lnTo>
                  <a:pt x="186805" y="281733"/>
                </a:lnTo>
                <a:lnTo>
                  <a:pt x="208723" y="244146"/>
                </a:lnTo>
                <a:lnTo>
                  <a:pt x="231577" y="209018"/>
                </a:lnTo>
                <a:lnTo>
                  <a:pt x="255321" y="176445"/>
                </a:lnTo>
                <a:lnTo>
                  <a:pt x="279911" y="146523"/>
                </a:lnTo>
                <a:lnTo>
                  <a:pt x="331449" y="95009"/>
                </a:lnTo>
                <a:lnTo>
                  <a:pt x="385831" y="55239"/>
                </a:lnTo>
                <a:lnTo>
                  <a:pt x="442699" y="27974"/>
                </a:lnTo>
                <a:lnTo>
                  <a:pt x="501693" y="13977"/>
                </a:lnTo>
                <a:lnTo>
                  <a:pt x="531876" y="12192"/>
                </a:lnTo>
                <a:lnTo>
                  <a:pt x="562058" y="13977"/>
                </a:lnTo>
                <a:lnTo>
                  <a:pt x="621052" y="27974"/>
                </a:lnTo>
                <a:lnTo>
                  <a:pt x="677920" y="55239"/>
                </a:lnTo>
                <a:lnTo>
                  <a:pt x="732302" y="95009"/>
                </a:lnTo>
                <a:lnTo>
                  <a:pt x="783840" y="146523"/>
                </a:lnTo>
                <a:lnTo>
                  <a:pt x="808430" y="176445"/>
                </a:lnTo>
                <a:lnTo>
                  <a:pt x="832174" y="209018"/>
                </a:lnTo>
                <a:lnTo>
                  <a:pt x="855028" y="244146"/>
                </a:lnTo>
                <a:lnTo>
                  <a:pt x="876946" y="281733"/>
                </a:lnTo>
                <a:lnTo>
                  <a:pt x="897883" y="321686"/>
                </a:lnTo>
                <a:lnTo>
                  <a:pt x="917795" y="363907"/>
                </a:lnTo>
                <a:lnTo>
                  <a:pt x="936637" y="408302"/>
                </a:lnTo>
                <a:lnTo>
                  <a:pt x="954363" y="454776"/>
                </a:lnTo>
                <a:lnTo>
                  <a:pt x="970930" y="503234"/>
                </a:lnTo>
                <a:lnTo>
                  <a:pt x="986291" y="553580"/>
                </a:lnTo>
                <a:lnTo>
                  <a:pt x="1000402" y="605720"/>
                </a:lnTo>
                <a:lnTo>
                  <a:pt x="1013219" y="659557"/>
                </a:lnTo>
                <a:lnTo>
                  <a:pt x="1024696" y="714997"/>
                </a:lnTo>
                <a:lnTo>
                  <a:pt x="1034788" y="771944"/>
                </a:lnTo>
                <a:lnTo>
                  <a:pt x="1043451" y="830304"/>
                </a:lnTo>
                <a:lnTo>
                  <a:pt x="1050639" y="889980"/>
                </a:lnTo>
                <a:lnTo>
                  <a:pt x="1056309" y="950879"/>
                </a:lnTo>
                <a:lnTo>
                  <a:pt x="1060414" y="1012903"/>
                </a:lnTo>
                <a:lnTo>
                  <a:pt x="1062910" y="1075959"/>
                </a:lnTo>
                <a:lnTo>
                  <a:pt x="1063752" y="1139952"/>
                </a:lnTo>
                <a:lnTo>
                  <a:pt x="1062910" y="1203944"/>
                </a:lnTo>
                <a:lnTo>
                  <a:pt x="1060414" y="1267000"/>
                </a:lnTo>
                <a:lnTo>
                  <a:pt x="1056309" y="1329024"/>
                </a:lnTo>
                <a:lnTo>
                  <a:pt x="1050639" y="1389923"/>
                </a:lnTo>
                <a:lnTo>
                  <a:pt x="1043451" y="1449599"/>
                </a:lnTo>
                <a:lnTo>
                  <a:pt x="1034788" y="1507959"/>
                </a:lnTo>
                <a:lnTo>
                  <a:pt x="1024696" y="1564906"/>
                </a:lnTo>
                <a:lnTo>
                  <a:pt x="1013219" y="1620346"/>
                </a:lnTo>
                <a:lnTo>
                  <a:pt x="1000402" y="1674183"/>
                </a:lnTo>
                <a:lnTo>
                  <a:pt x="986291" y="1726323"/>
                </a:lnTo>
                <a:lnTo>
                  <a:pt x="970930" y="1776669"/>
                </a:lnTo>
                <a:lnTo>
                  <a:pt x="954363" y="1825127"/>
                </a:lnTo>
                <a:lnTo>
                  <a:pt x="936637" y="1871601"/>
                </a:lnTo>
                <a:lnTo>
                  <a:pt x="917795" y="1915996"/>
                </a:lnTo>
                <a:lnTo>
                  <a:pt x="897883" y="1958217"/>
                </a:lnTo>
                <a:lnTo>
                  <a:pt x="876946" y="1998170"/>
                </a:lnTo>
                <a:lnTo>
                  <a:pt x="855028" y="2035757"/>
                </a:lnTo>
                <a:lnTo>
                  <a:pt x="832174" y="2070885"/>
                </a:lnTo>
                <a:lnTo>
                  <a:pt x="808430" y="2103458"/>
                </a:lnTo>
                <a:lnTo>
                  <a:pt x="783840" y="2133380"/>
                </a:lnTo>
                <a:lnTo>
                  <a:pt x="732302" y="2184894"/>
                </a:lnTo>
                <a:lnTo>
                  <a:pt x="677920" y="2224664"/>
                </a:lnTo>
                <a:lnTo>
                  <a:pt x="621052" y="2251929"/>
                </a:lnTo>
                <a:lnTo>
                  <a:pt x="562058" y="2265926"/>
                </a:lnTo>
                <a:lnTo>
                  <a:pt x="531876" y="2267712"/>
                </a:lnTo>
                <a:lnTo>
                  <a:pt x="501693" y="2265926"/>
                </a:lnTo>
                <a:lnTo>
                  <a:pt x="442699" y="2251929"/>
                </a:lnTo>
                <a:lnTo>
                  <a:pt x="385831" y="2224664"/>
                </a:lnTo>
                <a:lnTo>
                  <a:pt x="331449" y="2184894"/>
                </a:lnTo>
                <a:lnTo>
                  <a:pt x="279911" y="2133380"/>
                </a:lnTo>
                <a:lnTo>
                  <a:pt x="255321" y="2103458"/>
                </a:lnTo>
                <a:lnTo>
                  <a:pt x="231577" y="2070885"/>
                </a:lnTo>
                <a:lnTo>
                  <a:pt x="208723" y="2035757"/>
                </a:lnTo>
                <a:lnTo>
                  <a:pt x="186805" y="1998170"/>
                </a:lnTo>
                <a:lnTo>
                  <a:pt x="165868" y="1958217"/>
                </a:lnTo>
                <a:lnTo>
                  <a:pt x="145956" y="1915996"/>
                </a:lnTo>
                <a:lnTo>
                  <a:pt x="127114" y="1871601"/>
                </a:lnTo>
                <a:lnTo>
                  <a:pt x="109388" y="1825127"/>
                </a:lnTo>
                <a:lnTo>
                  <a:pt x="92821" y="1776669"/>
                </a:lnTo>
                <a:lnTo>
                  <a:pt x="77460" y="1726323"/>
                </a:lnTo>
                <a:lnTo>
                  <a:pt x="63349" y="1674183"/>
                </a:lnTo>
                <a:lnTo>
                  <a:pt x="50532" y="1620346"/>
                </a:lnTo>
                <a:lnTo>
                  <a:pt x="39055" y="1564906"/>
                </a:lnTo>
                <a:lnTo>
                  <a:pt x="28963" y="1507959"/>
                </a:lnTo>
                <a:lnTo>
                  <a:pt x="20300" y="1449599"/>
                </a:lnTo>
                <a:lnTo>
                  <a:pt x="13112" y="1389923"/>
                </a:lnTo>
                <a:lnTo>
                  <a:pt x="7442" y="1329024"/>
                </a:lnTo>
                <a:lnTo>
                  <a:pt x="3337" y="1267000"/>
                </a:lnTo>
                <a:lnTo>
                  <a:pt x="841" y="1203944"/>
                </a:lnTo>
                <a:lnTo>
                  <a:pt x="0" y="1139952"/>
                </a:lnTo>
                <a:close/>
              </a:path>
              <a:path w="4456430" h="2268220">
                <a:moveTo>
                  <a:pt x="3407664" y="1080516"/>
                </a:moveTo>
                <a:lnTo>
                  <a:pt x="3408553" y="1017025"/>
                </a:lnTo>
                <a:lnTo>
                  <a:pt x="3411190" y="954501"/>
                </a:lnTo>
                <a:lnTo>
                  <a:pt x="3415525" y="893044"/>
                </a:lnTo>
                <a:lnTo>
                  <a:pt x="3421508" y="832757"/>
                </a:lnTo>
                <a:lnTo>
                  <a:pt x="3429091" y="773739"/>
                </a:lnTo>
                <a:lnTo>
                  <a:pt x="3438225" y="716094"/>
                </a:lnTo>
                <a:lnTo>
                  <a:pt x="3448859" y="659921"/>
                </a:lnTo>
                <a:lnTo>
                  <a:pt x="3460946" y="605323"/>
                </a:lnTo>
                <a:lnTo>
                  <a:pt x="3474435" y="552400"/>
                </a:lnTo>
                <a:lnTo>
                  <a:pt x="3489279" y="501255"/>
                </a:lnTo>
                <a:lnTo>
                  <a:pt x="3505427" y="451987"/>
                </a:lnTo>
                <a:lnTo>
                  <a:pt x="3522830" y="404699"/>
                </a:lnTo>
                <a:lnTo>
                  <a:pt x="3541440" y="359492"/>
                </a:lnTo>
                <a:lnTo>
                  <a:pt x="3561206" y="316468"/>
                </a:lnTo>
                <a:lnTo>
                  <a:pt x="3582081" y="275727"/>
                </a:lnTo>
                <a:lnTo>
                  <a:pt x="3604015" y="237370"/>
                </a:lnTo>
                <a:lnTo>
                  <a:pt x="3626959" y="201500"/>
                </a:lnTo>
                <a:lnTo>
                  <a:pt x="3650863" y="168218"/>
                </a:lnTo>
                <a:lnTo>
                  <a:pt x="3675678" y="137624"/>
                </a:lnTo>
                <a:lnTo>
                  <a:pt x="3727846" y="84909"/>
                </a:lnTo>
                <a:lnTo>
                  <a:pt x="3783071" y="44165"/>
                </a:lnTo>
                <a:lnTo>
                  <a:pt x="3840957" y="16203"/>
                </a:lnTo>
                <a:lnTo>
                  <a:pt x="3901113" y="1834"/>
                </a:lnTo>
                <a:lnTo>
                  <a:pt x="3931920" y="0"/>
                </a:lnTo>
                <a:lnTo>
                  <a:pt x="3962726" y="1834"/>
                </a:lnTo>
                <a:lnTo>
                  <a:pt x="4022882" y="16203"/>
                </a:lnTo>
                <a:lnTo>
                  <a:pt x="4080768" y="44165"/>
                </a:lnTo>
                <a:lnTo>
                  <a:pt x="4135993" y="84909"/>
                </a:lnTo>
                <a:lnTo>
                  <a:pt x="4188161" y="137624"/>
                </a:lnTo>
                <a:lnTo>
                  <a:pt x="4212976" y="168218"/>
                </a:lnTo>
                <a:lnTo>
                  <a:pt x="4236880" y="201500"/>
                </a:lnTo>
                <a:lnTo>
                  <a:pt x="4259824" y="237370"/>
                </a:lnTo>
                <a:lnTo>
                  <a:pt x="4281758" y="275727"/>
                </a:lnTo>
                <a:lnTo>
                  <a:pt x="4302633" y="316468"/>
                </a:lnTo>
                <a:lnTo>
                  <a:pt x="4322399" y="359492"/>
                </a:lnTo>
                <a:lnTo>
                  <a:pt x="4341009" y="404699"/>
                </a:lnTo>
                <a:lnTo>
                  <a:pt x="4358412" y="451987"/>
                </a:lnTo>
                <a:lnTo>
                  <a:pt x="4374560" y="501255"/>
                </a:lnTo>
                <a:lnTo>
                  <a:pt x="4389404" y="552400"/>
                </a:lnTo>
                <a:lnTo>
                  <a:pt x="4402893" y="605323"/>
                </a:lnTo>
                <a:lnTo>
                  <a:pt x="4414980" y="659921"/>
                </a:lnTo>
                <a:lnTo>
                  <a:pt x="4425614" y="716094"/>
                </a:lnTo>
                <a:lnTo>
                  <a:pt x="4434748" y="773739"/>
                </a:lnTo>
                <a:lnTo>
                  <a:pt x="4442331" y="832757"/>
                </a:lnTo>
                <a:lnTo>
                  <a:pt x="4448314" y="893044"/>
                </a:lnTo>
                <a:lnTo>
                  <a:pt x="4452649" y="954501"/>
                </a:lnTo>
                <a:lnTo>
                  <a:pt x="4455286" y="1017025"/>
                </a:lnTo>
                <a:lnTo>
                  <a:pt x="4456176" y="1080516"/>
                </a:lnTo>
                <a:lnTo>
                  <a:pt x="4455286" y="1144006"/>
                </a:lnTo>
                <a:lnTo>
                  <a:pt x="4452649" y="1206530"/>
                </a:lnTo>
                <a:lnTo>
                  <a:pt x="4448314" y="1267987"/>
                </a:lnTo>
                <a:lnTo>
                  <a:pt x="4442331" y="1328274"/>
                </a:lnTo>
                <a:lnTo>
                  <a:pt x="4434748" y="1387292"/>
                </a:lnTo>
                <a:lnTo>
                  <a:pt x="4425614" y="1444937"/>
                </a:lnTo>
                <a:lnTo>
                  <a:pt x="4414980" y="1501110"/>
                </a:lnTo>
                <a:lnTo>
                  <a:pt x="4402893" y="1555708"/>
                </a:lnTo>
                <a:lnTo>
                  <a:pt x="4389404" y="1608631"/>
                </a:lnTo>
                <a:lnTo>
                  <a:pt x="4374560" y="1659776"/>
                </a:lnTo>
                <a:lnTo>
                  <a:pt x="4358412" y="1709044"/>
                </a:lnTo>
                <a:lnTo>
                  <a:pt x="4341009" y="1756332"/>
                </a:lnTo>
                <a:lnTo>
                  <a:pt x="4322399" y="1801539"/>
                </a:lnTo>
                <a:lnTo>
                  <a:pt x="4302633" y="1844563"/>
                </a:lnTo>
                <a:lnTo>
                  <a:pt x="4281758" y="1885304"/>
                </a:lnTo>
                <a:lnTo>
                  <a:pt x="4259824" y="1923661"/>
                </a:lnTo>
                <a:lnTo>
                  <a:pt x="4236880" y="1959531"/>
                </a:lnTo>
                <a:lnTo>
                  <a:pt x="4212976" y="1992813"/>
                </a:lnTo>
                <a:lnTo>
                  <a:pt x="4188161" y="2023407"/>
                </a:lnTo>
                <a:lnTo>
                  <a:pt x="4135993" y="2076122"/>
                </a:lnTo>
                <a:lnTo>
                  <a:pt x="4080768" y="2116866"/>
                </a:lnTo>
                <a:lnTo>
                  <a:pt x="4022882" y="2144828"/>
                </a:lnTo>
                <a:lnTo>
                  <a:pt x="3962726" y="2159197"/>
                </a:lnTo>
                <a:lnTo>
                  <a:pt x="3931920" y="2161032"/>
                </a:lnTo>
                <a:lnTo>
                  <a:pt x="3901113" y="2159197"/>
                </a:lnTo>
                <a:lnTo>
                  <a:pt x="3840957" y="2144828"/>
                </a:lnTo>
                <a:lnTo>
                  <a:pt x="3783071" y="2116866"/>
                </a:lnTo>
                <a:lnTo>
                  <a:pt x="3727846" y="2076122"/>
                </a:lnTo>
                <a:lnTo>
                  <a:pt x="3675678" y="2023407"/>
                </a:lnTo>
                <a:lnTo>
                  <a:pt x="3650863" y="1992813"/>
                </a:lnTo>
                <a:lnTo>
                  <a:pt x="3626959" y="1959531"/>
                </a:lnTo>
                <a:lnTo>
                  <a:pt x="3604015" y="1923661"/>
                </a:lnTo>
                <a:lnTo>
                  <a:pt x="3582081" y="1885304"/>
                </a:lnTo>
                <a:lnTo>
                  <a:pt x="3561206" y="1844563"/>
                </a:lnTo>
                <a:lnTo>
                  <a:pt x="3541440" y="1801539"/>
                </a:lnTo>
                <a:lnTo>
                  <a:pt x="3522830" y="1756332"/>
                </a:lnTo>
                <a:lnTo>
                  <a:pt x="3505427" y="1709044"/>
                </a:lnTo>
                <a:lnTo>
                  <a:pt x="3489279" y="1659776"/>
                </a:lnTo>
                <a:lnTo>
                  <a:pt x="3474435" y="1608631"/>
                </a:lnTo>
                <a:lnTo>
                  <a:pt x="3460946" y="1555708"/>
                </a:lnTo>
                <a:lnTo>
                  <a:pt x="3448859" y="1501110"/>
                </a:lnTo>
                <a:lnTo>
                  <a:pt x="3438225" y="1444937"/>
                </a:lnTo>
                <a:lnTo>
                  <a:pt x="3429091" y="1387292"/>
                </a:lnTo>
                <a:lnTo>
                  <a:pt x="3421508" y="1328274"/>
                </a:lnTo>
                <a:lnTo>
                  <a:pt x="3415525" y="1267987"/>
                </a:lnTo>
                <a:lnTo>
                  <a:pt x="3411190" y="1206530"/>
                </a:lnTo>
                <a:lnTo>
                  <a:pt x="3408553" y="1144006"/>
                </a:lnTo>
                <a:lnTo>
                  <a:pt x="3407664" y="1080516"/>
                </a:lnTo>
                <a:close/>
              </a:path>
            </a:pathLst>
          </a:custGeom>
          <a:ln w="396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6301" y="3884167"/>
            <a:ext cx="13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1229" y="3840607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84704" y="3954525"/>
            <a:ext cx="3367404" cy="390525"/>
          </a:xfrm>
          <a:custGeom>
            <a:avLst/>
            <a:gdLst/>
            <a:ahLst/>
            <a:cxnLst/>
            <a:rect l="l" t="t" r="r" b="b"/>
            <a:pathLst>
              <a:path w="3367404" h="390525">
                <a:moveTo>
                  <a:pt x="3222244" y="288544"/>
                </a:moveTo>
                <a:lnTo>
                  <a:pt x="3222117" y="275844"/>
                </a:lnTo>
                <a:lnTo>
                  <a:pt x="36004" y="333209"/>
                </a:lnTo>
                <a:lnTo>
                  <a:pt x="25107" y="339826"/>
                </a:lnTo>
                <a:lnTo>
                  <a:pt x="33832" y="334518"/>
                </a:lnTo>
                <a:lnTo>
                  <a:pt x="36004" y="333209"/>
                </a:lnTo>
                <a:lnTo>
                  <a:pt x="94234" y="297815"/>
                </a:lnTo>
                <a:lnTo>
                  <a:pt x="95250" y="293878"/>
                </a:lnTo>
                <a:lnTo>
                  <a:pt x="93345" y="290957"/>
                </a:lnTo>
                <a:lnTo>
                  <a:pt x="91567" y="287909"/>
                </a:lnTo>
                <a:lnTo>
                  <a:pt x="87630" y="287020"/>
                </a:lnTo>
                <a:lnTo>
                  <a:pt x="0" y="340233"/>
                </a:lnTo>
                <a:lnTo>
                  <a:pt x="86487" y="388620"/>
                </a:lnTo>
                <a:lnTo>
                  <a:pt x="89535" y="390398"/>
                </a:lnTo>
                <a:lnTo>
                  <a:pt x="93345" y="389255"/>
                </a:lnTo>
                <a:lnTo>
                  <a:pt x="95123" y="386207"/>
                </a:lnTo>
                <a:lnTo>
                  <a:pt x="96774" y="383159"/>
                </a:lnTo>
                <a:lnTo>
                  <a:pt x="95758" y="379222"/>
                </a:lnTo>
                <a:lnTo>
                  <a:pt x="92710" y="377571"/>
                </a:lnTo>
                <a:lnTo>
                  <a:pt x="36766" y="346329"/>
                </a:lnTo>
                <a:lnTo>
                  <a:pt x="36017" y="345909"/>
                </a:lnTo>
                <a:lnTo>
                  <a:pt x="3222244" y="288544"/>
                </a:lnTo>
                <a:close/>
              </a:path>
              <a:path w="3367404" h="390525">
                <a:moveTo>
                  <a:pt x="3367405" y="50546"/>
                </a:moveTo>
                <a:lnTo>
                  <a:pt x="3356394" y="44323"/>
                </a:lnTo>
                <a:lnTo>
                  <a:pt x="3281172" y="1778"/>
                </a:lnTo>
                <a:lnTo>
                  <a:pt x="3278124" y="0"/>
                </a:lnTo>
                <a:lnTo>
                  <a:pt x="3274187" y="1143"/>
                </a:lnTo>
                <a:lnTo>
                  <a:pt x="3272536" y="4191"/>
                </a:lnTo>
                <a:lnTo>
                  <a:pt x="3270758" y="7239"/>
                </a:lnTo>
                <a:lnTo>
                  <a:pt x="3271901" y="11049"/>
                </a:lnTo>
                <a:lnTo>
                  <a:pt x="3274949" y="12827"/>
                </a:lnTo>
                <a:lnTo>
                  <a:pt x="3331121" y="44640"/>
                </a:lnTo>
                <a:lnTo>
                  <a:pt x="51689" y="87757"/>
                </a:lnTo>
                <a:lnTo>
                  <a:pt x="51739" y="90678"/>
                </a:lnTo>
                <a:lnTo>
                  <a:pt x="51854" y="96393"/>
                </a:lnTo>
                <a:lnTo>
                  <a:pt x="51943" y="100457"/>
                </a:lnTo>
                <a:lnTo>
                  <a:pt x="3331375" y="57340"/>
                </a:lnTo>
                <a:lnTo>
                  <a:pt x="3275965" y="90678"/>
                </a:lnTo>
                <a:lnTo>
                  <a:pt x="3272917" y="92583"/>
                </a:lnTo>
                <a:lnTo>
                  <a:pt x="3271901" y="96393"/>
                </a:lnTo>
                <a:lnTo>
                  <a:pt x="3273806" y="99441"/>
                </a:lnTo>
                <a:lnTo>
                  <a:pt x="3275584" y="102489"/>
                </a:lnTo>
                <a:lnTo>
                  <a:pt x="3279521" y="103378"/>
                </a:lnTo>
                <a:lnTo>
                  <a:pt x="3367405" y="5054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6170" y="4570857"/>
            <a:ext cx="6779259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g=</a:t>
            </a:r>
            <a:r>
              <a:rPr sz="2400" b="1" spc="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f</a:t>
            </a:r>
            <a:r>
              <a:rPr sz="2400" b="1" spc="-37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−1</a:t>
            </a:r>
            <a:endParaRPr sz="2400" baseline="2430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945"/>
              </a:spcBef>
            </a:pP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f</a:t>
            </a:r>
            <a:r>
              <a:rPr sz="2400" b="1" spc="-3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{(a, 1),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(b,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2),</a:t>
            </a:r>
            <a:r>
              <a:rPr sz="2400" b="1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(c,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3),</a:t>
            </a:r>
            <a:r>
              <a:rPr sz="2400" b="1" spc="-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(d,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4)}.</a:t>
            </a:r>
            <a:r>
              <a:rPr sz="2400" b="1" spc="-45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What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92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20000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920000"/>
                </a:solidFill>
                <a:latin typeface="Times New Roman"/>
                <a:cs typeface="Times New Roman"/>
              </a:rPr>
              <a:t>−1</a:t>
            </a:r>
            <a:r>
              <a:rPr sz="2400" b="1" spc="97" baseline="24305" dirty="0">
                <a:solidFill>
                  <a:srgbClr val="920000"/>
                </a:solidFill>
                <a:latin typeface="Times New Roman"/>
                <a:cs typeface="Times New Roman"/>
              </a:rPr>
              <a:t>  </a:t>
            </a:r>
            <a:r>
              <a:rPr sz="2400" b="1" spc="-10" dirty="0">
                <a:solidFill>
                  <a:srgbClr val="920000"/>
                </a:solidFill>
                <a:latin typeface="Times New Roman"/>
                <a:cs typeface="Times New Roman"/>
              </a:rPr>
              <a:t>function?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f</a:t>
            </a:r>
            <a:r>
              <a:rPr sz="2400" b="1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−1</a:t>
            </a:r>
            <a:r>
              <a:rPr sz="2400" b="1" spc="-67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{(1, a),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(2,</a:t>
            </a:r>
            <a:r>
              <a:rPr sz="2400" b="1" spc="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b),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(3,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c), (4,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d)}.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6170" y="988706"/>
            <a:ext cx="10344150" cy="27851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 marR="30480">
              <a:lnSpc>
                <a:spcPct val="124600"/>
              </a:lnSpc>
              <a:spcBef>
                <a:spcPts val="85"/>
              </a:spcBef>
              <a:tabLst>
                <a:tab pos="3074670" algn="l"/>
                <a:tab pos="9766935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2400" b="1" spc="-1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→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said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invertible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there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exists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g: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B→A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such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g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◦ f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	f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◦ g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284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where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412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identity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	I</a:t>
            </a:r>
            <a:r>
              <a:rPr sz="2400" b="1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b="1" spc="330" baseline="-20833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is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identity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on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B.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50"/>
              </a:spcBef>
              <a:tabLst>
                <a:tab pos="4027170" algn="l"/>
              </a:tabLst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Then,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g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called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inverse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	f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and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we</a:t>
            </a:r>
            <a:r>
              <a:rPr sz="2400" b="1" spc="-5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write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Calibri"/>
                <a:cs typeface="Calibri"/>
              </a:rPr>
              <a:t>g=</a:t>
            </a:r>
            <a:r>
              <a:rPr sz="2400" b="1" spc="7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f</a:t>
            </a:r>
            <a:r>
              <a:rPr sz="2400" b="1" spc="-37" baseline="24305" dirty="0">
                <a:solidFill>
                  <a:srgbClr val="4B24F3"/>
                </a:solidFill>
                <a:latin typeface="Times New Roman"/>
                <a:cs typeface="Times New Roman"/>
              </a:rPr>
              <a:t>−1</a:t>
            </a:r>
            <a:endParaRPr sz="2400" baseline="2430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2400">
              <a:latin typeface="Times New Roman"/>
              <a:cs typeface="Times New Roman"/>
            </a:endParaRPr>
          </a:p>
          <a:p>
            <a:pPr marL="3137535">
              <a:lnSpc>
                <a:spcPct val="100000"/>
              </a:lnSpc>
              <a:spcBef>
                <a:spcPts val="5"/>
              </a:spcBef>
            </a:pPr>
            <a:r>
              <a:rPr sz="2400" b="1" spc="-50" dirty="0">
                <a:solidFill>
                  <a:srgbClr val="92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397" y="945657"/>
            <a:ext cx="11381105" cy="20650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60"/>
              </a:spcBef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Theorem:</a:t>
            </a:r>
            <a:r>
              <a:rPr sz="2000" b="1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If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000" b="1" i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0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sz="2000" b="1" i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2000" b="1" i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000" b="1" i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2000" b="1" i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sz="2000" b="1" i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0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be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such that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0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◦</a:t>
            </a:r>
            <a:r>
              <a:rPr sz="2000" b="1" i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000" b="1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Ix</a:t>
            </a:r>
            <a:r>
              <a:rPr sz="20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000" b="1" i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◦</a:t>
            </a:r>
            <a:r>
              <a:rPr sz="20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000" b="1" i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Iy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,</a:t>
            </a:r>
            <a:r>
              <a:rPr sz="20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then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0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are</a:t>
            </a:r>
            <a:r>
              <a:rPr sz="20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both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invertible.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Furthermore,</a:t>
            </a:r>
            <a:r>
              <a:rPr sz="20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025" b="1" i="1" baseline="24691" dirty="0">
                <a:solidFill>
                  <a:srgbClr val="C00000"/>
                </a:solidFill>
                <a:latin typeface="Times New Roman"/>
                <a:cs typeface="Times New Roman"/>
              </a:rPr>
              <a:t>−</a:t>
            </a:r>
            <a:r>
              <a:rPr sz="2025" b="1" baseline="2469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025" b="1" spc="-67" baseline="2469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000" b="1" i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r>
              <a:rPr sz="2025" b="1" i="1" baseline="24691" dirty="0">
                <a:solidFill>
                  <a:srgbClr val="C00000"/>
                </a:solidFill>
                <a:latin typeface="Times New Roman"/>
                <a:cs typeface="Times New Roman"/>
              </a:rPr>
              <a:t>−</a:t>
            </a:r>
            <a:r>
              <a:rPr sz="2025" b="1" baseline="2469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025" b="1" spc="-22" baseline="2469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f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FFC000"/>
                </a:solidFill>
                <a:latin typeface="Times New Roman"/>
                <a:cs typeface="Times New Roman"/>
              </a:rPr>
              <a:t>Example:</a:t>
            </a:r>
            <a:r>
              <a:rPr sz="2000" b="1" spc="5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Let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1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3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4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0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g</a:t>
            </a:r>
            <a:r>
              <a:rPr sz="20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be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functions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from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X</a:t>
            </a:r>
            <a:r>
              <a:rPr sz="20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given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by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1)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,2),</a:t>
            </a:r>
            <a:r>
              <a:rPr sz="2000" b="1" i="1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(4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3)</a:t>
            </a:r>
            <a:r>
              <a:rPr sz="20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g</a:t>
            </a:r>
            <a:r>
              <a:rPr sz="20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(1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2)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(2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3)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(3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4)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(4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1)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r>
              <a:rPr sz="20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Prove</a:t>
            </a:r>
            <a:r>
              <a:rPr sz="20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2000" b="1" i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Times New Roman"/>
                <a:cs typeface="Times New Roman"/>
              </a:rPr>
              <a:t>g</a:t>
            </a:r>
            <a:r>
              <a:rPr sz="2000" b="1" i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are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inverses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each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other.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Solution:</a:t>
            </a:r>
            <a:r>
              <a:rPr sz="2000" b="1" spc="-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We</a:t>
            </a:r>
            <a:r>
              <a:rPr sz="20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check</a:t>
            </a:r>
            <a:r>
              <a:rPr sz="20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that</a:t>
            </a:r>
            <a:endParaRPr sz="20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)(1)</a:t>
            </a:r>
            <a:r>
              <a:rPr sz="20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(1))</a:t>
            </a:r>
            <a:r>
              <a:rPr sz="20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(4)</a:t>
            </a:r>
            <a:r>
              <a:rPr sz="20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1</a:t>
            </a:r>
            <a:r>
              <a:rPr sz="20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(1)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5797" y="2988706"/>
            <a:ext cx="6097905" cy="308673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i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)(2)</a:t>
            </a:r>
            <a:r>
              <a:rPr sz="20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(2))</a:t>
            </a:r>
            <a:r>
              <a:rPr sz="2000" b="1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(1)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 2=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(2)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i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)(3)</a:t>
            </a:r>
            <a:r>
              <a:rPr sz="20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(3))</a:t>
            </a:r>
            <a:r>
              <a:rPr sz="2000" b="1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(2)=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3=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(3)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i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)(4)</a:t>
            </a:r>
            <a:r>
              <a:rPr sz="20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(4))</a:t>
            </a:r>
            <a:r>
              <a:rPr sz="2000" b="1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(3)=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4=</a:t>
            </a:r>
            <a:r>
              <a:rPr sz="20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(4)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i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i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)(1)=</a:t>
            </a:r>
            <a:r>
              <a:rPr sz="2000" b="1" spc="-5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(1))</a:t>
            </a:r>
            <a:r>
              <a:rPr sz="20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(2)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1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(1)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i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i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)(2)=</a:t>
            </a:r>
            <a:r>
              <a:rPr sz="20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(2))</a:t>
            </a:r>
            <a:r>
              <a:rPr sz="20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(3)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 2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(2)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i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i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)(3)=</a:t>
            </a:r>
            <a:r>
              <a:rPr sz="2000" b="1" spc="-5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(3))</a:t>
            </a:r>
            <a:r>
              <a:rPr sz="20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(4)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3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(3)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i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◦</a:t>
            </a:r>
            <a:r>
              <a:rPr sz="2000" b="1" i="1" spc="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)(4)=</a:t>
            </a:r>
            <a:r>
              <a:rPr sz="20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(4))</a:t>
            </a:r>
            <a:r>
              <a:rPr sz="20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C55A11"/>
                </a:solidFill>
                <a:latin typeface="Times New Roman"/>
                <a:cs typeface="Times New Roman"/>
              </a:rPr>
              <a:t>f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(1)</a:t>
            </a:r>
            <a:r>
              <a:rPr sz="20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 4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000" b="1" spc="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(4)</a:t>
            </a:r>
            <a:r>
              <a:rPr sz="2000" b="1" i="1" spc="-10" dirty="0">
                <a:solidFill>
                  <a:srgbClr val="C55A11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Thus,</a:t>
            </a:r>
            <a:r>
              <a:rPr sz="20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sz="20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all</a:t>
            </a:r>
            <a:r>
              <a:rPr sz="20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0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100" spc="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,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◦ 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</a:t>
            </a:r>
            <a:r>
              <a:rPr sz="20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Ix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</a:t>
            </a:r>
            <a:r>
              <a:rPr sz="20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i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◦</a:t>
            </a:r>
            <a:r>
              <a:rPr sz="20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)(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)</a:t>
            </a:r>
            <a:r>
              <a:rPr sz="20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= 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Ix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000" b="1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x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2753360" algn="l"/>
                <a:tab pos="3435985" algn="l"/>
              </a:tabLst>
            </a:pP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Therefore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0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inverse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of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sz="2000" b="1" i="1" dirty="0">
                <a:solidFill>
                  <a:srgbClr val="00AFEF"/>
                </a:solidFill>
                <a:latin typeface="Times New Roman"/>
                <a:cs typeface="Times New Roman"/>
              </a:rPr>
              <a:t>f</a:t>
            </a:r>
            <a:r>
              <a:rPr sz="2000" b="1" i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is inverse</a:t>
            </a:r>
            <a:r>
              <a:rPr sz="20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r>
              <a:rPr sz="20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51747" y="2976372"/>
            <a:ext cx="1064260" cy="2252980"/>
          </a:xfrm>
          <a:custGeom>
            <a:avLst/>
            <a:gdLst/>
            <a:ahLst/>
            <a:cxnLst/>
            <a:rect l="l" t="t" r="r" b="b"/>
            <a:pathLst>
              <a:path w="1064259" h="2252979">
                <a:moveTo>
                  <a:pt x="0" y="1126235"/>
                </a:moveTo>
                <a:lnTo>
                  <a:pt x="841" y="1062322"/>
                </a:lnTo>
                <a:lnTo>
                  <a:pt x="3337" y="999345"/>
                </a:lnTo>
                <a:lnTo>
                  <a:pt x="7442" y="937398"/>
                </a:lnTo>
                <a:lnTo>
                  <a:pt x="13112" y="876578"/>
                </a:lnTo>
                <a:lnTo>
                  <a:pt x="20300" y="816978"/>
                </a:lnTo>
                <a:lnTo>
                  <a:pt x="28963" y="758694"/>
                </a:lnTo>
                <a:lnTo>
                  <a:pt x="39055" y="701822"/>
                </a:lnTo>
                <a:lnTo>
                  <a:pt x="50532" y="646456"/>
                </a:lnTo>
                <a:lnTo>
                  <a:pt x="63349" y="592690"/>
                </a:lnTo>
                <a:lnTo>
                  <a:pt x="77460" y="540622"/>
                </a:lnTo>
                <a:lnTo>
                  <a:pt x="92821" y="490344"/>
                </a:lnTo>
                <a:lnTo>
                  <a:pt x="109388" y="441952"/>
                </a:lnTo>
                <a:lnTo>
                  <a:pt x="127114" y="395542"/>
                </a:lnTo>
                <a:lnTo>
                  <a:pt x="145956" y="351209"/>
                </a:lnTo>
                <a:lnTo>
                  <a:pt x="165868" y="309047"/>
                </a:lnTo>
                <a:lnTo>
                  <a:pt x="186805" y="269151"/>
                </a:lnTo>
                <a:lnTo>
                  <a:pt x="208723" y="231617"/>
                </a:lnTo>
                <a:lnTo>
                  <a:pt x="231577" y="196539"/>
                </a:lnTo>
                <a:lnTo>
                  <a:pt x="255321" y="164013"/>
                </a:lnTo>
                <a:lnTo>
                  <a:pt x="279911" y="134133"/>
                </a:lnTo>
                <a:lnTo>
                  <a:pt x="331449" y="82695"/>
                </a:lnTo>
                <a:lnTo>
                  <a:pt x="385831" y="42983"/>
                </a:lnTo>
                <a:lnTo>
                  <a:pt x="442699" y="15759"/>
                </a:lnTo>
                <a:lnTo>
                  <a:pt x="501693" y="1782"/>
                </a:lnTo>
                <a:lnTo>
                  <a:pt x="531876" y="0"/>
                </a:lnTo>
                <a:lnTo>
                  <a:pt x="562058" y="1782"/>
                </a:lnTo>
                <a:lnTo>
                  <a:pt x="621052" y="15759"/>
                </a:lnTo>
                <a:lnTo>
                  <a:pt x="677920" y="42983"/>
                </a:lnTo>
                <a:lnTo>
                  <a:pt x="732302" y="82695"/>
                </a:lnTo>
                <a:lnTo>
                  <a:pt x="783840" y="134133"/>
                </a:lnTo>
                <a:lnTo>
                  <a:pt x="808430" y="164013"/>
                </a:lnTo>
                <a:lnTo>
                  <a:pt x="832174" y="196539"/>
                </a:lnTo>
                <a:lnTo>
                  <a:pt x="855028" y="231617"/>
                </a:lnTo>
                <a:lnTo>
                  <a:pt x="876946" y="269151"/>
                </a:lnTo>
                <a:lnTo>
                  <a:pt x="897883" y="309047"/>
                </a:lnTo>
                <a:lnTo>
                  <a:pt x="917795" y="351209"/>
                </a:lnTo>
                <a:lnTo>
                  <a:pt x="936637" y="395542"/>
                </a:lnTo>
                <a:lnTo>
                  <a:pt x="954363" y="441952"/>
                </a:lnTo>
                <a:lnTo>
                  <a:pt x="970930" y="490344"/>
                </a:lnTo>
                <a:lnTo>
                  <a:pt x="986291" y="540622"/>
                </a:lnTo>
                <a:lnTo>
                  <a:pt x="1000402" y="592690"/>
                </a:lnTo>
                <a:lnTo>
                  <a:pt x="1013219" y="646456"/>
                </a:lnTo>
                <a:lnTo>
                  <a:pt x="1024696" y="701822"/>
                </a:lnTo>
                <a:lnTo>
                  <a:pt x="1034788" y="758694"/>
                </a:lnTo>
                <a:lnTo>
                  <a:pt x="1043451" y="816978"/>
                </a:lnTo>
                <a:lnTo>
                  <a:pt x="1050639" y="876578"/>
                </a:lnTo>
                <a:lnTo>
                  <a:pt x="1056309" y="937398"/>
                </a:lnTo>
                <a:lnTo>
                  <a:pt x="1060414" y="999345"/>
                </a:lnTo>
                <a:lnTo>
                  <a:pt x="1062910" y="1062322"/>
                </a:lnTo>
                <a:lnTo>
                  <a:pt x="1063752" y="1126235"/>
                </a:lnTo>
                <a:lnTo>
                  <a:pt x="1062910" y="1190149"/>
                </a:lnTo>
                <a:lnTo>
                  <a:pt x="1060414" y="1253126"/>
                </a:lnTo>
                <a:lnTo>
                  <a:pt x="1056309" y="1315073"/>
                </a:lnTo>
                <a:lnTo>
                  <a:pt x="1050639" y="1375893"/>
                </a:lnTo>
                <a:lnTo>
                  <a:pt x="1043451" y="1435493"/>
                </a:lnTo>
                <a:lnTo>
                  <a:pt x="1034788" y="1493777"/>
                </a:lnTo>
                <a:lnTo>
                  <a:pt x="1024696" y="1550649"/>
                </a:lnTo>
                <a:lnTo>
                  <a:pt x="1013219" y="1606015"/>
                </a:lnTo>
                <a:lnTo>
                  <a:pt x="1000402" y="1659781"/>
                </a:lnTo>
                <a:lnTo>
                  <a:pt x="986291" y="1711849"/>
                </a:lnTo>
                <a:lnTo>
                  <a:pt x="970930" y="1762127"/>
                </a:lnTo>
                <a:lnTo>
                  <a:pt x="954363" y="1810519"/>
                </a:lnTo>
                <a:lnTo>
                  <a:pt x="936637" y="1856929"/>
                </a:lnTo>
                <a:lnTo>
                  <a:pt x="917795" y="1901262"/>
                </a:lnTo>
                <a:lnTo>
                  <a:pt x="897883" y="1943424"/>
                </a:lnTo>
                <a:lnTo>
                  <a:pt x="876946" y="1983320"/>
                </a:lnTo>
                <a:lnTo>
                  <a:pt x="855028" y="2020854"/>
                </a:lnTo>
                <a:lnTo>
                  <a:pt x="832174" y="2055932"/>
                </a:lnTo>
                <a:lnTo>
                  <a:pt x="808430" y="2088458"/>
                </a:lnTo>
                <a:lnTo>
                  <a:pt x="783840" y="2118338"/>
                </a:lnTo>
                <a:lnTo>
                  <a:pt x="732302" y="2169776"/>
                </a:lnTo>
                <a:lnTo>
                  <a:pt x="677920" y="2209488"/>
                </a:lnTo>
                <a:lnTo>
                  <a:pt x="621052" y="2236712"/>
                </a:lnTo>
                <a:lnTo>
                  <a:pt x="562058" y="2250689"/>
                </a:lnTo>
                <a:lnTo>
                  <a:pt x="531876" y="2252472"/>
                </a:lnTo>
                <a:lnTo>
                  <a:pt x="501693" y="2250689"/>
                </a:lnTo>
                <a:lnTo>
                  <a:pt x="442699" y="2236712"/>
                </a:lnTo>
                <a:lnTo>
                  <a:pt x="385831" y="2209488"/>
                </a:lnTo>
                <a:lnTo>
                  <a:pt x="331449" y="2169776"/>
                </a:lnTo>
                <a:lnTo>
                  <a:pt x="279911" y="2118338"/>
                </a:lnTo>
                <a:lnTo>
                  <a:pt x="255321" y="2088458"/>
                </a:lnTo>
                <a:lnTo>
                  <a:pt x="231577" y="2055932"/>
                </a:lnTo>
                <a:lnTo>
                  <a:pt x="208723" y="2020854"/>
                </a:lnTo>
                <a:lnTo>
                  <a:pt x="186805" y="1983320"/>
                </a:lnTo>
                <a:lnTo>
                  <a:pt x="165868" y="1943424"/>
                </a:lnTo>
                <a:lnTo>
                  <a:pt x="145956" y="1901262"/>
                </a:lnTo>
                <a:lnTo>
                  <a:pt x="127114" y="1856929"/>
                </a:lnTo>
                <a:lnTo>
                  <a:pt x="109388" y="1810519"/>
                </a:lnTo>
                <a:lnTo>
                  <a:pt x="92821" y="1762127"/>
                </a:lnTo>
                <a:lnTo>
                  <a:pt x="77460" y="1711849"/>
                </a:lnTo>
                <a:lnTo>
                  <a:pt x="63349" y="1659781"/>
                </a:lnTo>
                <a:lnTo>
                  <a:pt x="50532" y="1606015"/>
                </a:lnTo>
                <a:lnTo>
                  <a:pt x="39055" y="1550649"/>
                </a:lnTo>
                <a:lnTo>
                  <a:pt x="28963" y="1493777"/>
                </a:lnTo>
                <a:lnTo>
                  <a:pt x="20300" y="1435493"/>
                </a:lnTo>
                <a:lnTo>
                  <a:pt x="13112" y="1375893"/>
                </a:lnTo>
                <a:lnTo>
                  <a:pt x="7442" y="1315073"/>
                </a:lnTo>
                <a:lnTo>
                  <a:pt x="3337" y="1253126"/>
                </a:lnTo>
                <a:lnTo>
                  <a:pt x="841" y="1190149"/>
                </a:lnTo>
                <a:lnTo>
                  <a:pt x="0" y="1126235"/>
                </a:lnTo>
                <a:close/>
              </a:path>
            </a:pathLst>
          </a:custGeom>
          <a:ln w="396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79483" y="2808731"/>
            <a:ext cx="180340" cy="222123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3426" y="5471261"/>
            <a:ext cx="165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929" y="1001824"/>
            <a:ext cx="10953750" cy="4588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3180">
              <a:lnSpc>
                <a:spcPct val="124700"/>
              </a:lnSpc>
              <a:spcBef>
                <a:spcPts val="90"/>
              </a:spcBef>
            </a:pP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function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said</a:t>
            </a:r>
            <a:r>
              <a:rPr sz="2400" b="1" spc="-2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to</a:t>
            </a:r>
            <a:r>
              <a:rPr sz="2400" b="1" spc="-2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be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recursively</a:t>
            </a:r>
            <a:r>
              <a:rPr sz="2400" b="1" spc="-1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defined</a:t>
            </a:r>
            <a:r>
              <a:rPr sz="2400" b="1" spc="-7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if</a:t>
            </a:r>
            <a:r>
              <a:rPr sz="2400" b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function</a:t>
            </a:r>
            <a:r>
              <a:rPr sz="2400" b="1" spc="-4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definition</a:t>
            </a:r>
            <a:r>
              <a:rPr sz="2400" b="1" spc="-7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refers</a:t>
            </a:r>
            <a:r>
              <a:rPr sz="2400" b="1" spc="-5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B24F3"/>
                </a:solidFill>
                <a:latin typeface="Times New Roman"/>
                <a:cs typeface="Times New Roman"/>
              </a:rPr>
              <a:t>to</a:t>
            </a:r>
            <a:r>
              <a:rPr sz="2400" b="1" spc="-30" dirty="0">
                <a:solidFill>
                  <a:srgbClr val="4B24F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B24F3"/>
                </a:solidFill>
                <a:latin typeface="Times New Roman"/>
                <a:cs typeface="Times New Roman"/>
              </a:rPr>
              <a:t>itself.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Def: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When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function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described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by</a:t>
            </a:r>
            <a:r>
              <a:rPr sz="24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recursive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method,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say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that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function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is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defined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recursively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or</a:t>
            </a: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that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function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specified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by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recursive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definition.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Def: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8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specified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recursive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definition</a:t>
            </a:r>
            <a:r>
              <a:rPr sz="2400" b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referred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recursive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function.</a:t>
            </a:r>
            <a:r>
              <a:rPr sz="24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Recursive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definition</a:t>
            </a:r>
            <a:r>
              <a:rPr sz="24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function</a:t>
            </a:r>
            <a:r>
              <a:rPr sz="24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should</a:t>
            </a:r>
            <a:r>
              <a:rPr sz="24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consist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parts.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24600"/>
              </a:lnSpc>
              <a:spcBef>
                <a:spcPts val="1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first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part,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few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values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</a:t>
            </a:r>
            <a:r>
              <a:rPr sz="24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must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indicated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explicitly</a:t>
            </a:r>
            <a:r>
              <a:rPr sz="24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in</a:t>
            </a:r>
            <a:r>
              <a:rPr sz="2400" b="1" spc="6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second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part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rule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which</a:t>
            </a:r>
            <a:r>
              <a:rPr sz="24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will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enable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us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to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obtain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new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values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function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from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values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already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known</a:t>
            </a:r>
            <a:r>
              <a:rPr sz="2400" b="1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must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be</a:t>
            </a:r>
            <a:r>
              <a:rPr sz="2400" b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indicated.</a:t>
            </a:r>
            <a:endParaRPr sz="2400">
              <a:latin typeface="Times New Roman"/>
              <a:cs typeface="Times New Roman"/>
            </a:endParaRPr>
          </a:p>
          <a:p>
            <a:pPr marL="12700" marR="34290">
              <a:lnSpc>
                <a:spcPct val="125000"/>
              </a:lnSpc>
              <a:spcBef>
                <a:spcPts val="5"/>
              </a:spcBef>
            </a:pP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This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rule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called</a:t>
            </a:r>
            <a:r>
              <a:rPr sz="2400" b="1" spc="-4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recursive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rule.</a:t>
            </a:r>
            <a:r>
              <a:rPr sz="2400" b="1" spc="-8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first</a:t>
            </a:r>
            <a:r>
              <a:rPr sz="24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part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of</a:t>
            </a:r>
            <a:r>
              <a:rPr sz="24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recursive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definition</a:t>
            </a:r>
            <a:r>
              <a:rPr sz="24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serves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as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C55A11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base</a:t>
            </a:r>
            <a:r>
              <a:rPr sz="24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for</a:t>
            </a:r>
            <a:r>
              <a:rPr sz="2400" b="1" spc="-8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second</a:t>
            </a:r>
            <a:r>
              <a:rPr sz="2400" b="1" spc="-1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part.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571" rIns="0" bIns="0" rtlCol="0">
            <a:spAutoFit/>
          </a:bodyPr>
          <a:lstStyle/>
          <a:p>
            <a:pPr marL="3209290">
              <a:lnSpc>
                <a:spcPct val="100000"/>
              </a:lnSpc>
              <a:spcBef>
                <a:spcPts val="95"/>
              </a:spcBef>
            </a:pPr>
            <a:r>
              <a:rPr dirty="0"/>
              <a:t>Recursive</a:t>
            </a:r>
            <a:r>
              <a:rPr spc="-90" dirty="0"/>
              <a:t> </a:t>
            </a:r>
            <a:r>
              <a:rPr spc="-10" dirty="0"/>
              <a:t>Function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844" y="1089532"/>
            <a:ext cx="10146665" cy="5033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648960">
              <a:lnSpc>
                <a:spcPct val="1242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Ex-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factorial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f(x)=n! </a:t>
            </a:r>
            <a:r>
              <a:rPr sz="2400" b="1" dirty="0">
                <a:latin typeface="Times New Roman"/>
                <a:cs typeface="Times New Roman"/>
              </a:rPr>
              <a:t>f(0)=1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f(n)=1.2.3…n,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solidFill>
                  <a:srgbClr val="006FC0"/>
                </a:solidFill>
                <a:latin typeface="Cambria Math"/>
                <a:cs typeface="Cambria Math"/>
              </a:rPr>
              <a:t>∈</a:t>
            </a:r>
            <a:r>
              <a:rPr sz="2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400" b="1" spc="-30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+</a:t>
            </a:r>
            <a:endParaRPr sz="2400" baseline="2430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recursive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method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4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describing</a:t>
            </a:r>
            <a:r>
              <a:rPr sz="2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this</a:t>
            </a:r>
            <a:r>
              <a:rPr sz="24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function</a:t>
            </a:r>
            <a:r>
              <a:rPr sz="24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is: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sz="2400" b="1" dirty="0">
                <a:latin typeface="Times New Roman"/>
                <a:cs typeface="Times New Roman"/>
              </a:rPr>
              <a:t>f(0)=1 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f(n)=nf(n-</a:t>
            </a:r>
            <a:r>
              <a:rPr sz="2400" b="1" spc="-25" dirty="0">
                <a:latin typeface="Times New Roman"/>
                <a:cs typeface="Times New Roman"/>
              </a:rPr>
              <a:t>1)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400" b="1" spc="-10" dirty="0">
                <a:latin typeface="Calibri"/>
                <a:cs typeface="Calibri"/>
              </a:rPr>
              <a:t>f(1)=1.f(1-1)=1.f(0)=1.1=1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latin typeface="Calibri"/>
                <a:cs typeface="Calibri"/>
              </a:rPr>
              <a:t>F(2)=2.f(2-1)=2.f(1)=2.1=2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latin typeface="Calibri"/>
                <a:cs typeface="Calibri"/>
              </a:rPr>
              <a:t>f(3)=3.f(3-1)=3.f(2)=3.2.1=6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Ex-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2: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Obtain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recursive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definition</a:t>
            </a:r>
            <a:r>
              <a:rPr sz="24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4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f(n)=a</a:t>
            </a:r>
            <a:r>
              <a:rPr sz="2400" b="1" baseline="-20833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400" b="1" spc="-22" baseline="-2083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following</a:t>
            </a:r>
            <a:endParaRPr sz="240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720"/>
              </a:spcBef>
              <a:tabLst>
                <a:tab pos="1143000" algn="l"/>
              </a:tabLst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i)a</a:t>
            </a:r>
            <a:r>
              <a:rPr sz="2400" b="1" spc="-15" baseline="-20833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=5n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	ii)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30" baseline="-20833" dirty="0">
                <a:solidFill>
                  <a:srgbClr val="FF0000"/>
                </a:solidFill>
                <a:latin typeface="Calibri"/>
                <a:cs typeface="Calibri"/>
              </a:rPr>
              <a:t>n=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2400" b="1" spc="-30" baseline="2430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endParaRPr sz="2400" baseline="24305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baseline="-20833" dirty="0">
                <a:latin typeface="Calibri"/>
                <a:cs typeface="Calibri"/>
              </a:rPr>
              <a:t>0</a:t>
            </a:r>
            <a:r>
              <a:rPr sz="2400" b="1" dirty="0">
                <a:latin typeface="Calibri"/>
                <a:cs typeface="Calibri"/>
              </a:rPr>
              <a:t>=0,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dirty="0">
                <a:latin typeface="Calibri"/>
                <a:cs typeface="Calibri"/>
              </a:rPr>
              <a:t>=5,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baseline="-20833" dirty="0">
                <a:latin typeface="Calibri"/>
                <a:cs typeface="Calibri"/>
              </a:rPr>
              <a:t>2</a:t>
            </a:r>
            <a:r>
              <a:rPr sz="2400" b="1" dirty="0">
                <a:latin typeface="Calibri"/>
                <a:cs typeface="Calibri"/>
              </a:rPr>
              <a:t>=10,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</a:t>
            </a:r>
            <a:r>
              <a:rPr sz="2400" b="1" spc="-30" baseline="-20833" dirty="0">
                <a:latin typeface="Calibri"/>
                <a:cs typeface="Calibri"/>
              </a:rPr>
              <a:t>3</a:t>
            </a:r>
            <a:r>
              <a:rPr sz="2400" b="1" spc="-20" dirty="0">
                <a:latin typeface="Calibri"/>
                <a:cs typeface="Calibri"/>
              </a:rPr>
              <a:t>=15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  <a:tabLst>
                <a:tab pos="1387475" algn="l"/>
              </a:tabLst>
            </a:pP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-15" baseline="-20833" dirty="0">
                <a:latin typeface="Calibri"/>
                <a:cs typeface="Calibri"/>
              </a:rPr>
              <a:t>n</a:t>
            </a:r>
            <a:r>
              <a:rPr sz="2400" b="1" spc="-10" dirty="0">
                <a:latin typeface="Calibri"/>
                <a:cs typeface="Calibri"/>
              </a:rPr>
              <a:t>=a</a:t>
            </a:r>
            <a:r>
              <a:rPr sz="2400" b="1" spc="-15" baseline="-20833" dirty="0">
                <a:latin typeface="Calibri"/>
                <a:cs typeface="Calibri"/>
              </a:rPr>
              <a:t>n-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spc="270" baseline="-20833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+5</a:t>
            </a:r>
            <a:r>
              <a:rPr sz="2400" b="1" dirty="0">
                <a:latin typeface="Calibri"/>
                <a:cs typeface="Calibri"/>
              </a:rPr>
              <a:t>	for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n&gt;=1.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017016"/>
            <a:ext cx="11153775" cy="413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144780">
              <a:lnSpc>
                <a:spcPct val="122900"/>
              </a:lnSpc>
              <a:spcBef>
                <a:spcPts val="135"/>
              </a:spcBef>
            </a:pPr>
            <a:r>
              <a:rPr sz="2400" b="1" dirty="0">
                <a:latin typeface="Times New Roman"/>
                <a:cs typeface="Times New Roman"/>
              </a:rPr>
              <a:t>lattices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have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important applications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theory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design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computers.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Definition:</a:t>
            </a:r>
            <a:r>
              <a:rPr sz="2400" b="1" spc="-1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lattice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partially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ordered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set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(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L,</a:t>
            </a:r>
            <a:r>
              <a:rPr sz="2400" b="1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≤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)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in</a:t>
            </a:r>
            <a:r>
              <a:rPr sz="2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which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every</a:t>
            </a:r>
            <a:r>
              <a:rPr sz="24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pair</a:t>
            </a:r>
            <a:r>
              <a:rPr sz="2400" b="1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elements</a:t>
            </a:r>
            <a:r>
              <a:rPr sz="2400" b="1" spc="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a,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500" dirty="0">
                <a:solidFill>
                  <a:srgbClr val="00AFEF"/>
                </a:solidFill>
                <a:latin typeface="Cambria Math"/>
                <a:cs typeface="Cambria Math"/>
              </a:rPr>
              <a:t>∈</a:t>
            </a:r>
            <a:r>
              <a:rPr sz="2500" spc="-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L</a:t>
            </a:r>
            <a:r>
              <a:rPr sz="2400" b="1" i="1" spc="-1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has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least</a:t>
            </a:r>
            <a:r>
              <a:rPr sz="24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upper</a:t>
            </a:r>
            <a:r>
              <a:rPr sz="2400" b="1" spc="-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bound</a:t>
            </a:r>
            <a:r>
              <a:rPr sz="24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greatest</a:t>
            </a:r>
            <a:r>
              <a:rPr sz="2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lower</a:t>
            </a:r>
            <a:r>
              <a:rPr sz="2400" b="1" spc="-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bound.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24300"/>
              </a:lnSpc>
              <a:spcBef>
                <a:spcPts val="5"/>
              </a:spcBef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Let</a:t>
            </a:r>
            <a:r>
              <a:rPr sz="2400" b="1" spc="-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(A,R)</a:t>
            </a:r>
            <a:r>
              <a:rPr sz="24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be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poset.</a:t>
            </a:r>
            <a:r>
              <a:rPr sz="2400" b="1" spc="-7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This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poset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called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Lattice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if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every</a:t>
            </a:r>
            <a:r>
              <a:rPr sz="2400" b="1" spc="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2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elements</a:t>
            </a:r>
            <a:r>
              <a:rPr sz="2400" b="1" spc="1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subset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A2BD4"/>
                </a:solidFill>
                <a:latin typeface="Times New Roman"/>
                <a:cs typeface="Times New Roman"/>
              </a:rPr>
              <a:t>of</a:t>
            </a:r>
            <a:r>
              <a:rPr sz="2400" b="1" spc="-1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has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least</a:t>
            </a:r>
            <a:r>
              <a:rPr sz="2400" b="1" spc="-5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upper</a:t>
            </a:r>
            <a:r>
              <a:rPr sz="2400" b="1" spc="-8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bound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greatest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lower</a:t>
            </a:r>
            <a:r>
              <a:rPr sz="2400" b="1" spc="-9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bound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in</a:t>
            </a:r>
            <a:r>
              <a:rPr sz="2400" b="1" spc="-1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LUB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element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subset{a,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b}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Symbol"/>
                <a:cs typeface="Symbol"/>
              </a:rPr>
              <a:t>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denoted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by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C00000"/>
                </a:solidFill>
                <a:latin typeface="Cambria Math"/>
                <a:cs typeface="Cambria Math"/>
              </a:rPr>
              <a:t>∨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b,</a:t>
            </a:r>
            <a:r>
              <a:rPr sz="24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read</a:t>
            </a:r>
            <a:r>
              <a:rPr sz="24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as</a:t>
            </a:r>
            <a:r>
              <a:rPr sz="24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join</a:t>
            </a:r>
            <a:r>
              <a:rPr sz="2400" b="1" i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400" b="1" i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4935855" algn="l"/>
              </a:tabLst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GLB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subset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denoted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by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C00000"/>
                </a:solidFill>
                <a:latin typeface="Cambria Math"/>
                <a:cs typeface="Cambria Math"/>
              </a:rPr>
              <a:t>∧</a:t>
            </a:r>
            <a:r>
              <a:rPr sz="2500" spc="1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b,</a:t>
            </a:r>
            <a:r>
              <a:rPr sz="2400" b="1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read</a:t>
            </a:r>
            <a:r>
              <a:rPr sz="2400" b="1" i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as</a:t>
            </a:r>
            <a:r>
              <a:rPr sz="2400" b="1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meet</a:t>
            </a:r>
            <a:r>
              <a:rPr sz="2400" b="1" i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every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elements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we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should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check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whether</a:t>
            </a:r>
            <a:r>
              <a:rPr sz="2400" b="1" spc="-8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it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has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LUB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&amp;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GLB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called</a:t>
            </a:r>
            <a:r>
              <a:rPr sz="24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lattice.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460" rIns="0" bIns="0" rtlCol="0">
            <a:spAutoFit/>
          </a:bodyPr>
          <a:lstStyle/>
          <a:p>
            <a:pPr marL="35775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Lattices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44" y="1279905"/>
            <a:ext cx="9632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Example: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Let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Z</a:t>
            </a:r>
            <a:r>
              <a:rPr sz="2400" b="1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400" b="1" spc="254" baseline="2430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denote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set</a:t>
            </a:r>
            <a:r>
              <a:rPr sz="24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all</a:t>
            </a:r>
            <a:r>
              <a:rPr sz="24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positive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integers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let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denote</a:t>
            </a:r>
            <a:r>
              <a:rPr sz="24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4544" y="1623915"/>
            <a:ext cx="11071860" cy="18738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5400" marR="17780" algn="just">
              <a:lnSpc>
                <a:spcPct val="121400"/>
              </a:lnSpc>
              <a:spcBef>
                <a:spcPts val="225"/>
              </a:spcBef>
            </a:pPr>
            <a:r>
              <a:rPr sz="2400" dirty="0">
                <a:solidFill>
                  <a:srgbClr val="00AF50"/>
                </a:solidFill>
              </a:rPr>
              <a:t>Relation</a:t>
            </a:r>
            <a:r>
              <a:rPr sz="2400" spc="57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‘division‘</a:t>
            </a:r>
            <a:r>
              <a:rPr sz="2400" spc="-5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in</a:t>
            </a:r>
            <a:r>
              <a:rPr sz="2400" spc="-3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Z</a:t>
            </a:r>
            <a:r>
              <a:rPr sz="2400" baseline="24305" dirty="0">
                <a:solidFill>
                  <a:srgbClr val="00AF50"/>
                </a:solidFill>
              </a:rPr>
              <a:t>+</a:t>
            </a:r>
            <a:r>
              <a:rPr sz="2400" dirty="0">
                <a:solidFill>
                  <a:srgbClr val="00AF50"/>
                </a:solidFill>
              </a:rPr>
              <a:t>,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such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that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for</a:t>
            </a:r>
            <a:r>
              <a:rPr sz="2400" spc="-7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any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two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elements</a:t>
            </a:r>
            <a:r>
              <a:rPr sz="2400" spc="5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a,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b="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500" b="0" spc="-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Z</a:t>
            </a:r>
            <a:r>
              <a:rPr sz="2400" baseline="24305" dirty="0">
                <a:solidFill>
                  <a:srgbClr val="00AF50"/>
                </a:solidFill>
              </a:rPr>
              <a:t>+</a:t>
            </a:r>
            <a:r>
              <a:rPr sz="2400" dirty="0">
                <a:solidFill>
                  <a:srgbClr val="00AF50"/>
                </a:solidFill>
              </a:rPr>
              <a:t>,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aRb</a:t>
            </a:r>
            <a:r>
              <a:rPr sz="2400" dirty="0">
                <a:solidFill>
                  <a:srgbClr val="00AF50"/>
                </a:solidFill>
              </a:rPr>
              <a:t>,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if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divides</a:t>
            </a:r>
            <a:r>
              <a:rPr sz="2400" spc="-35" dirty="0">
                <a:solidFill>
                  <a:srgbClr val="00AF50"/>
                </a:solidFill>
              </a:rPr>
              <a:t> 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00AF50"/>
                </a:solidFill>
              </a:rPr>
              <a:t>. </a:t>
            </a:r>
            <a:r>
              <a:rPr sz="2400" dirty="0">
                <a:solidFill>
                  <a:srgbClr val="00AF50"/>
                </a:solidFill>
              </a:rPr>
              <a:t>Then</a:t>
            </a:r>
            <a:r>
              <a:rPr sz="2400" spc="-3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(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Z</a:t>
            </a:r>
            <a:r>
              <a:rPr sz="2400" baseline="24305" dirty="0">
                <a:solidFill>
                  <a:srgbClr val="00AF50"/>
                </a:solidFill>
              </a:rPr>
              <a:t>+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sz="2400" i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00AF50"/>
                </a:solidFill>
              </a:rPr>
              <a:t>)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is</a:t>
            </a:r>
            <a:r>
              <a:rPr sz="2400" spc="-4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a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lattice</a:t>
            </a:r>
            <a:r>
              <a:rPr sz="2400" spc="-1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in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which</a:t>
            </a:r>
            <a:r>
              <a:rPr sz="2400" spc="-3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the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join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of</a:t>
            </a:r>
            <a:r>
              <a:rPr sz="2400" spc="-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and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is</a:t>
            </a:r>
            <a:r>
              <a:rPr sz="2400" spc="-3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the</a:t>
            </a:r>
            <a:r>
              <a:rPr sz="2400" spc="-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least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upper</a:t>
            </a:r>
            <a:r>
              <a:rPr sz="2400" spc="-7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bound</a:t>
            </a:r>
            <a:r>
              <a:rPr sz="2400" spc="-3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of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AF50"/>
                </a:solidFill>
              </a:rPr>
              <a:t>and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00AF50"/>
                </a:solidFill>
              </a:rPr>
              <a:t>,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i.e.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b="0" dirty="0">
                <a:solidFill>
                  <a:srgbClr val="00AF50"/>
                </a:solidFill>
                <a:latin typeface="Cambria Math"/>
                <a:cs typeface="Cambria Math"/>
              </a:rPr>
              <a:t>∨</a:t>
            </a:r>
            <a:r>
              <a:rPr sz="2500" b="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=</a:t>
            </a:r>
            <a:r>
              <a:rPr sz="2400" spc="-4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b="0" dirty="0">
                <a:solidFill>
                  <a:srgbClr val="00AF50"/>
                </a:solidFill>
                <a:latin typeface="Cambria Math"/>
                <a:cs typeface="Cambria Math"/>
              </a:rPr>
              <a:t>⊕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=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LUB</a:t>
            </a:r>
            <a:r>
              <a:rPr sz="2400" spc="-4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of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and</a:t>
            </a:r>
            <a:r>
              <a:rPr sz="2400" spc="-3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b,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and</a:t>
            </a:r>
            <a:r>
              <a:rPr sz="2400" spc="-1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the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meet</a:t>
            </a:r>
            <a:r>
              <a:rPr sz="2400" spc="1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of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and</a:t>
            </a:r>
            <a:r>
              <a:rPr sz="2400" spc="-10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00AF50"/>
                </a:solidFill>
              </a:rPr>
              <a:t>,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i.e.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b="0" dirty="0">
                <a:solidFill>
                  <a:srgbClr val="00AF50"/>
                </a:solidFill>
                <a:latin typeface="Cambria Math"/>
                <a:cs typeface="Cambria Math"/>
              </a:rPr>
              <a:t>∗</a:t>
            </a:r>
            <a:r>
              <a:rPr sz="2500" b="0" spc="-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is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the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spc="-10" dirty="0">
                <a:solidFill>
                  <a:srgbClr val="00AF50"/>
                </a:solidFill>
              </a:rPr>
              <a:t>greatest </a:t>
            </a:r>
            <a:r>
              <a:rPr sz="2400" dirty="0">
                <a:solidFill>
                  <a:srgbClr val="00AF50"/>
                </a:solidFill>
              </a:rPr>
              <a:t>lower</a:t>
            </a:r>
            <a:r>
              <a:rPr sz="2400" spc="-8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bound</a:t>
            </a:r>
            <a:r>
              <a:rPr sz="2400" spc="-4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(GUB)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of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and</a:t>
            </a:r>
            <a:r>
              <a:rPr sz="2400" spc="-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i.e.,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b="0" dirty="0">
                <a:solidFill>
                  <a:srgbClr val="00AF50"/>
                </a:solidFill>
                <a:latin typeface="Cambria Math"/>
                <a:cs typeface="Cambria Math"/>
              </a:rPr>
              <a:t>∧</a:t>
            </a:r>
            <a:r>
              <a:rPr sz="2500" b="0" spc="-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=</a:t>
            </a:r>
            <a:r>
              <a:rPr sz="2400" spc="-20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500" b="0" dirty="0">
                <a:solidFill>
                  <a:srgbClr val="00AF50"/>
                </a:solidFill>
                <a:latin typeface="Cambria Math"/>
                <a:cs typeface="Cambria Math"/>
              </a:rPr>
              <a:t>∗</a:t>
            </a:r>
            <a:r>
              <a:rPr sz="2500" b="0" spc="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=</a:t>
            </a:r>
            <a:r>
              <a:rPr sz="2400" spc="-50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GUB</a:t>
            </a:r>
            <a:r>
              <a:rPr sz="2400" spc="-1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of</a:t>
            </a:r>
            <a:r>
              <a:rPr sz="2400" spc="-25" dirty="0">
                <a:solidFill>
                  <a:srgbClr val="00AF50"/>
                </a:solidFill>
              </a:rPr>
              <a:t> </a:t>
            </a:r>
            <a:r>
              <a:rPr sz="2400" i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</a:rPr>
              <a:t>and</a:t>
            </a:r>
            <a:r>
              <a:rPr sz="2400" spc="-10" dirty="0">
                <a:solidFill>
                  <a:srgbClr val="00AF50"/>
                </a:solidFill>
              </a:rPr>
              <a:t> </a:t>
            </a:r>
            <a:r>
              <a:rPr sz="2400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b.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3933574"/>
            <a:ext cx="7865745" cy="93345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We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can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also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write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i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+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i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4A2BD4"/>
                </a:solidFill>
                <a:latin typeface="Cambria Math"/>
                <a:cs typeface="Cambria Math"/>
              </a:rPr>
              <a:t>∨</a:t>
            </a:r>
            <a:r>
              <a:rPr sz="2500" spc="5" dirty="0">
                <a:solidFill>
                  <a:srgbClr val="4A2BD4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i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4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i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A2BD4"/>
                </a:solidFill>
                <a:latin typeface="Cambria Math"/>
                <a:cs typeface="Cambria Math"/>
              </a:rPr>
              <a:t>⊕</a:t>
            </a:r>
            <a:r>
              <a:rPr sz="2500" spc="-5" dirty="0">
                <a:solidFill>
                  <a:srgbClr val="4A2BD4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i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LUB</a:t>
            </a:r>
            <a:r>
              <a:rPr sz="2400" b="1" spc="-5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of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i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i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a.</a:t>
            </a:r>
            <a:r>
              <a:rPr sz="2400" b="1" i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i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i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4A2BD4"/>
                </a:solidFill>
                <a:latin typeface="Cambria Math"/>
                <a:cs typeface="Cambria Math"/>
              </a:rPr>
              <a:t>∧</a:t>
            </a:r>
            <a:r>
              <a:rPr sz="2500" spc="10" dirty="0">
                <a:solidFill>
                  <a:srgbClr val="4A2BD4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i="1" spc="-2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4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500" dirty="0">
                <a:solidFill>
                  <a:srgbClr val="4A2BD4"/>
                </a:solidFill>
                <a:latin typeface="Cambria Math"/>
                <a:cs typeface="Cambria Math"/>
              </a:rPr>
              <a:t>∗</a:t>
            </a:r>
            <a:r>
              <a:rPr sz="2500" spc="30" dirty="0">
                <a:solidFill>
                  <a:srgbClr val="4A2BD4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i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=</a:t>
            </a:r>
            <a:r>
              <a:rPr sz="2400" b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GLB</a:t>
            </a:r>
            <a:r>
              <a:rPr sz="2400" b="1" spc="-30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of</a:t>
            </a:r>
            <a:r>
              <a:rPr sz="2400" b="1" spc="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A2BD4"/>
                </a:solidFill>
                <a:latin typeface="Times New Roman"/>
                <a:cs typeface="Times New Roman"/>
              </a:rPr>
              <a:t>a</a:t>
            </a:r>
            <a:r>
              <a:rPr sz="2400" b="1" i="1" spc="-1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A2BD4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4A2BD4"/>
                </a:solidFill>
                <a:latin typeface="Times New Roman"/>
                <a:cs typeface="Times New Roman"/>
              </a:rPr>
              <a:t>b</a:t>
            </a:r>
            <a:r>
              <a:rPr sz="2400" b="1" spc="-25" dirty="0">
                <a:solidFill>
                  <a:srgbClr val="4A2BD4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844" y="965641"/>
            <a:ext cx="8195309" cy="183133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Example:</a:t>
            </a:r>
            <a:r>
              <a:rPr sz="2200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Let</a:t>
            </a:r>
            <a:r>
              <a:rPr sz="2200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n</a:t>
            </a:r>
            <a:r>
              <a:rPr sz="2200" i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be</a:t>
            </a:r>
            <a:r>
              <a:rPr sz="2200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a</a:t>
            </a:r>
            <a:r>
              <a:rPr sz="2200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positive</a:t>
            </a:r>
            <a:r>
              <a:rPr sz="2200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integer</a:t>
            </a:r>
            <a:r>
              <a:rPr sz="2200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sz="2200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Sn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be</a:t>
            </a:r>
            <a:r>
              <a:rPr sz="2200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set</a:t>
            </a:r>
            <a:r>
              <a:rPr sz="2200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all</a:t>
            </a:r>
            <a:r>
              <a:rPr sz="2200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divisors</a:t>
            </a:r>
            <a:r>
              <a:rPr sz="2200" spc="-5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i="1" spc="-50" dirty="0">
                <a:solidFill>
                  <a:srgbClr val="C55A11"/>
                </a:solidFill>
                <a:latin typeface="Times New Roman"/>
                <a:cs typeface="Times New Roman"/>
              </a:rPr>
              <a:t>n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95"/>
              </a:spcBef>
            </a:pP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If</a:t>
            </a:r>
            <a:r>
              <a:rPr sz="2200" spc="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n</a:t>
            </a:r>
            <a:r>
              <a:rPr sz="2200" i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200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30,</a:t>
            </a:r>
            <a:r>
              <a:rPr sz="2200" spc="-2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S</a:t>
            </a:r>
            <a:r>
              <a:rPr sz="2175" baseline="-21072" dirty="0">
                <a:solidFill>
                  <a:srgbClr val="C55A11"/>
                </a:solidFill>
                <a:latin typeface="Times New Roman"/>
                <a:cs typeface="Times New Roman"/>
              </a:rPr>
              <a:t>30</a:t>
            </a:r>
            <a:r>
              <a:rPr sz="2175" spc="254" baseline="-21072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=</a:t>
            </a:r>
            <a:r>
              <a:rPr sz="2200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{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1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,</a:t>
            </a:r>
            <a:r>
              <a:rPr sz="2200" i="1" spc="-2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2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,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3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,</a:t>
            </a:r>
            <a:r>
              <a:rPr sz="2200" i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5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,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6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,</a:t>
            </a:r>
            <a:r>
              <a:rPr sz="2200" i="1" spc="-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10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,</a:t>
            </a:r>
            <a:r>
              <a:rPr sz="2200" i="1" spc="-3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5A11"/>
                </a:solidFill>
                <a:latin typeface="Times New Roman"/>
                <a:cs typeface="Times New Roman"/>
              </a:rPr>
              <a:t>15</a:t>
            </a:r>
            <a:r>
              <a:rPr sz="2200" i="1" dirty="0">
                <a:solidFill>
                  <a:srgbClr val="C55A11"/>
                </a:solidFill>
                <a:latin typeface="Times New Roman"/>
                <a:cs typeface="Times New Roman"/>
              </a:rPr>
              <a:t>, </a:t>
            </a:r>
            <a:r>
              <a:rPr sz="2200" spc="-20" dirty="0">
                <a:solidFill>
                  <a:srgbClr val="C55A11"/>
                </a:solidFill>
                <a:latin typeface="Times New Roman"/>
                <a:cs typeface="Times New Roman"/>
              </a:rPr>
              <a:t>30</a:t>
            </a:r>
            <a:r>
              <a:rPr sz="2200" i="1" spc="-20" dirty="0">
                <a:solidFill>
                  <a:srgbClr val="C55A11"/>
                </a:solidFill>
                <a:latin typeface="Times New Roman"/>
                <a:cs typeface="Times New Roman"/>
              </a:rPr>
              <a:t>}</a:t>
            </a:r>
            <a:r>
              <a:rPr sz="2200" spc="-20" dirty="0">
                <a:solidFill>
                  <a:srgbClr val="C55A11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2200" dirty="0">
                <a:latin typeface="Times New Roman"/>
                <a:cs typeface="Times New Roman"/>
              </a:rPr>
              <a:t>Let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 </a:t>
            </a:r>
            <a:r>
              <a:rPr sz="2200" dirty="0">
                <a:latin typeface="Times New Roman"/>
                <a:cs typeface="Times New Roman"/>
              </a:rPr>
              <a:t>denote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relation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division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19"/>
              </a:spcBef>
              <a:tabLst>
                <a:tab pos="3435985" algn="l"/>
              </a:tabLst>
            </a:pP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1.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baseline="-21072" dirty="0">
                <a:latin typeface="Times New Roman"/>
                <a:cs typeface="Times New Roman"/>
              </a:rPr>
              <a:t>30</a:t>
            </a:r>
            <a:r>
              <a:rPr sz="2200" i="1" dirty="0">
                <a:latin typeface="Times New Roman"/>
                <a:cs typeface="Times New Roman"/>
              </a:rPr>
              <a:t>,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Lattice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90"/>
              </a:spcBef>
            </a:pPr>
            <a:r>
              <a:rPr sz="2200" dirty="0">
                <a:latin typeface="Times New Roman"/>
                <a:cs typeface="Times New Roman"/>
              </a:rPr>
              <a:t>see</a:t>
            </a:r>
            <a:r>
              <a:rPr sz="2200" spc="-20" dirty="0">
                <a:latin typeface="Times New Roman"/>
                <a:cs typeface="Times New Roman"/>
              </a:rPr>
              <a:t> Fig: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4813554"/>
            <a:ext cx="10297795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R={(1,1),(1,2),(1,3),(1,5),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(1,6),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(1,10),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(1,15),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(1,30),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(2,2),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(2,6),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(2,10),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(2,30),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(3,3),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Calibri"/>
                <a:cs typeface="Calibri"/>
              </a:rPr>
              <a:t>(3,6),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(3,15),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(3,30),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(5,5),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(5,10),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(5,15),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(5,30),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(6,6),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(6,30),(10,10),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(10,30),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(15,15),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400" dirty="0">
                <a:latin typeface="Calibri"/>
                <a:cs typeface="Calibri"/>
              </a:rPr>
              <a:t>(15,30),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(30,30)}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5511" y="2596895"/>
            <a:ext cx="2270760" cy="223723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994" y="36576"/>
            <a:ext cx="886469" cy="9814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1328" y="170687"/>
            <a:ext cx="2757512" cy="47163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7244" y="1066096"/>
            <a:ext cx="10570845" cy="14446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85"/>
              </a:spcBef>
              <a:tabLst>
                <a:tab pos="5499735" algn="l"/>
              </a:tabLst>
            </a:pP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Example:</a:t>
            </a:r>
            <a:r>
              <a:rPr sz="24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Let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i="1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i="1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any</a:t>
            </a:r>
            <a:r>
              <a:rPr sz="24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set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i="1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2400" b="0" i="1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sz="2400" b="0" i="1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r>
              <a:rPr sz="24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its</a:t>
            </a:r>
            <a:r>
              <a:rPr sz="2400" b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power</a:t>
            </a:r>
            <a:r>
              <a:rPr sz="24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set.</a:t>
            </a:r>
            <a:r>
              <a:rPr sz="24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poset</a:t>
            </a:r>
            <a:r>
              <a:rPr sz="24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i="1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2400" b="0" i="1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sz="2400" b="0" i="1" dirty="0">
                <a:solidFill>
                  <a:srgbClr val="000000"/>
                </a:solidFill>
                <a:latin typeface="Calibri"/>
                <a:cs typeface="Calibri"/>
              </a:rPr>
              <a:t>A,</a:t>
            </a:r>
            <a:r>
              <a:rPr sz="2400" b="0" i="1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00" b="0" dirty="0">
                <a:solidFill>
                  <a:srgbClr val="000000"/>
                </a:solidFill>
                <a:latin typeface="Cambria Math"/>
                <a:cs typeface="Cambria Math"/>
              </a:rPr>
              <a:t>⊆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r>
              <a:rPr sz="24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4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lattice</a:t>
            </a:r>
            <a:r>
              <a:rPr sz="2400" b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which</a:t>
            </a:r>
            <a:r>
              <a:rPr sz="2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meet</a:t>
            </a:r>
            <a:r>
              <a:rPr sz="24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join</a:t>
            </a:r>
            <a:r>
              <a:rPr sz="24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2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same</a:t>
            </a:r>
            <a:r>
              <a:rPr sz="2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sz="24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operations</a:t>
            </a:r>
            <a:r>
              <a:rPr sz="2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i="1" dirty="0">
                <a:solidFill>
                  <a:srgbClr val="000000"/>
                </a:solidFill>
                <a:latin typeface="Calibri"/>
                <a:cs typeface="Calibri"/>
              </a:rPr>
              <a:t>∩</a:t>
            </a:r>
            <a:r>
              <a:rPr sz="2400" b="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00" b="0" dirty="0">
                <a:solidFill>
                  <a:srgbClr val="000000"/>
                </a:solidFill>
                <a:latin typeface="Cambria Math"/>
                <a:cs typeface="Cambria Math"/>
              </a:rPr>
              <a:t>∪</a:t>
            </a:r>
            <a:r>
              <a:rPr sz="2500" b="0" spc="-35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sz="2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sets</a:t>
            </a:r>
            <a:r>
              <a:rPr sz="24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respectively.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2800" b="0" i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{a}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2800" b="0" i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=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{ϕ,</a:t>
            </a:r>
            <a:r>
              <a:rPr sz="2800" b="0" i="1" spc="-20" dirty="0">
                <a:solidFill>
                  <a:srgbClr val="000000"/>
                </a:solidFill>
                <a:latin typeface="Calibri"/>
                <a:cs typeface="Calibri"/>
              </a:rPr>
              <a:t> {a}}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	S</a:t>
            </a:r>
            <a:r>
              <a:rPr sz="2800" b="0" i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=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{a,</a:t>
            </a:r>
            <a:r>
              <a:rPr sz="2800" b="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b}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2800" b="0" i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2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{ϕ,</a:t>
            </a:r>
            <a:r>
              <a:rPr sz="2800" b="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{a},</a:t>
            </a:r>
            <a:r>
              <a:rPr sz="2800" b="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dirty="0">
                <a:solidFill>
                  <a:srgbClr val="000000"/>
                </a:solidFill>
                <a:latin typeface="Calibri"/>
                <a:cs typeface="Calibri"/>
              </a:rPr>
              <a:t>{b},</a:t>
            </a:r>
            <a:r>
              <a:rPr sz="2800" b="0" i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1" spc="-25" dirty="0">
                <a:solidFill>
                  <a:srgbClr val="000000"/>
                </a:solidFill>
                <a:latin typeface="Calibri"/>
                <a:cs typeface="Calibri"/>
              </a:rPr>
              <a:t>S}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9383" y="3688079"/>
            <a:ext cx="1560575" cy="13441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0" y="3538728"/>
            <a:ext cx="1901952" cy="174345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1105661"/>
            <a:ext cx="3921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Ex:</a:t>
            </a:r>
            <a:r>
              <a:rPr sz="2400" b="0" spc="-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A={2,3,5,6,7,11,12,35,385}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4755337"/>
            <a:ext cx="9705340" cy="135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02835" algn="l"/>
              </a:tabLst>
            </a:pPr>
            <a:r>
              <a:rPr sz="2400" dirty="0">
                <a:latin typeface="Times New Roman"/>
                <a:cs typeface="Times New Roman"/>
              </a:rPr>
              <a:t>LUB{2,3}=6,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GLB{2,12}=2</a:t>
            </a:r>
            <a:r>
              <a:rPr sz="2400" dirty="0">
                <a:latin typeface="Times New Roman"/>
                <a:cs typeface="Times New Roman"/>
              </a:rPr>
              <a:t>	LUB{5,7}=35,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GLB{35,385}=35</a:t>
            </a:r>
            <a:endParaRPr sz="2400">
              <a:latin typeface="Times New Roman"/>
              <a:cs typeface="Times New Roman"/>
            </a:endParaRPr>
          </a:p>
          <a:p>
            <a:pPr marL="146685" marR="5080">
              <a:lnSpc>
                <a:spcPct val="100000"/>
              </a:lnSpc>
              <a:spcBef>
                <a:spcPts val="1825"/>
              </a:spcBef>
              <a:tabLst>
                <a:tab pos="3905885" algn="l"/>
                <a:tab pos="9539605" algn="l"/>
              </a:tabLst>
            </a:pP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We</a:t>
            </a:r>
            <a:r>
              <a:rPr sz="24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observe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v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and a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Cambria Math"/>
                <a:cs typeface="Cambria Math"/>
              </a:rPr>
              <a:t>∧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does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exist</a:t>
            </a:r>
            <a:r>
              <a:rPr sz="2400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all</a:t>
            </a:r>
            <a:r>
              <a:rPr sz="24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a,</a:t>
            </a:r>
            <a:r>
              <a:rPr sz="2400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400" spc="5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A.3v35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4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Cambria Math"/>
                <a:cs typeface="Cambria Math"/>
              </a:rPr>
              <a:t>∧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00AF50"/>
                </a:solidFill>
                <a:latin typeface="Times New Roman"/>
                <a:cs typeface="Times New Roman"/>
              </a:rPr>
              <a:t>3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does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exist</a:t>
            </a:r>
            <a:r>
              <a:rPr sz="2400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400" spc="-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400" spc="-1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Therefore (A,R)</a:t>
            </a:r>
            <a:r>
              <a:rPr sz="24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400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 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lattice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0448" y="2337816"/>
            <a:ext cx="1263650" cy="1450340"/>
          </a:xfrm>
          <a:custGeom>
            <a:avLst/>
            <a:gdLst/>
            <a:ahLst/>
            <a:cxnLst/>
            <a:rect l="l" t="t" r="r" b="b"/>
            <a:pathLst>
              <a:path w="1263650" h="1450339">
                <a:moveTo>
                  <a:pt x="0" y="1391031"/>
                </a:moveTo>
                <a:lnTo>
                  <a:pt x="711200" y="926592"/>
                </a:lnTo>
              </a:path>
              <a:path w="1263650" h="1450339">
                <a:moveTo>
                  <a:pt x="740663" y="941832"/>
                </a:moveTo>
                <a:lnTo>
                  <a:pt x="1263141" y="1449832"/>
                </a:lnTo>
              </a:path>
              <a:path w="1263650" h="1450339">
                <a:moveTo>
                  <a:pt x="725424" y="914400"/>
                </a:moveTo>
                <a:lnTo>
                  <a:pt x="739901" y="0"/>
                </a:lnTo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22526" y="379336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6467" y="387324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9579" y="292895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7297" y="195600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71488" y="2493264"/>
            <a:ext cx="2009775" cy="1705610"/>
            <a:chOff x="6571488" y="2493264"/>
            <a:chExt cx="2009775" cy="1705610"/>
          </a:xfrm>
        </p:grpSpPr>
        <p:sp>
          <p:nvSpPr>
            <p:cNvPr id="10" name="object 10"/>
            <p:cNvSpPr/>
            <p:nvPr/>
          </p:nvSpPr>
          <p:spPr>
            <a:xfrm>
              <a:off x="6574536" y="3541776"/>
              <a:ext cx="1438910" cy="654050"/>
            </a:xfrm>
            <a:custGeom>
              <a:avLst/>
              <a:gdLst/>
              <a:ahLst/>
              <a:cxnLst/>
              <a:rect l="l" t="t" r="r" b="b"/>
              <a:pathLst>
                <a:path w="1438909" h="654050">
                  <a:moveTo>
                    <a:pt x="0" y="653161"/>
                  </a:moveTo>
                  <a:lnTo>
                    <a:pt x="827278" y="0"/>
                  </a:lnTo>
                </a:path>
                <a:path w="1438909" h="654050">
                  <a:moveTo>
                    <a:pt x="829056" y="15239"/>
                  </a:moveTo>
                  <a:lnTo>
                    <a:pt x="1438656" y="653923"/>
                  </a:lnTo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15784" y="2496312"/>
              <a:ext cx="1905" cy="1059815"/>
            </a:xfrm>
            <a:custGeom>
              <a:avLst/>
              <a:gdLst/>
              <a:ahLst/>
              <a:cxnLst/>
              <a:rect l="l" t="t" r="r" b="b"/>
              <a:pathLst>
                <a:path w="1904" h="1059814">
                  <a:moveTo>
                    <a:pt x="0" y="1059561"/>
                  </a:moveTo>
                  <a:lnTo>
                    <a:pt x="1650" y="0"/>
                  </a:lnTo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31024" y="2526792"/>
              <a:ext cx="1146810" cy="943610"/>
            </a:xfrm>
            <a:custGeom>
              <a:avLst/>
              <a:gdLst/>
              <a:ahLst/>
              <a:cxnLst/>
              <a:rect l="l" t="t" r="r" b="b"/>
              <a:pathLst>
                <a:path w="1146809" h="943610">
                  <a:moveTo>
                    <a:pt x="0" y="0"/>
                  </a:moveTo>
                  <a:lnTo>
                    <a:pt x="1146682" y="943483"/>
                  </a:lnTo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66761" y="2079447"/>
            <a:ext cx="3733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385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63385" y="427222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8401" y="321203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92567" y="4301185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02420" y="347395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6516" y="677367"/>
            <a:ext cx="39185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Calibri"/>
                <a:cs typeface="Calibri"/>
              </a:rPr>
              <a:t>Some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Properties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Lattice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1625534"/>
            <a:ext cx="9835515" cy="934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95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Let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(L,</a:t>
            </a:r>
            <a:r>
              <a:rPr sz="2400" b="1" spc="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≤)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be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lattice</a:t>
            </a:r>
            <a:r>
              <a:rPr sz="24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∗</a:t>
            </a:r>
            <a:r>
              <a:rPr sz="2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4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⊕</a:t>
            </a:r>
            <a:r>
              <a:rPr sz="2400" spc="-9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denote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two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binary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operations</a:t>
            </a:r>
            <a:r>
              <a:rPr sz="24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meet</a:t>
            </a:r>
            <a:r>
              <a:rPr sz="2400" b="1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Calibri"/>
                <a:cs typeface="Calibri"/>
              </a:rPr>
              <a:t>and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join</a:t>
            </a:r>
            <a:r>
              <a:rPr sz="24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(L,</a:t>
            </a:r>
            <a:r>
              <a:rPr sz="2400" b="1" spc="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≤).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Then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for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any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a,</a:t>
            </a:r>
            <a:r>
              <a:rPr sz="24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b,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c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400" spc="-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L,</a:t>
            </a:r>
            <a:r>
              <a:rPr sz="24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we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have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2535188"/>
            <a:ext cx="2870200" cy="18516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(L1):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a,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(L2):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sz="2400" spc="-2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a,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(L3):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(b</a:t>
            </a:r>
            <a:r>
              <a:rPr sz="2400" spc="-1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c),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(L4):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spc="-5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a,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5809" y="2535188"/>
            <a:ext cx="5977255" cy="18516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(L1)′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spc="-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(Idempotent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laws)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(L2)′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sz="2400" b="1" spc="-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spc="-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(Commutative</a:t>
            </a:r>
            <a:r>
              <a:rPr sz="240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laws)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(L3)′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sz="2400" spc="-1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sz="2400" spc="-1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-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(b</a:t>
            </a:r>
            <a:r>
              <a:rPr sz="24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spc="-5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c)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(Associative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laws)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(L4)′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⊕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2400" spc="-2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(Absorption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laws).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4817945"/>
            <a:ext cx="9634855" cy="9353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above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properties</a:t>
            </a:r>
            <a:r>
              <a:rPr sz="2400" b="1" spc="-10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(L1)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to</a:t>
            </a:r>
            <a:r>
              <a:rPr sz="2400" b="1" spc="-5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(L4)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can</a:t>
            </a:r>
            <a:r>
              <a:rPr sz="2400" b="1" spc="-4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be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proved</a:t>
            </a:r>
            <a:r>
              <a:rPr sz="2400" b="1" spc="-6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easily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by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using</a:t>
            </a:r>
            <a:r>
              <a:rPr sz="2400" b="1" spc="-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definitions</a:t>
            </a:r>
            <a:r>
              <a:rPr sz="2400" b="1" spc="-9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meet</a:t>
            </a:r>
            <a:r>
              <a:rPr sz="2400" b="1" spc="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join.</a:t>
            </a:r>
            <a:r>
              <a:rPr sz="2400" b="1" spc="-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We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can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apply</a:t>
            </a:r>
            <a:r>
              <a:rPr sz="2400" b="1" spc="-4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principle</a:t>
            </a:r>
            <a:r>
              <a:rPr sz="2400" b="1" spc="-9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duality</a:t>
            </a:r>
            <a:r>
              <a:rPr sz="2400" b="1" spc="-6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obtain</a:t>
            </a:r>
            <a:r>
              <a:rPr sz="24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(L1)′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to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Calibri"/>
                <a:cs typeface="Calibri"/>
              </a:rPr>
              <a:t>(L4)′.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1855" y="1221105"/>
            <a:ext cx="4151629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dirty="0">
                <a:solidFill>
                  <a:srgbClr val="C55A11"/>
                </a:solidFill>
                <a:latin typeface="Calibri"/>
                <a:cs typeface="Calibri"/>
              </a:rPr>
              <a:t>Lattice</a:t>
            </a:r>
            <a:r>
              <a:rPr sz="26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55A11"/>
                </a:solidFill>
                <a:latin typeface="Calibri"/>
                <a:cs typeface="Calibri"/>
              </a:rPr>
              <a:t>as</a:t>
            </a:r>
            <a:r>
              <a:rPr sz="26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55A11"/>
                </a:solidFill>
                <a:latin typeface="Calibri"/>
                <a:cs typeface="Calibri"/>
              </a:rPr>
              <a:t>an</a:t>
            </a:r>
            <a:r>
              <a:rPr sz="2600" b="1" spc="-7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55A11"/>
                </a:solidFill>
                <a:latin typeface="Calibri"/>
                <a:cs typeface="Calibri"/>
              </a:rPr>
              <a:t>algebraic</a:t>
            </a:r>
            <a:r>
              <a:rPr sz="26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55A11"/>
                </a:solidFill>
                <a:latin typeface="Calibri"/>
                <a:cs typeface="Calibri"/>
              </a:rPr>
              <a:t>system: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1855" y="1615805"/>
            <a:ext cx="10958195" cy="148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82980">
              <a:lnSpc>
                <a:spcPct val="122400"/>
              </a:lnSpc>
              <a:spcBef>
                <a:spcPts val="100"/>
              </a:spcBef>
            </a:pP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We</a:t>
            </a:r>
            <a:r>
              <a:rPr sz="2600" b="1" spc="-6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now</a:t>
            </a:r>
            <a:r>
              <a:rPr sz="2600" b="1" spc="-8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define</a:t>
            </a:r>
            <a:r>
              <a:rPr sz="2600" b="1" spc="-3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lattice</a:t>
            </a:r>
            <a:r>
              <a:rPr sz="2600" b="1" spc="-5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as</a:t>
            </a:r>
            <a:r>
              <a:rPr sz="2600" b="1" spc="-8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an</a:t>
            </a:r>
            <a:r>
              <a:rPr sz="2600" b="1" spc="-5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A2BD4"/>
                </a:solidFill>
                <a:latin typeface="Calibri"/>
                <a:cs typeface="Calibri"/>
              </a:rPr>
              <a:t>algebraic</a:t>
            </a:r>
            <a:r>
              <a:rPr sz="2600" b="1" spc="-2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A2BD4"/>
                </a:solidFill>
                <a:latin typeface="Calibri"/>
                <a:cs typeface="Calibri"/>
              </a:rPr>
              <a:t>system,</a:t>
            </a:r>
            <a:r>
              <a:rPr sz="2600" b="1" spc="-3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so</a:t>
            </a:r>
            <a:r>
              <a:rPr sz="2600" b="1" spc="-7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that</a:t>
            </a:r>
            <a:r>
              <a:rPr sz="2600" b="1" spc="-5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we</a:t>
            </a:r>
            <a:r>
              <a:rPr sz="2600" b="1" spc="-5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can</a:t>
            </a:r>
            <a:r>
              <a:rPr sz="2600" b="1" spc="-5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apply</a:t>
            </a:r>
            <a:r>
              <a:rPr sz="2600" b="1" spc="-4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4A2BD4"/>
                </a:solidFill>
                <a:latin typeface="Calibri"/>
                <a:cs typeface="Calibri"/>
              </a:rPr>
              <a:t>many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concepts</a:t>
            </a:r>
            <a:r>
              <a:rPr sz="2600" b="1" spc="-5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associated</a:t>
            </a:r>
            <a:r>
              <a:rPr sz="2600" b="1" spc="-7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with</a:t>
            </a:r>
            <a:r>
              <a:rPr sz="2600" b="1" spc="-9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A2BD4"/>
                </a:solidFill>
                <a:latin typeface="Calibri"/>
                <a:cs typeface="Calibri"/>
              </a:rPr>
              <a:t>algebraic</a:t>
            </a:r>
            <a:r>
              <a:rPr sz="2600" b="1" spc="-6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A2BD4"/>
                </a:solidFill>
                <a:latin typeface="Calibri"/>
                <a:cs typeface="Calibri"/>
              </a:rPr>
              <a:t>systems</a:t>
            </a:r>
            <a:r>
              <a:rPr sz="2600" b="1" spc="-75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A2BD4"/>
                </a:solidFill>
                <a:latin typeface="Calibri"/>
                <a:cs typeface="Calibri"/>
              </a:rPr>
              <a:t>to</a:t>
            </a:r>
            <a:r>
              <a:rPr sz="2600" b="1" spc="-110" dirty="0">
                <a:solidFill>
                  <a:srgbClr val="4A2BD4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A2BD4"/>
                </a:solidFill>
                <a:latin typeface="Calibri"/>
                <a:cs typeface="Calibri"/>
              </a:rPr>
              <a:t>lattices.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Definition:</a:t>
            </a:r>
            <a:r>
              <a:rPr sz="26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600" b="1" spc="-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lattice</a:t>
            </a:r>
            <a:r>
              <a:rPr sz="26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is</a:t>
            </a:r>
            <a:r>
              <a:rPr sz="2600" b="1" spc="-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an</a:t>
            </a:r>
            <a:r>
              <a:rPr sz="26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algebraic</a:t>
            </a:r>
            <a:r>
              <a:rPr sz="26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system</a:t>
            </a:r>
            <a:r>
              <a:rPr sz="26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(L,</a:t>
            </a:r>
            <a:r>
              <a:rPr sz="26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00AFEF"/>
                </a:solidFill>
                <a:latin typeface="Cambria Math"/>
                <a:cs typeface="Cambria Math"/>
              </a:rPr>
              <a:t>∗</a:t>
            </a:r>
            <a:r>
              <a:rPr sz="2600" b="1" spc="-20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700" spc="-20" dirty="0">
                <a:solidFill>
                  <a:srgbClr val="00AFEF"/>
                </a:solidFill>
                <a:latin typeface="Cambria Math"/>
                <a:cs typeface="Cambria Math"/>
              </a:rPr>
              <a:t>⊕</a:t>
            </a:r>
            <a:r>
              <a:rPr sz="2600" b="1" spc="-20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600" b="1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with</a:t>
            </a:r>
            <a:r>
              <a:rPr sz="26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two</a:t>
            </a:r>
            <a:r>
              <a:rPr sz="26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binary</a:t>
            </a:r>
            <a:r>
              <a:rPr sz="2600" b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operation </a:t>
            </a:r>
            <a:r>
              <a:rPr sz="2600" b="1" spc="-25" dirty="0">
                <a:solidFill>
                  <a:srgbClr val="00AFEF"/>
                </a:solidFill>
                <a:latin typeface="Calibri"/>
                <a:cs typeface="Calibri"/>
              </a:rPr>
              <a:t>‘</a:t>
            </a:r>
            <a:r>
              <a:rPr sz="2600" spc="-25" dirty="0">
                <a:solidFill>
                  <a:srgbClr val="00AFEF"/>
                </a:solidFill>
                <a:latin typeface="Cambria Math"/>
                <a:cs typeface="Cambria Math"/>
              </a:rPr>
              <a:t>∗</a:t>
            </a:r>
            <a:r>
              <a:rPr sz="2600" b="1" spc="-25" dirty="0">
                <a:solidFill>
                  <a:srgbClr val="00AFEF"/>
                </a:solidFill>
                <a:latin typeface="Calibri"/>
                <a:cs typeface="Calibri"/>
              </a:rPr>
              <a:t>‘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855" y="3055629"/>
            <a:ext cx="9499600" cy="100711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65"/>
              </a:spcBef>
            </a:pP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6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spc="-35" dirty="0">
                <a:solidFill>
                  <a:srgbClr val="00AFEF"/>
                </a:solidFill>
                <a:latin typeface="Calibri"/>
                <a:cs typeface="Calibri"/>
              </a:rPr>
              <a:t>‘</a:t>
            </a:r>
            <a:r>
              <a:rPr sz="2700" spc="-35" dirty="0">
                <a:solidFill>
                  <a:srgbClr val="00AFEF"/>
                </a:solidFill>
                <a:latin typeface="Cambria Math"/>
                <a:cs typeface="Cambria Math"/>
              </a:rPr>
              <a:t>⊕</a:t>
            </a:r>
            <a:r>
              <a:rPr sz="2600" b="1" spc="-35" dirty="0">
                <a:solidFill>
                  <a:srgbClr val="00AFEF"/>
                </a:solidFill>
                <a:latin typeface="Calibri"/>
                <a:cs typeface="Calibri"/>
              </a:rPr>
              <a:t>‘</a:t>
            </a:r>
            <a:r>
              <a:rPr sz="2600" b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on</a:t>
            </a:r>
            <a:r>
              <a:rPr sz="26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6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which</a:t>
            </a:r>
            <a:r>
              <a:rPr sz="26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are</a:t>
            </a:r>
            <a:r>
              <a:rPr sz="2600" b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both</a:t>
            </a:r>
            <a:r>
              <a:rPr sz="2600" b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commutative</a:t>
            </a:r>
            <a:r>
              <a:rPr sz="2600" b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600" b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associative</a:t>
            </a:r>
            <a:r>
              <a:rPr sz="26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600" b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satisfy 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absorption</a:t>
            </a:r>
            <a:r>
              <a:rPr sz="2600" b="1" spc="-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00AFEF"/>
                </a:solidFill>
                <a:latin typeface="Calibri"/>
                <a:cs typeface="Calibri"/>
              </a:rPr>
              <a:t>laws.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9117" y="677037"/>
            <a:ext cx="419163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Special</a:t>
            </a:r>
            <a:r>
              <a:rPr spc="-50" dirty="0"/>
              <a:t> </a:t>
            </a:r>
            <a:r>
              <a:rPr dirty="0"/>
              <a:t>types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Lattices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0831" y="1854976"/>
            <a:ext cx="3584575" cy="1563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5275" indent="-295275">
              <a:lnSpc>
                <a:spcPct val="100000"/>
              </a:lnSpc>
              <a:spcBef>
                <a:spcPts val="775"/>
              </a:spcBef>
              <a:buSzPct val="96428"/>
              <a:buFont typeface="Wingdings"/>
              <a:buChar char=""/>
              <a:tabLst>
                <a:tab pos="295275" algn="l"/>
              </a:tabLst>
            </a:pP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Bounded</a:t>
            </a:r>
            <a:r>
              <a:rPr sz="28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EF"/>
                </a:solidFill>
                <a:latin typeface="Calibri"/>
                <a:cs typeface="Calibri"/>
              </a:rPr>
              <a:t>Lattice</a:t>
            </a:r>
            <a:endParaRPr sz="2800">
              <a:latin typeface="Calibri"/>
              <a:cs typeface="Calibri"/>
            </a:endParaRPr>
          </a:p>
          <a:p>
            <a:pPr marL="295910" indent="-295275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10" dirty="0">
                <a:solidFill>
                  <a:srgbClr val="C55A11"/>
                </a:solidFill>
                <a:latin typeface="Calibri"/>
                <a:cs typeface="Calibri"/>
              </a:rPr>
              <a:t>Distributive</a:t>
            </a:r>
            <a:r>
              <a:rPr sz="28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55A11"/>
                </a:solidFill>
                <a:latin typeface="Calibri"/>
                <a:cs typeface="Calibri"/>
              </a:rPr>
              <a:t>lattice</a:t>
            </a:r>
            <a:endParaRPr sz="2800">
              <a:latin typeface="Calibri"/>
              <a:cs typeface="Calibri"/>
            </a:endParaRPr>
          </a:p>
          <a:p>
            <a:pPr marL="295910" indent="-295275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dirty="0">
                <a:solidFill>
                  <a:srgbClr val="4B24F3"/>
                </a:solidFill>
                <a:latin typeface="Calibri"/>
                <a:cs typeface="Calibri"/>
              </a:rPr>
              <a:t>Complemented</a:t>
            </a:r>
            <a:r>
              <a:rPr sz="2800" b="1" spc="-1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B24F3"/>
                </a:solidFill>
                <a:latin typeface="Calibri"/>
                <a:cs typeface="Calibri"/>
              </a:rPr>
              <a:t>lattice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884993"/>
            <a:ext cx="10318115" cy="47396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Bounded</a:t>
            </a:r>
            <a:r>
              <a:rPr sz="26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Lattice:</a:t>
            </a:r>
            <a:endParaRPr sz="2600">
              <a:latin typeface="Calibri"/>
              <a:cs typeface="Calibri"/>
            </a:endParaRPr>
          </a:p>
          <a:p>
            <a:pPr marL="12700" marR="479425" algn="just">
              <a:lnSpc>
                <a:spcPct val="122000"/>
              </a:lnSpc>
              <a:spcBef>
                <a:spcPts val="10"/>
              </a:spcBef>
            </a:pP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600" b="1" spc="-6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Lattice</a:t>
            </a:r>
            <a:r>
              <a:rPr sz="26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(L,R)</a:t>
            </a:r>
            <a:r>
              <a:rPr sz="2600" b="1" spc="-6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z="2600" b="1" spc="-7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said</a:t>
            </a:r>
            <a:r>
              <a:rPr sz="26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to</a:t>
            </a:r>
            <a:r>
              <a:rPr sz="2600" b="1"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bounded</a:t>
            </a:r>
            <a:r>
              <a:rPr sz="26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if</a:t>
            </a:r>
            <a:r>
              <a:rPr sz="2600" b="1" spc="-7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it</a:t>
            </a:r>
            <a:r>
              <a:rPr sz="2600" b="1" spc="-6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has</a:t>
            </a:r>
            <a:r>
              <a:rPr sz="26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600" b="1" spc="-6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greatest</a:t>
            </a:r>
            <a:r>
              <a:rPr sz="2600" b="1" spc="5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z="2600" b="1"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and</a:t>
            </a:r>
            <a:r>
              <a:rPr sz="26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600" b="1" spc="-6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B24F3"/>
                </a:solidFill>
                <a:latin typeface="Calibri"/>
                <a:cs typeface="Calibri"/>
              </a:rPr>
              <a:t>least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element.</a:t>
            </a:r>
            <a:r>
              <a:rPr sz="26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In</a:t>
            </a:r>
            <a:r>
              <a:rPr sz="2600" b="1" spc="-7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600" b="1" spc="-8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bounded</a:t>
            </a:r>
            <a:r>
              <a:rPr sz="2600" b="1"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lattice,</a:t>
            </a:r>
            <a:r>
              <a:rPr sz="2600" b="1"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600" b="1" spc="-8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B24F3"/>
                </a:solidFill>
                <a:latin typeface="Calibri"/>
                <a:cs typeface="Calibri"/>
              </a:rPr>
              <a:t>greatest</a:t>
            </a:r>
            <a:r>
              <a:rPr sz="26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z="2600" b="1"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z="2600" b="1" spc="-10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denoted</a:t>
            </a:r>
            <a:r>
              <a:rPr sz="26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by</a:t>
            </a:r>
            <a:r>
              <a:rPr sz="2600" b="1" spc="-6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I,</a:t>
            </a:r>
            <a:r>
              <a:rPr sz="2600" b="1" spc="-8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and</a:t>
            </a:r>
            <a:r>
              <a:rPr sz="2600" b="1"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spc="-50" dirty="0">
                <a:solidFill>
                  <a:srgbClr val="4B24F3"/>
                </a:solidFill>
                <a:latin typeface="Calibri"/>
                <a:cs typeface="Calibri"/>
              </a:rPr>
              <a:t>a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least</a:t>
            </a:r>
            <a:r>
              <a:rPr sz="2600" b="1" spc="-7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z="2600" b="1"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B24F3"/>
                </a:solidFill>
                <a:latin typeface="Calibri"/>
                <a:cs typeface="Calibri"/>
              </a:rPr>
              <a:t>by</a:t>
            </a:r>
            <a:r>
              <a:rPr sz="2600" b="1" spc="-6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4B24F3"/>
                </a:solidFill>
                <a:latin typeface="Calibri"/>
                <a:cs typeface="Calibri"/>
              </a:rPr>
              <a:t>0.</a:t>
            </a:r>
            <a:endParaRPr sz="2600">
              <a:latin typeface="Calibri"/>
              <a:cs typeface="Calibri"/>
            </a:endParaRPr>
          </a:p>
          <a:p>
            <a:pPr marL="12700" marR="5080" algn="just">
              <a:lnSpc>
                <a:spcPts val="3840"/>
              </a:lnSpc>
              <a:spcBef>
                <a:spcPts val="225"/>
              </a:spcBef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6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bounded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lattice</a:t>
            </a:r>
            <a:r>
              <a:rPr sz="26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6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an</a:t>
            </a:r>
            <a:r>
              <a:rPr sz="26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algebraic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structure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(L,</a:t>
            </a:r>
            <a:r>
              <a:rPr sz="26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v,</a:t>
            </a:r>
            <a:r>
              <a:rPr sz="26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Ʌ,0,1)</a:t>
            </a:r>
            <a:r>
              <a:rPr sz="26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such</a:t>
            </a:r>
            <a:r>
              <a:rPr sz="26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that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(L,</a:t>
            </a:r>
            <a:r>
              <a:rPr sz="26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v,</a:t>
            </a:r>
            <a:r>
              <a:rPr sz="26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Ʌ)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6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lattice,</a:t>
            </a:r>
            <a:r>
              <a:rPr sz="26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6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6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constants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0,I</a:t>
            </a:r>
            <a:r>
              <a:rPr sz="26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600" spc="-10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L</a:t>
            </a:r>
            <a:r>
              <a:rPr sz="26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satisfy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6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following:</a:t>
            </a:r>
            <a:endParaRPr sz="2600">
              <a:latin typeface="Calibri"/>
              <a:cs typeface="Calibri"/>
            </a:endParaRPr>
          </a:p>
          <a:p>
            <a:pPr marL="469265" algn="just">
              <a:lnSpc>
                <a:spcPts val="3045"/>
              </a:lnSpc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for</a:t>
            </a:r>
            <a:r>
              <a:rPr sz="26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all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6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600" spc="-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L,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xR1,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6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Ʌ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I=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6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600" b="1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I=</a:t>
            </a:r>
            <a:r>
              <a:rPr sz="2600" b="1" spc="-2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endParaRPr sz="2600">
              <a:latin typeface="Calibri"/>
              <a:cs typeface="Calibri"/>
            </a:endParaRPr>
          </a:p>
          <a:p>
            <a:pPr marL="469265" algn="just">
              <a:lnSpc>
                <a:spcPct val="100000"/>
              </a:lnSpc>
              <a:spcBef>
                <a:spcPts val="195"/>
              </a:spcBef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for</a:t>
            </a:r>
            <a:r>
              <a:rPr sz="26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all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600" dirty="0">
                <a:solidFill>
                  <a:srgbClr val="00AF50"/>
                </a:solidFill>
                <a:latin typeface="Cambria Math"/>
                <a:cs typeface="Cambria Math"/>
              </a:rPr>
              <a:t>∈</a:t>
            </a:r>
            <a:r>
              <a:rPr sz="2600" spc="-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L,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xR0,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6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Ʌ</a:t>
            </a:r>
            <a:r>
              <a:rPr sz="26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0=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6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600" b="1" spc="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 0=</a:t>
            </a:r>
            <a:r>
              <a:rPr sz="2600" b="1" spc="-2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12700" marR="274955" algn="just">
              <a:lnSpc>
                <a:spcPts val="3820"/>
              </a:lnSpc>
              <a:spcBef>
                <a:spcPts val="70"/>
              </a:spcBef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6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element</a:t>
            </a:r>
            <a:r>
              <a:rPr sz="2600" b="1" spc="5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I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6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called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6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upper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bound,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or</a:t>
            </a:r>
            <a:r>
              <a:rPr sz="26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top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L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element</a:t>
            </a:r>
            <a:r>
              <a:rPr sz="2600" b="1" spc="5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0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is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called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6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lower</a:t>
            </a:r>
            <a:r>
              <a:rPr sz="26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bound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or</a:t>
            </a:r>
            <a:r>
              <a:rPr sz="26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bottom</a:t>
            </a:r>
            <a:r>
              <a:rPr sz="26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6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L.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3089" y="596341"/>
            <a:ext cx="254698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0" dirty="0">
                <a:latin typeface="Calibri"/>
                <a:cs typeface="Calibri"/>
              </a:rPr>
              <a:t>Distributive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lattice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3255" y="997812"/>
            <a:ext cx="10374630" cy="517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5"/>
              </a:spcBef>
            </a:pP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lattice</a:t>
            </a:r>
            <a:r>
              <a:rPr sz="2200" b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∨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∧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is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distributive</a:t>
            </a:r>
            <a:r>
              <a:rPr sz="2200" b="1" spc="-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if</a:t>
            </a:r>
            <a:r>
              <a:rPr sz="22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following</a:t>
            </a:r>
            <a:r>
              <a:rPr sz="2200" b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additional</a:t>
            </a:r>
            <a:r>
              <a:rPr sz="22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identity</a:t>
            </a:r>
            <a:r>
              <a:rPr sz="22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holds</a:t>
            </a:r>
            <a:r>
              <a:rPr sz="22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for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all</a:t>
            </a:r>
            <a:r>
              <a:rPr sz="2200" b="1" spc="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y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z</a:t>
            </a:r>
            <a:r>
              <a:rPr sz="22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in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:</a:t>
            </a:r>
            <a:r>
              <a:rPr sz="2200" b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i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∧</a:t>
            </a:r>
            <a:r>
              <a:rPr sz="2200" spc="-3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y</a:t>
            </a:r>
            <a:r>
              <a:rPr sz="22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∨</a:t>
            </a:r>
            <a:r>
              <a:rPr sz="2200" spc="-3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z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∧</a:t>
            </a:r>
            <a:r>
              <a:rPr sz="2200" spc="-3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y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∨</a:t>
            </a:r>
            <a:r>
              <a:rPr sz="2200" spc="-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∧</a:t>
            </a:r>
            <a:r>
              <a:rPr sz="2200" spc="-3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z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Viewing</a:t>
            </a:r>
            <a:r>
              <a:rPr sz="2200" b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lattices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as</a:t>
            </a:r>
            <a:r>
              <a:rPr sz="2200" b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partially</a:t>
            </a:r>
            <a:r>
              <a:rPr sz="2200" b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ordered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sets,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this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says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that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the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meet</a:t>
            </a:r>
            <a:r>
              <a:rPr sz="22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operation</a:t>
            </a:r>
            <a:r>
              <a:rPr sz="22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preserves</a:t>
            </a:r>
            <a:r>
              <a:rPr sz="2200" b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nonempty</a:t>
            </a:r>
            <a:r>
              <a:rPr sz="22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finite</a:t>
            </a:r>
            <a:r>
              <a:rPr sz="2200" b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joins.</a:t>
            </a:r>
            <a:r>
              <a:rPr sz="2200" b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It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is</a:t>
            </a:r>
            <a:r>
              <a:rPr sz="2200" b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200" b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basic</a:t>
            </a:r>
            <a:r>
              <a:rPr sz="2200" b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fact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of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lattice</a:t>
            </a:r>
            <a:r>
              <a:rPr sz="2200" b="1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theory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that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the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above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condition</a:t>
            </a:r>
            <a:r>
              <a:rPr sz="22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is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equivalent</a:t>
            </a:r>
            <a:r>
              <a:rPr sz="22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to</a:t>
            </a:r>
            <a:r>
              <a:rPr sz="2200" b="1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its</a:t>
            </a:r>
            <a:r>
              <a:rPr sz="22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dual</a:t>
            </a:r>
            <a:r>
              <a:rPr sz="2200" b="1" spc="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i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∨</a:t>
            </a:r>
            <a:r>
              <a:rPr sz="2200" spc="-4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y</a:t>
            </a:r>
            <a:r>
              <a:rPr sz="2200" b="1" i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∧</a:t>
            </a:r>
            <a:r>
              <a:rPr sz="2200" spc="-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z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∨</a:t>
            </a:r>
            <a:r>
              <a:rPr sz="2200" spc="-2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y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∧</a:t>
            </a:r>
            <a:r>
              <a:rPr sz="2200" spc="-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i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∨</a:t>
            </a:r>
            <a:r>
              <a:rPr sz="2200" spc="-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z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for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all</a:t>
            </a:r>
            <a:r>
              <a:rPr sz="22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x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y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2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z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in</a:t>
            </a:r>
            <a:r>
              <a:rPr sz="22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spc="-25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.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r>
              <a:rPr sz="22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Show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22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following</a:t>
            </a:r>
            <a:r>
              <a:rPr sz="22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simple</a:t>
            </a:r>
            <a:r>
              <a:rPr sz="22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but</a:t>
            </a:r>
            <a:r>
              <a:rPr sz="2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significant</a:t>
            </a:r>
            <a:r>
              <a:rPr sz="22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lattices</a:t>
            </a:r>
            <a:r>
              <a:rPr sz="22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2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Distributive.</a:t>
            </a:r>
            <a:endParaRPr sz="2200">
              <a:latin typeface="Calibri"/>
              <a:cs typeface="Calibri"/>
            </a:endParaRPr>
          </a:p>
          <a:p>
            <a:pPr marL="12700" marR="5337175">
              <a:lnSpc>
                <a:spcPct val="127800"/>
              </a:lnSpc>
              <a:spcBef>
                <a:spcPts val="10"/>
              </a:spcBef>
            </a:pP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Solution</a:t>
            </a:r>
            <a:r>
              <a:rPr sz="22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a)</a:t>
            </a:r>
            <a:r>
              <a:rPr sz="22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90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2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see</a:t>
            </a:r>
            <a:r>
              <a:rPr sz="22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that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2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diamond</a:t>
            </a:r>
            <a:r>
              <a:rPr sz="22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lattice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not</a:t>
            </a:r>
            <a:r>
              <a:rPr sz="22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distributive,</a:t>
            </a:r>
            <a:r>
              <a:rPr sz="22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use</a:t>
            </a:r>
            <a:r>
              <a:rPr sz="22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middle</a:t>
            </a:r>
            <a:r>
              <a:rPr sz="22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elements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lattice: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2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B24F3"/>
                </a:solidFill>
                <a:latin typeface="Cambria Math"/>
                <a:cs typeface="Cambria Math"/>
              </a:rPr>
              <a:t>∧</a:t>
            </a:r>
            <a:r>
              <a:rPr sz="2200" spc="-10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(b </a:t>
            </a:r>
            <a:r>
              <a:rPr sz="2200" dirty="0">
                <a:solidFill>
                  <a:srgbClr val="4B24F3"/>
                </a:solidFill>
                <a:latin typeface="Cambria Math"/>
                <a:cs typeface="Cambria Math"/>
              </a:rPr>
              <a:t>∨</a:t>
            </a:r>
            <a:r>
              <a:rPr sz="2200" spc="-20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c)</a:t>
            </a:r>
            <a:r>
              <a:rPr sz="2200" b="1"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=</a:t>
            </a:r>
            <a:r>
              <a:rPr sz="2200" b="1"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a </a:t>
            </a:r>
            <a:r>
              <a:rPr sz="2200" dirty="0">
                <a:solidFill>
                  <a:srgbClr val="4B24F3"/>
                </a:solidFill>
                <a:latin typeface="Cambria Math"/>
                <a:cs typeface="Cambria Math"/>
              </a:rPr>
              <a:t>∧</a:t>
            </a:r>
            <a:r>
              <a:rPr sz="2200" spc="-1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1</a:t>
            </a:r>
            <a:r>
              <a:rPr sz="22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= </a:t>
            </a:r>
            <a:r>
              <a:rPr sz="2200" b="1" spc="-25" dirty="0">
                <a:solidFill>
                  <a:srgbClr val="4B24F3"/>
                </a:solidFill>
                <a:latin typeface="Calibri"/>
                <a:cs typeface="Calibri"/>
              </a:rPr>
              <a:t>a,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but (a</a:t>
            </a:r>
            <a:r>
              <a:rPr sz="22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B24F3"/>
                </a:solidFill>
                <a:latin typeface="Cambria Math"/>
                <a:cs typeface="Cambria Math"/>
              </a:rPr>
              <a:t>∧</a:t>
            </a:r>
            <a:r>
              <a:rPr sz="2200" spc="-20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b)</a:t>
            </a:r>
            <a:r>
              <a:rPr sz="2200" b="1" spc="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B24F3"/>
                </a:solidFill>
                <a:latin typeface="Cambria Math"/>
                <a:cs typeface="Cambria Math"/>
              </a:rPr>
              <a:t>∨</a:t>
            </a:r>
            <a:r>
              <a:rPr sz="2200" spc="-1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(a</a:t>
            </a:r>
            <a:r>
              <a:rPr sz="2200" b="1"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B24F3"/>
                </a:solidFill>
                <a:latin typeface="Cambria Math"/>
                <a:cs typeface="Cambria Math"/>
              </a:rPr>
              <a:t>∧</a:t>
            </a:r>
            <a:r>
              <a:rPr sz="2200" spc="-1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c)</a:t>
            </a:r>
            <a:r>
              <a:rPr sz="2200" b="1"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=</a:t>
            </a:r>
            <a:r>
              <a:rPr sz="2200" b="1" spc="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0</a:t>
            </a:r>
            <a:r>
              <a:rPr sz="2200" b="1"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B24F3"/>
                </a:solidFill>
                <a:latin typeface="Cambria Math"/>
                <a:cs typeface="Cambria Math"/>
              </a:rPr>
              <a:t>∨</a:t>
            </a:r>
            <a:r>
              <a:rPr sz="2200" spc="-1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0</a:t>
            </a:r>
            <a:r>
              <a:rPr sz="2200" b="1"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=</a:t>
            </a:r>
            <a:r>
              <a:rPr sz="2200" b="1" spc="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0,</a:t>
            </a:r>
            <a:r>
              <a:rPr sz="2200" b="1"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and</a:t>
            </a:r>
            <a:r>
              <a:rPr sz="2200" b="1" spc="-1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z="2200" b="1" spc="-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4B24F3"/>
                </a:solidFill>
                <a:latin typeface="Calibri"/>
                <a:cs typeface="Calibri"/>
              </a:rPr>
              <a:t>≠0.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200" b="1" spc="-20" dirty="0">
                <a:solidFill>
                  <a:srgbClr val="C55A11"/>
                </a:solidFill>
                <a:latin typeface="Calibri"/>
                <a:cs typeface="Calibri"/>
              </a:rPr>
              <a:t>Similarly,</a:t>
            </a:r>
            <a:r>
              <a:rPr sz="2200" b="1" spc="-10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other</a:t>
            </a:r>
            <a:r>
              <a:rPr sz="2200" b="1" spc="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distributive</a:t>
            </a:r>
            <a:r>
              <a:rPr sz="2200" b="1" spc="-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law</a:t>
            </a:r>
            <a:r>
              <a:rPr sz="22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fails</a:t>
            </a:r>
            <a:r>
              <a:rPr sz="22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for</a:t>
            </a:r>
            <a:r>
              <a:rPr sz="22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these</a:t>
            </a:r>
            <a:r>
              <a:rPr sz="22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three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elements.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b)</a:t>
            </a:r>
            <a:r>
              <a:rPr sz="22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pentagon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lattice</a:t>
            </a:r>
            <a:r>
              <a:rPr sz="2200" b="1" spc="-4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is</a:t>
            </a:r>
            <a:r>
              <a:rPr sz="22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also</a:t>
            </a:r>
            <a:r>
              <a:rPr sz="22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not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distributive(non-distributive)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3395471"/>
            <a:ext cx="4824983" cy="168554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0427" y="671927"/>
            <a:ext cx="11461115" cy="559943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r>
              <a:rPr sz="2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Show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lattice</a:t>
            </a:r>
            <a:r>
              <a:rPr sz="22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distributive</a:t>
            </a:r>
            <a:r>
              <a:rPr sz="22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lattice.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Sol.</a:t>
            </a:r>
            <a:r>
              <a:rPr sz="22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2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lattice</a:t>
            </a:r>
            <a:r>
              <a:rPr sz="22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distributive</a:t>
            </a:r>
            <a:r>
              <a:rPr sz="22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if</a:t>
            </a:r>
            <a:r>
              <a:rPr sz="22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all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its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elements</a:t>
            </a:r>
            <a:r>
              <a:rPr sz="22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follow</a:t>
            </a:r>
            <a:r>
              <a:rPr sz="22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distributive</a:t>
            </a:r>
            <a:r>
              <a:rPr sz="22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property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so</a:t>
            </a:r>
            <a:r>
              <a:rPr sz="22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let</a:t>
            </a:r>
            <a:r>
              <a:rPr sz="2200" b="1" spc="459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we</a:t>
            </a:r>
            <a:r>
              <a:rPr sz="2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verify</a:t>
            </a:r>
            <a:r>
              <a:rPr sz="22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12700" marR="5081905">
              <a:lnSpc>
                <a:spcPts val="3410"/>
              </a:lnSpc>
              <a:spcBef>
                <a:spcPts val="219"/>
              </a:spcBef>
            </a:pP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distributive</a:t>
            </a:r>
            <a:r>
              <a:rPr sz="22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property</a:t>
            </a:r>
            <a:r>
              <a:rPr sz="2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between</a:t>
            </a:r>
            <a:r>
              <a:rPr sz="22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2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elements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,</a:t>
            </a:r>
            <a:r>
              <a:rPr sz="22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l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2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25" dirty="0">
                <a:solidFill>
                  <a:srgbClr val="00AF50"/>
                </a:solidFill>
                <a:latin typeface="Calibri"/>
                <a:cs typeface="Calibri"/>
              </a:rPr>
              <a:t>m</a:t>
            </a:r>
            <a:r>
              <a:rPr sz="2200" b="1" spc="-25" dirty="0">
                <a:solidFill>
                  <a:srgbClr val="00AF50"/>
                </a:solidFill>
                <a:latin typeface="Calibri"/>
                <a:cs typeface="Calibri"/>
              </a:rPr>
              <a:t>.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LUB(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))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p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[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∴</a:t>
            </a:r>
            <a:r>
              <a:rPr sz="2200" spc="-25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LUB(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spc="-25" dirty="0">
                <a:solidFill>
                  <a:srgbClr val="00AFEF"/>
                </a:solidFill>
                <a:latin typeface="Calibri"/>
                <a:cs typeface="Calibri"/>
              </a:rPr>
              <a:t>p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]</a:t>
            </a:r>
            <a:endParaRPr sz="2200">
              <a:latin typeface="Calibri"/>
              <a:cs typeface="Calibri"/>
            </a:endParaRPr>
          </a:p>
          <a:p>
            <a:pPr marL="2159000">
              <a:lnSpc>
                <a:spcPct val="100000"/>
              </a:lnSpc>
              <a:spcBef>
                <a:spcPts val="450"/>
              </a:spcBef>
            </a:pP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i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AFEF"/>
                </a:solidFill>
                <a:latin typeface="Calibri"/>
                <a:cs typeface="Calibri"/>
              </a:rPr>
              <a:t>(LHS)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also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LUB(GLB(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),</a:t>
            </a:r>
            <a:r>
              <a:rPr sz="2200" b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))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LUB(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o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);</a:t>
            </a:r>
            <a:r>
              <a:rPr sz="22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[</a:t>
            </a:r>
            <a:r>
              <a:rPr sz="2200" dirty="0">
                <a:solidFill>
                  <a:srgbClr val="00AFEF"/>
                </a:solidFill>
                <a:latin typeface="Cambria Math"/>
                <a:cs typeface="Cambria Math"/>
              </a:rPr>
              <a:t>∴</a:t>
            </a:r>
            <a:r>
              <a:rPr sz="2200" spc="-2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o</a:t>
            </a:r>
            <a:r>
              <a:rPr sz="2200" b="1" i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and GLB(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2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i="1" spc="-25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spc="-25" dirty="0">
                <a:solidFill>
                  <a:srgbClr val="00AFEF"/>
                </a:solidFill>
                <a:latin typeface="Calibri"/>
                <a:cs typeface="Calibri"/>
              </a:rPr>
              <a:t>]</a:t>
            </a:r>
            <a:endParaRPr sz="2200">
              <a:latin typeface="Calibri"/>
              <a:cs typeface="Calibri"/>
            </a:endParaRPr>
          </a:p>
          <a:p>
            <a:pPr marL="3670935">
              <a:lnSpc>
                <a:spcPct val="100000"/>
              </a:lnSpc>
              <a:spcBef>
                <a:spcPts val="720"/>
              </a:spcBef>
            </a:pP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2200" b="1" i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AFEF"/>
                </a:solidFill>
                <a:latin typeface="Calibri"/>
                <a:cs typeface="Calibri"/>
              </a:rPr>
              <a:t>(RHS)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so</a:t>
            </a:r>
            <a:r>
              <a:rPr sz="22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LHS</a:t>
            </a:r>
            <a:r>
              <a:rPr sz="22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200" b="1" spc="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AFEF"/>
                </a:solidFill>
                <a:latin typeface="Calibri"/>
                <a:cs typeface="Calibri"/>
              </a:rPr>
              <a:t>RHS.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But</a:t>
            </a:r>
            <a:r>
              <a:rPr sz="22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LUB(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))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p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[</a:t>
            </a:r>
            <a:r>
              <a:rPr sz="2200" dirty="0">
                <a:solidFill>
                  <a:srgbClr val="C55A11"/>
                </a:solidFill>
                <a:latin typeface="Cambria Math"/>
                <a:cs typeface="Cambria Math"/>
              </a:rPr>
              <a:t>∴</a:t>
            </a:r>
            <a:r>
              <a:rPr sz="2200" spc="-2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LUB(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200" b="1" spc="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spc="-25" dirty="0">
                <a:solidFill>
                  <a:srgbClr val="C55A11"/>
                </a:solidFill>
                <a:latin typeface="Calibri"/>
                <a:cs typeface="Calibri"/>
              </a:rPr>
              <a:t>p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]</a:t>
            </a:r>
            <a:endParaRPr sz="2200">
              <a:latin typeface="Calibri"/>
              <a:cs typeface="Calibri"/>
            </a:endParaRPr>
          </a:p>
          <a:p>
            <a:pPr marL="2604135">
              <a:lnSpc>
                <a:spcPct val="100000"/>
              </a:lnSpc>
              <a:spcBef>
                <a:spcPts val="720"/>
              </a:spcBef>
            </a:pP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200" b="1" spc="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m</a:t>
            </a:r>
            <a:r>
              <a:rPr sz="2200" b="1" i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C55A11"/>
                </a:solidFill>
                <a:latin typeface="Calibri"/>
                <a:cs typeface="Calibri"/>
              </a:rPr>
              <a:t>(LHS)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also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LUB(GLB(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),</a:t>
            </a:r>
            <a:r>
              <a:rPr sz="22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))</a:t>
            </a:r>
            <a:r>
              <a:rPr sz="22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200" b="1" spc="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LUB(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o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); [</a:t>
            </a:r>
            <a:r>
              <a:rPr sz="2200" dirty="0">
                <a:solidFill>
                  <a:srgbClr val="C55A11"/>
                </a:solidFill>
                <a:latin typeface="Cambria Math"/>
                <a:cs typeface="Cambria Math"/>
              </a:rPr>
              <a:t>∴</a:t>
            </a:r>
            <a:r>
              <a:rPr sz="2200" spc="-2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8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l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200" b="1" spc="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o</a:t>
            </a:r>
            <a:r>
              <a:rPr sz="2200" b="1" i="1" spc="-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GLB(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m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2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n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200" b="1" spc="-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200" b="1" spc="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spc="-25" dirty="0">
                <a:solidFill>
                  <a:srgbClr val="C55A11"/>
                </a:solidFill>
                <a:latin typeface="Calibri"/>
                <a:cs typeface="Calibri"/>
              </a:rPr>
              <a:t>n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]</a:t>
            </a:r>
            <a:endParaRPr sz="2200">
              <a:latin typeface="Calibri"/>
              <a:cs typeface="Calibri"/>
            </a:endParaRPr>
          </a:p>
          <a:p>
            <a:pPr marL="3799204">
              <a:lnSpc>
                <a:spcPct val="100000"/>
              </a:lnSpc>
              <a:spcBef>
                <a:spcPts val="725"/>
              </a:spcBef>
            </a:pPr>
            <a:r>
              <a:rPr sz="22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2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C55A11"/>
                </a:solidFill>
                <a:latin typeface="Calibri"/>
                <a:cs typeface="Calibri"/>
              </a:rPr>
              <a:t>n</a:t>
            </a:r>
            <a:r>
              <a:rPr sz="2200" b="1" i="1" spc="1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C55A11"/>
                </a:solidFill>
                <a:latin typeface="Calibri"/>
                <a:cs typeface="Calibri"/>
              </a:rPr>
              <a:t>(RHS)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200" b="1" dirty="0">
                <a:latin typeface="Calibri"/>
                <a:cs typeface="Calibri"/>
              </a:rPr>
              <a:t>Thus,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LHS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≠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RHS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hence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distributive</a:t>
            </a:r>
            <a:r>
              <a:rPr sz="2200" b="1" spc="-9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property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doesn‘t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hold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by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lattice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so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lattice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not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distributive.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8547" y="544830"/>
            <a:ext cx="336105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Complemented</a:t>
            </a:r>
            <a:r>
              <a:rPr sz="2800" spc="-60" dirty="0"/>
              <a:t> </a:t>
            </a:r>
            <a:r>
              <a:rPr sz="2800" spc="-10" dirty="0"/>
              <a:t>lattice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82625">
              <a:lnSpc>
                <a:spcPct val="124600"/>
              </a:lnSpc>
              <a:spcBef>
                <a:spcPts val="40"/>
              </a:spcBef>
            </a:pPr>
            <a:r>
              <a:rPr dirty="0"/>
              <a:t>Let</a:t>
            </a:r>
            <a:r>
              <a:rPr spc="-45" dirty="0"/>
              <a:t> </a:t>
            </a:r>
            <a:r>
              <a:rPr dirty="0"/>
              <a:t>L</a:t>
            </a:r>
            <a:r>
              <a:rPr spc="-150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bounded</a:t>
            </a:r>
            <a:r>
              <a:rPr spc="-50" dirty="0"/>
              <a:t> </a:t>
            </a:r>
            <a:r>
              <a:rPr dirty="0"/>
              <a:t>lattice</a:t>
            </a:r>
            <a:r>
              <a:rPr spc="-2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greatest</a:t>
            </a:r>
            <a:r>
              <a:rPr spc="10" dirty="0"/>
              <a:t> </a:t>
            </a:r>
            <a:r>
              <a:rPr dirty="0"/>
              <a:t>element</a:t>
            </a:r>
            <a:r>
              <a:rPr spc="-20" dirty="0"/>
              <a:t> </a:t>
            </a:r>
            <a:r>
              <a:rPr dirty="0"/>
              <a:t>I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least</a:t>
            </a:r>
            <a:r>
              <a:rPr spc="-35" dirty="0"/>
              <a:t> </a:t>
            </a:r>
            <a:r>
              <a:rPr dirty="0"/>
              <a:t>element</a:t>
            </a:r>
            <a:r>
              <a:rPr spc="5" dirty="0"/>
              <a:t> </a:t>
            </a:r>
            <a:r>
              <a:rPr dirty="0"/>
              <a:t>0.</a:t>
            </a:r>
            <a:r>
              <a:rPr spc="-3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chosen </a:t>
            </a:r>
            <a:r>
              <a:rPr dirty="0"/>
              <a:t>element</a:t>
            </a:r>
            <a:r>
              <a:rPr spc="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L,</a:t>
            </a:r>
            <a:r>
              <a:rPr spc="-25" dirty="0"/>
              <a:t> </a:t>
            </a:r>
            <a:r>
              <a:rPr dirty="0"/>
              <a:t>if</a:t>
            </a:r>
            <a:r>
              <a:rPr spc="-25" dirty="0"/>
              <a:t> </a:t>
            </a:r>
            <a:r>
              <a:rPr dirty="0"/>
              <a:t>there</a:t>
            </a:r>
            <a:r>
              <a:rPr spc="-10" dirty="0"/>
              <a:t> </a:t>
            </a:r>
            <a:r>
              <a:rPr dirty="0"/>
              <a:t>exists</a:t>
            </a:r>
            <a:r>
              <a:rPr spc="-2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dirty="0"/>
              <a:t>element</a:t>
            </a:r>
            <a:r>
              <a:rPr spc="10" dirty="0"/>
              <a:t> </a:t>
            </a:r>
            <a:r>
              <a:rPr dirty="0"/>
              <a:t>a'</a:t>
            </a:r>
            <a:r>
              <a:rPr b="0" dirty="0">
                <a:latin typeface="Cambria Math"/>
                <a:cs typeface="Cambria Math"/>
              </a:rPr>
              <a:t>∈</a:t>
            </a:r>
            <a:r>
              <a:rPr b="0" spc="-5" dirty="0">
                <a:latin typeface="Cambria Math"/>
                <a:cs typeface="Cambria Math"/>
              </a:rPr>
              <a:t> </a:t>
            </a:r>
            <a:r>
              <a:rPr dirty="0"/>
              <a:t>L</a:t>
            </a:r>
            <a:r>
              <a:rPr spc="-150" dirty="0"/>
              <a:t> </a:t>
            </a:r>
            <a:r>
              <a:rPr dirty="0"/>
              <a:t>such</a:t>
            </a:r>
            <a:r>
              <a:rPr spc="-15" dirty="0"/>
              <a:t> </a:t>
            </a:r>
            <a:r>
              <a:rPr dirty="0"/>
              <a:t>that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v</a:t>
            </a:r>
            <a:r>
              <a:rPr spc="-20" dirty="0"/>
              <a:t> </a:t>
            </a:r>
            <a:r>
              <a:rPr dirty="0"/>
              <a:t>a'</a:t>
            </a:r>
            <a:r>
              <a:rPr spc="-45" dirty="0"/>
              <a:t> </a:t>
            </a:r>
            <a:r>
              <a:rPr dirty="0"/>
              <a:t>=I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b="0" dirty="0">
                <a:latin typeface="Cambria Math"/>
                <a:cs typeface="Cambria Math"/>
              </a:rPr>
              <a:t>∧</a:t>
            </a:r>
            <a:r>
              <a:rPr b="0" spc="-25" dirty="0">
                <a:latin typeface="Cambria Math"/>
                <a:cs typeface="Cambria Math"/>
              </a:rPr>
              <a:t> </a:t>
            </a:r>
            <a:r>
              <a:rPr dirty="0"/>
              <a:t>a'</a:t>
            </a:r>
            <a:r>
              <a:rPr spc="-40" dirty="0"/>
              <a:t> </a:t>
            </a:r>
            <a:r>
              <a:rPr spc="-25" dirty="0"/>
              <a:t>=0,</a:t>
            </a:r>
            <a:r>
              <a:rPr spc="600" dirty="0"/>
              <a:t> </a:t>
            </a:r>
            <a:r>
              <a:rPr dirty="0"/>
              <a:t>then</a:t>
            </a:r>
            <a:r>
              <a:rPr spc="-20" dirty="0"/>
              <a:t> </a:t>
            </a:r>
            <a:r>
              <a:rPr dirty="0"/>
              <a:t>a'</a:t>
            </a:r>
            <a:r>
              <a:rPr spc="-2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called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complement</a:t>
            </a:r>
            <a:r>
              <a:rPr spc="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25" dirty="0"/>
              <a:t>L.</a:t>
            </a: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10248900" algn="l"/>
              </a:tabLst>
            </a:pPr>
            <a:r>
              <a:rPr dirty="0">
                <a:solidFill>
                  <a:srgbClr val="00AF50"/>
                </a:solidFill>
              </a:rPr>
              <a:t>Note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that</a:t>
            </a:r>
            <a:r>
              <a:rPr spc="-3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the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definition</a:t>
            </a:r>
            <a:r>
              <a:rPr spc="-7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of</a:t>
            </a:r>
            <a:r>
              <a:rPr spc="-3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complement</a:t>
            </a:r>
            <a:r>
              <a:rPr spc="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is</a:t>
            </a:r>
            <a:r>
              <a:rPr spc="-2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symmetric</a:t>
            </a:r>
            <a:r>
              <a:rPr spc="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in</a:t>
            </a:r>
            <a:r>
              <a:rPr spc="-4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</a:t>
            </a:r>
            <a:r>
              <a:rPr spc="-2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and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a'</a:t>
            </a:r>
            <a:r>
              <a:rPr spc="-5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,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so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that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if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spc="-25" dirty="0">
                <a:solidFill>
                  <a:srgbClr val="00AF50"/>
                </a:solidFill>
              </a:rPr>
              <a:t>a'</a:t>
            </a:r>
            <a:r>
              <a:rPr dirty="0">
                <a:solidFill>
                  <a:srgbClr val="00AF50"/>
                </a:solidFill>
              </a:rPr>
              <a:t>	is </a:t>
            </a:r>
            <a:r>
              <a:rPr spc="-50" dirty="0">
                <a:solidFill>
                  <a:srgbClr val="00AF50"/>
                </a:solidFill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>
                <a:solidFill>
                  <a:srgbClr val="00AF50"/>
                </a:solidFill>
              </a:rPr>
              <a:t>complement</a:t>
            </a:r>
            <a:r>
              <a:rPr spc="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of</a:t>
            </a:r>
            <a:r>
              <a:rPr spc="-4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,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then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is</a:t>
            </a:r>
            <a:r>
              <a:rPr spc="-3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complement</a:t>
            </a:r>
            <a:r>
              <a:rPr spc="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of</a:t>
            </a:r>
            <a:r>
              <a:rPr spc="-4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a'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.</a:t>
            </a:r>
            <a:r>
              <a:rPr spc="-7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That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is,</a:t>
            </a:r>
            <a:r>
              <a:rPr spc="-5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a=(a')'.</a:t>
            </a:r>
          </a:p>
          <a:p>
            <a:pPr marL="12700" marR="704850">
              <a:lnSpc>
                <a:spcPts val="3650"/>
              </a:lnSpc>
              <a:spcBef>
                <a:spcPts val="130"/>
              </a:spcBef>
              <a:tabLst>
                <a:tab pos="417195" algn="l"/>
              </a:tabLst>
            </a:pPr>
            <a:r>
              <a:rPr dirty="0">
                <a:solidFill>
                  <a:srgbClr val="C55A11"/>
                </a:solidFill>
              </a:rPr>
              <a:t>Since</a:t>
            </a:r>
            <a:r>
              <a:rPr spc="-2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0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v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I=I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and</a:t>
            </a:r>
            <a:r>
              <a:rPr spc="-2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0</a:t>
            </a:r>
            <a:r>
              <a:rPr b="0" dirty="0">
                <a:solidFill>
                  <a:srgbClr val="C55A11"/>
                </a:solidFill>
                <a:latin typeface="Cambria Math"/>
                <a:cs typeface="Cambria Math"/>
              </a:rPr>
              <a:t>∧</a:t>
            </a:r>
            <a:r>
              <a:rPr b="0" spc="-4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55A11"/>
                </a:solidFill>
              </a:rPr>
              <a:t>I=0,</a:t>
            </a:r>
            <a:r>
              <a:rPr spc="-10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it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follows</a:t>
            </a:r>
            <a:r>
              <a:rPr spc="-6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that,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in every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bounded</a:t>
            </a:r>
            <a:r>
              <a:rPr spc="-3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lattice, I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is</a:t>
            </a:r>
            <a:r>
              <a:rPr spc="-10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spc="-10" dirty="0">
                <a:solidFill>
                  <a:srgbClr val="C55A11"/>
                </a:solidFill>
              </a:rPr>
              <a:t>complement </a:t>
            </a:r>
            <a:r>
              <a:rPr spc="-25" dirty="0">
                <a:solidFill>
                  <a:srgbClr val="C55A11"/>
                </a:solidFill>
              </a:rPr>
              <a:t>of</a:t>
            </a:r>
            <a:r>
              <a:rPr dirty="0">
                <a:solidFill>
                  <a:srgbClr val="C55A11"/>
                </a:solidFill>
              </a:rPr>
              <a:t>	0</a:t>
            </a:r>
            <a:r>
              <a:rPr spc="-2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and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0</a:t>
            </a:r>
            <a:r>
              <a:rPr spc="-25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is</a:t>
            </a:r>
            <a:r>
              <a:rPr spc="-50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</a:t>
            </a:r>
            <a:r>
              <a:rPr spc="-20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complement</a:t>
            </a:r>
            <a:r>
              <a:rPr spc="30" dirty="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of</a:t>
            </a:r>
            <a:r>
              <a:rPr spc="-15" dirty="0">
                <a:solidFill>
                  <a:srgbClr val="C55A11"/>
                </a:solidFill>
              </a:rPr>
              <a:t> </a:t>
            </a:r>
            <a:r>
              <a:rPr spc="-25" dirty="0">
                <a:solidFill>
                  <a:srgbClr val="C55A11"/>
                </a:solidFill>
              </a:rPr>
              <a:t>I.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4B24F3"/>
                </a:solidFill>
                <a:latin typeface="Calibri"/>
                <a:cs typeface="Calibri"/>
              </a:rPr>
              <a:t>complemented</a:t>
            </a:r>
            <a:r>
              <a:rPr spc="-7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lattice</a:t>
            </a:r>
            <a:r>
              <a:rPr spc="-6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is</a:t>
            </a:r>
            <a:r>
              <a:rPr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bounded</a:t>
            </a:r>
            <a:r>
              <a:rPr spc="-7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lattice</a:t>
            </a:r>
            <a:r>
              <a:rPr spc="-8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(with</a:t>
            </a:r>
            <a:r>
              <a:rPr spc="-7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least</a:t>
            </a:r>
            <a:r>
              <a:rPr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0</a:t>
            </a:r>
            <a:r>
              <a:rPr spc="-7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and</a:t>
            </a:r>
            <a:r>
              <a:rPr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4B24F3"/>
                </a:solidFill>
                <a:latin typeface="Calibri"/>
                <a:cs typeface="Calibri"/>
              </a:rPr>
              <a:t>greatest</a:t>
            </a:r>
            <a:r>
              <a:rPr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pc="-25" dirty="0">
                <a:solidFill>
                  <a:srgbClr val="4B24F3"/>
                </a:solidFill>
                <a:latin typeface="Calibri"/>
                <a:cs typeface="Calibri"/>
              </a:rPr>
              <a:t> 1),</a:t>
            </a:r>
          </a:p>
          <a:p>
            <a:pPr marL="12700" marR="687705">
              <a:lnSpc>
                <a:spcPct val="125000"/>
              </a:lnSpc>
            </a:pP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in</a:t>
            </a:r>
            <a:r>
              <a:rPr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which</a:t>
            </a:r>
            <a:r>
              <a:rPr spc="-8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every</a:t>
            </a:r>
            <a:r>
              <a:rPr spc="-1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has</a:t>
            </a:r>
            <a:r>
              <a:rPr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complement,</a:t>
            </a:r>
            <a:r>
              <a:rPr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i.e.</a:t>
            </a:r>
            <a:r>
              <a:rPr spc="-6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an</a:t>
            </a:r>
            <a:r>
              <a:rPr spc="-2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element</a:t>
            </a:r>
            <a:r>
              <a:rPr spc="-2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b</a:t>
            </a:r>
            <a:r>
              <a:rPr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satisfying</a:t>
            </a:r>
            <a:r>
              <a:rPr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pc="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4B24F3"/>
                </a:solidFill>
                <a:latin typeface="Cambria Math"/>
                <a:cs typeface="Cambria Math"/>
              </a:rPr>
              <a:t>∨</a:t>
            </a:r>
            <a:r>
              <a:rPr b="0" spc="-55" dirty="0">
                <a:solidFill>
                  <a:srgbClr val="4B24F3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b</a:t>
            </a:r>
            <a:r>
              <a:rPr spc="-3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=</a:t>
            </a:r>
            <a:r>
              <a:rPr spc="-4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1</a:t>
            </a:r>
            <a:r>
              <a:rPr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4B24F3"/>
                </a:solidFill>
                <a:latin typeface="Calibri"/>
                <a:cs typeface="Calibri"/>
              </a:rPr>
              <a:t>and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a</a:t>
            </a:r>
            <a:r>
              <a:rPr spc="-4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4B24F3"/>
                </a:solidFill>
                <a:latin typeface="Cambria Math"/>
                <a:cs typeface="Cambria Math"/>
              </a:rPr>
              <a:t>∧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b=0.</a:t>
            </a:r>
            <a:r>
              <a:rPr spc="-9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Complements</a:t>
            </a:r>
            <a:r>
              <a:rPr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need</a:t>
            </a:r>
            <a:r>
              <a:rPr spc="-3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not</a:t>
            </a:r>
            <a:r>
              <a:rPr spc="-50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4B24F3"/>
                </a:solidFill>
                <a:latin typeface="Calibri"/>
                <a:cs typeface="Calibri"/>
              </a:rPr>
              <a:t>be</a:t>
            </a:r>
            <a:r>
              <a:rPr spc="-55" dirty="0">
                <a:solidFill>
                  <a:srgbClr val="4B24F3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4B24F3"/>
                </a:solidFill>
                <a:latin typeface="Calibri"/>
                <a:cs typeface="Calibri"/>
              </a:rPr>
              <a:t>unique.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3255" y="1140078"/>
            <a:ext cx="9211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Example:</a:t>
            </a:r>
            <a:r>
              <a:rPr sz="2400" spc="-3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Lattices</a:t>
            </a:r>
            <a:r>
              <a:rPr sz="2400" spc="-5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shown</a:t>
            </a:r>
            <a:r>
              <a:rPr sz="2400" spc="-7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in</a:t>
            </a:r>
            <a:r>
              <a:rPr sz="2400" spc="-7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Fig</a:t>
            </a:r>
            <a:r>
              <a:rPr sz="2400" spc="-6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(a),</a:t>
            </a:r>
            <a:r>
              <a:rPr sz="2400" spc="-1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(b)</a:t>
            </a:r>
            <a:r>
              <a:rPr sz="2400" spc="-5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and</a:t>
            </a:r>
            <a:r>
              <a:rPr sz="2400" spc="-3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(c)</a:t>
            </a:r>
            <a:r>
              <a:rPr sz="2400" spc="-5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BE9000"/>
                </a:solidFill>
                <a:latin typeface="Calibri"/>
                <a:cs typeface="Calibri"/>
              </a:rPr>
              <a:t>are</a:t>
            </a:r>
            <a:r>
              <a:rPr sz="2400" spc="-4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BE9000"/>
                </a:solidFill>
                <a:latin typeface="Calibri"/>
                <a:cs typeface="Calibri"/>
              </a:rPr>
              <a:t>complemented</a:t>
            </a:r>
            <a:r>
              <a:rPr sz="2400" spc="-7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BE9000"/>
                </a:solidFill>
                <a:latin typeface="Calibri"/>
                <a:cs typeface="Calibri"/>
              </a:rPr>
              <a:t>lattices.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120" y="1834895"/>
            <a:ext cx="6254496" cy="24018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7316" y="4477588"/>
            <a:ext cx="1060132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Sol.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lattice</a:t>
            </a:r>
            <a:r>
              <a:rPr sz="24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)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GLB(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)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0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LUB(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b)</a:t>
            </a:r>
            <a:r>
              <a:rPr sz="24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1.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So,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complement</a:t>
            </a:r>
            <a:r>
              <a:rPr sz="2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b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vice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versa.</a:t>
            </a:r>
            <a:r>
              <a:rPr sz="2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Hence,</a:t>
            </a:r>
            <a:r>
              <a:rPr sz="24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complement</a:t>
            </a:r>
            <a:r>
              <a:rPr sz="24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lattice.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1855" y="1123950"/>
            <a:ext cx="10506075" cy="321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100"/>
              </a:spcBef>
            </a:pP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lattice</a:t>
            </a:r>
            <a:r>
              <a:rPr sz="2400" b="1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(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GLB(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400" b="1" spc="-4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GLB(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400" b="1" spc="-4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LUB(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1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LUB(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2400" b="1" spc="-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)</a:t>
            </a:r>
            <a:r>
              <a:rPr sz="24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C55A11"/>
                </a:solidFill>
                <a:latin typeface="Calibri"/>
                <a:cs typeface="Calibri"/>
              </a:rPr>
              <a:t>1;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so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both</a:t>
            </a:r>
            <a:r>
              <a:rPr sz="2400" b="1" spc="-6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a</a:t>
            </a:r>
            <a:r>
              <a:rPr sz="2400" b="1" i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c</a:t>
            </a:r>
            <a:r>
              <a:rPr sz="2400" b="1" i="1" spc="-5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are</a:t>
            </a:r>
            <a:r>
              <a:rPr sz="2400" b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complement</a:t>
            </a:r>
            <a:r>
              <a:rPr sz="2400" b="1" spc="-6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r>
              <a:rPr sz="2400" b="1" spc="-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55A11"/>
                </a:solidFill>
                <a:latin typeface="Calibri"/>
                <a:cs typeface="Calibri"/>
              </a:rPr>
              <a:t>b.</a:t>
            </a:r>
            <a:r>
              <a:rPr sz="2400" b="1" i="1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Hence,</a:t>
            </a:r>
            <a:r>
              <a:rPr sz="2400" b="1" spc="-4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55A11"/>
                </a:solidFill>
                <a:latin typeface="Calibri"/>
                <a:cs typeface="Calibri"/>
              </a:rPr>
              <a:t>complement</a:t>
            </a:r>
            <a:r>
              <a:rPr sz="2400" b="1" spc="-4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Calibri"/>
                <a:cs typeface="Calibri"/>
              </a:rPr>
              <a:t>lattice.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Calibri"/>
              <a:cs typeface="Calibri"/>
            </a:endParaRPr>
          </a:p>
          <a:p>
            <a:pPr marL="12700" marR="217804">
              <a:lnSpc>
                <a:spcPct val="124200"/>
              </a:lnSpc>
            </a:pP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In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lattice</a:t>
            </a:r>
            <a:r>
              <a:rPr sz="24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(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GLB(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0</a:t>
            </a:r>
            <a:r>
              <a:rPr sz="24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LUB(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400" b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1;</a:t>
            </a:r>
            <a:r>
              <a:rPr sz="24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GLB(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4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400" b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LUB(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4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)</a:t>
            </a:r>
            <a:r>
              <a:rPr sz="24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1.</a:t>
            </a:r>
            <a:r>
              <a:rPr sz="24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So,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complement</a:t>
            </a:r>
            <a:r>
              <a:rPr sz="24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4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are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b</a:t>
            </a:r>
            <a:r>
              <a:rPr sz="24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00AFEF"/>
                </a:solidFill>
                <a:latin typeface="Calibri"/>
                <a:cs typeface="Calibri"/>
              </a:rPr>
              <a:t>c</a:t>
            </a:r>
            <a:r>
              <a:rPr sz="2400" b="1" spc="-25" dirty="0">
                <a:solidFill>
                  <a:srgbClr val="00AFE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533400">
              <a:lnSpc>
                <a:spcPts val="3600"/>
              </a:lnSpc>
              <a:spcBef>
                <a:spcPts val="105"/>
              </a:spcBef>
            </a:pP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Similarly</a:t>
            </a:r>
            <a:r>
              <a:rPr sz="2400" b="1" spc="-6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complement</a:t>
            </a:r>
            <a:r>
              <a:rPr sz="2400" b="1" spc="-2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BE9000"/>
                </a:solidFill>
                <a:latin typeface="Calibri"/>
                <a:cs typeface="Calibri"/>
              </a:rPr>
              <a:t>c</a:t>
            </a:r>
            <a:r>
              <a:rPr sz="2400" b="1" i="1" spc="-4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are</a:t>
            </a:r>
            <a:r>
              <a:rPr sz="2400" b="1" spc="-2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BE9000"/>
                </a:solidFill>
                <a:latin typeface="Calibri"/>
                <a:cs typeface="Calibri"/>
              </a:rPr>
              <a:t>a</a:t>
            </a:r>
            <a:r>
              <a:rPr sz="2400" b="1" i="1" spc="-3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and</a:t>
            </a:r>
            <a:r>
              <a:rPr sz="2400" b="1" spc="-2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BE9000"/>
                </a:solidFill>
                <a:latin typeface="Calibri"/>
                <a:cs typeface="Calibri"/>
              </a:rPr>
              <a:t>b</a:t>
            </a:r>
            <a:r>
              <a:rPr sz="2400" b="1" i="1" spc="-3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also</a:t>
            </a:r>
            <a:r>
              <a:rPr sz="2400" b="1" spc="-4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BE9000"/>
                </a:solidFill>
                <a:latin typeface="Calibri"/>
                <a:cs typeface="Calibri"/>
              </a:rPr>
              <a:t>a</a:t>
            </a:r>
            <a:r>
              <a:rPr sz="2400" b="1" i="1" spc="-3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and</a:t>
            </a:r>
            <a:r>
              <a:rPr sz="2400" b="1" spc="-2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BE9000"/>
                </a:solidFill>
                <a:latin typeface="Calibri"/>
                <a:cs typeface="Calibri"/>
              </a:rPr>
              <a:t>c</a:t>
            </a:r>
            <a:r>
              <a:rPr sz="2400" b="1" i="1" spc="-1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are</a:t>
            </a:r>
            <a:r>
              <a:rPr sz="2400" b="1" spc="-4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complement</a:t>
            </a:r>
            <a:r>
              <a:rPr sz="2400" b="1" spc="-3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BE9000"/>
                </a:solidFill>
                <a:latin typeface="Calibri"/>
                <a:cs typeface="Calibri"/>
              </a:rPr>
              <a:t>b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.</a:t>
            </a:r>
            <a:r>
              <a:rPr sz="2400" b="1" spc="-5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BE9000"/>
                </a:solidFill>
                <a:latin typeface="Calibri"/>
                <a:cs typeface="Calibri"/>
              </a:rPr>
              <a:t>Hence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lattice</a:t>
            </a:r>
            <a:r>
              <a:rPr sz="2400" b="1" spc="-5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E9000"/>
                </a:solidFill>
                <a:latin typeface="Calibri"/>
                <a:cs typeface="Calibri"/>
              </a:rPr>
              <a:t>complement</a:t>
            </a:r>
            <a:r>
              <a:rPr sz="2400" b="1" spc="-6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BE9000"/>
                </a:solidFill>
                <a:latin typeface="Calibri"/>
                <a:cs typeface="Calibri"/>
              </a:rPr>
              <a:t>lattice.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526" y="76200"/>
            <a:ext cx="920001" cy="95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9576" y="268224"/>
            <a:ext cx="2913073" cy="537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031" y="76200"/>
            <a:ext cx="920496" cy="954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99576" y="268224"/>
            <a:ext cx="2913887" cy="5364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93591" y="1908048"/>
            <a:ext cx="4928616" cy="31760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70975" y="6433210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11632</Words>
  <Application>Microsoft Office PowerPoint</Application>
  <PresentationFormat>Widescreen</PresentationFormat>
  <Paragraphs>784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Malgun Gothic</vt:lpstr>
      <vt:lpstr>Arial</vt:lpstr>
      <vt:lpstr>Arial MT</vt:lpstr>
      <vt:lpstr>Calibri</vt:lpstr>
      <vt:lpstr>Cambria Math</vt:lpstr>
      <vt:lpstr>Symbol</vt:lpstr>
      <vt:lpstr>Times New Roman</vt:lpstr>
      <vt:lpstr>Wingdings</vt:lpstr>
      <vt:lpstr>Office Theme</vt:lpstr>
      <vt:lpstr>UNIT -II</vt:lpstr>
      <vt:lpstr>RELATIONS</vt:lpstr>
      <vt:lpstr>PowerPoint Presentation</vt:lpstr>
      <vt:lpstr>PowerPoint Presentation</vt:lpstr>
      <vt:lpstr>PowerPoint Presentation</vt:lpstr>
      <vt:lpstr>Matrix of a Relation</vt:lpstr>
      <vt:lpstr>PowerPoint Presentation</vt:lpstr>
      <vt:lpstr>Example: Let A = {1, 2, 3, 4}. Find the relation R on A determined by the matrix</vt:lpstr>
      <vt:lpstr>Digraph of a Relation</vt:lpstr>
      <vt:lpstr>Origin: A vertex from which an edge leaves is called the source or origin. Terminals: A vertex where an edge ends.</vt:lpstr>
      <vt:lpstr>PowerPoint Presentation</vt:lpstr>
      <vt:lpstr>PowerPoint Presentation</vt:lpstr>
      <vt:lpstr>Operations on Relations</vt:lpstr>
      <vt:lpstr>4. Converse: Given a relation R from a set A to B, the complement of R, denoted by Rc, is denoted R, is defined as a relation from B to A with the property that (b, a)∈Rc if and only if (a, b)∈R from the definition of Rc</vt:lpstr>
      <vt:lpstr>PowerPoint Presentation</vt:lpstr>
      <vt:lpstr>PowerPoint Presentation</vt:lpstr>
      <vt:lpstr>Example: Let R = {(1, 2), (3, 4), (2, 2)} and S = {(4, 2), (2, 5), (3, 1), (1, 3)}. Find R◦S, S◦R, R◦(S◦R), (R◦S)◦R, R◦R, S◦S, and (R◦R)◦R.</vt:lpstr>
      <vt:lpstr>Properties of Binary Relations</vt:lpstr>
      <vt:lpstr>Properties of Binary Relations</vt:lpstr>
      <vt:lpstr>Irreflexive</vt:lpstr>
      <vt:lpstr>Symmetric</vt:lpstr>
      <vt:lpstr>Compatibility</vt:lpstr>
      <vt:lpstr>Antisymmetric</vt:lpstr>
      <vt:lpstr>Transitive</vt:lpstr>
      <vt:lpstr>PowerPoint Presentation</vt:lpstr>
      <vt:lpstr>PowerPoint Presentation</vt:lpstr>
      <vt:lpstr>PowerPoint Presentation</vt:lpstr>
      <vt:lpstr>Equivalence Relations</vt:lpstr>
      <vt:lpstr>Transitive Closure</vt:lpstr>
      <vt:lpstr>Partial Ordering</vt:lpstr>
      <vt:lpstr>Example: R is a relation on set A={1,2,3,4} defined by xRy if x (exactly) divides y prove that (A,R) is a poset.</vt:lpstr>
      <vt:lpstr>PowerPoint Presentation</vt:lpstr>
      <vt:lpstr>Properties of Binary Relations</vt:lpstr>
      <vt:lpstr>Total Order</vt:lpstr>
      <vt:lpstr>Hasse Diagrams</vt:lpstr>
      <vt:lpstr>PowerPoint Presentation</vt:lpstr>
      <vt:lpstr>Example: Let X = {2, 3, 6, 12, 24, 36}, and the relation ≤ be such that x ≤ y if x</vt:lpstr>
      <vt:lpstr>Example: Draw the Hasse diagram for the relation R on A = {1, 2, 3, 4, 5} whose relation matrix given below:</vt:lpstr>
      <vt:lpstr>Example: A partial order R on the set A = {1, 2, 3, 4} is represented by the following digraph. Draw the Hasse diagram for R.</vt:lpstr>
      <vt:lpstr>PowerPoint Presentation</vt:lpstr>
      <vt:lpstr>Functions: Inverse Function, Composition of functions, recursive Functions, Lattices and its Properties</vt:lpstr>
      <vt:lpstr>Functions</vt:lpstr>
      <vt:lpstr>Example: Let X = {1, 2, 3}, Y = {p, q, r} and f = {(1, q), (2, p), (3, r)} then f(1) = q, f(2) = p, f(3)= r.</vt:lpstr>
      <vt:lpstr>PowerPoint Presentation</vt:lpstr>
      <vt:lpstr>Types of Functions</vt:lpstr>
      <vt:lpstr>Identity Function</vt:lpstr>
      <vt:lpstr>Constant function</vt:lpstr>
      <vt:lpstr>Onto(Surjective) function</vt:lpstr>
      <vt:lpstr>One-to-one(Injective)</vt:lpstr>
      <vt:lpstr>PowerPoint Presentation</vt:lpstr>
      <vt:lpstr>PowerPoint Presentation</vt:lpstr>
      <vt:lpstr>Composition of Functions</vt:lpstr>
      <vt:lpstr>PowerPoint Presentation</vt:lpstr>
      <vt:lpstr>PowerPoint Presentation</vt:lpstr>
      <vt:lpstr>Inverse Function</vt:lpstr>
      <vt:lpstr>Invertible Function</vt:lpstr>
      <vt:lpstr>PowerPoint Presentation</vt:lpstr>
      <vt:lpstr>Recursive Function</vt:lpstr>
      <vt:lpstr>PowerPoint Presentation</vt:lpstr>
      <vt:lpstr>Lattices</vt:lpstr>
      <vt:lpstr>Relation ‘division‘ in Z+, such that for any two elements a, b ∈ Z+, aRb, if a divides b. Then (Z+, R) is a lattice in which the join of a and b is the least upper bound of a and b, i.e. a ∨ b = a ⊕ b = LUB of a and b, and the meet of a and b, i.e. a ∗ b is the greatest lower bound (GUB) of a and b i.e., a ∧ b = a ∗ b = GUB of a and b.</vt:lpstr>
      <vt:lpstr>PowerPoint Presentation</vt:lpstr>
      <vt:lpstr>Example: Let A be any set and P (A) be its power set. The poset P (A, ⊆) is a lattice in which the meet and join are the same as the operations ∩ and ∪ on sets respectively. S = {a}, P (A) = {ϕ, {a}} S = {a, b}, P (A) = {ϕ, {a}, {b}, S}.</vt:lpstr>
      <vt:lpstr>Ex: A={2,3,5,6,7,11,12,35,385}</vt:lpstr>
      <vt:lpstr>Some Properties of Lattice</vt:lpstr>
      <vt:lpstr>PowerPoint Presentation</vt:lpstr>
      <vt:lpstr>Special types of Lattices</vt:lpstr>
      <vt:lpstr>PowerPoint Presentation</vt:lpstr>
      <vt:lpstr>Distributive lattice</vt:lpstr>
      <vt:lpstr>PowerPoint Presentation</vt:lpstr>
      <vt:lpstr>Complemented lattice</vt:lpstr>
      <vt:lpstr>Example: Lattices shown in Fig (a), (b) and (c) are complemented lattices.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sreelasya pydimarry</cp:lastModifiedBy>
  <cp:revision>1</cp:revision>
  <dcterms:created xsi:type="dcterms:W3CDTF">2025-02-24T05:19:18Z</dcterms:created>
  <dcterms:modified xsi:type="dcterms:W3CDTF">2025-02-24T05:35:39Z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2025-02-24T00:00:00Z</vt:filetime>
  </property>
  <property fmtid="{D5CDD505-2E9C-101B-9397-08002B2CF9AE}" pid="5" name="Producer">
    <vt:lpwstr>www.ilovepdf.com</vt:lpwstr>
  </property>
</Properties>
</file>